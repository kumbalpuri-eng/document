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5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5393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/tmp/h2p-fit-1785461406982-n4nl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7832" y="13813"/>
            <a:ext cx="5029200" cy="5143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7811" y="0"/>
            <a:ext cx="5029200" cy="514350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457200" y="2860402"/>
            <a:ext cx="457200" cy="0"/>
          </a:xfrm>
          <a:prstGeom prst="line">
            <a:avLst/>
          </a:prstGeom>
          <a:noFill/>
          <a:ln w="7144">
            <a:solidFill>
              <a:srgbClr val="F1F5F9"/>
            </a:solidFill>
            <a:prstDash val="solid"/>
          </a:ln>
        </p:spPr>
      </p:sp>
      <p:sp>
        <p:nvSpPr>
          <p:cNvPr id="7" name="Shape 1"/>
          <p:cNvSpPr/>
          <p:nvPr/>
        </p:nvSpPr>
        <p:spPr>
          <a:xfrm>
            <a:off x="457200" y="4170499"/>
            <a:ext cx="3840435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8" name="Text 2"/>
          <p:cNvSpPr/>
          <p:nvPr/>
        </p:nvSpPr>
        <p:spPr>
          <a:xfrm>
            <a:off x="0" y="0"/>
            <a:ext cx="4754835" cy="5143500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3"/>
          <p:cNvSpPr/>
          <p:nvPr/>
        </p:nvSpPr>
        <p:spPr>
          <a:xfrm>
            <a:off x="460772" y="733574"/>
            <a:ext cx="2377306" cy="171450"/>
          </a:xfrm>
          <a:prstGeom prst="roundRect">
            <a:avLst>
              <a:gd name="adj" fmla="val 22222"/>
            </a:avLst>
          </a:prstGeom>
          <a:solidFill>
            <a:srgbClr val="3B82F6">
              <a:alpha val="16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4"/>
          <p:cNvSpPr/>
          <p:nvPr/>
        </p:nvSpPr>
        <p:spPr>
          <a:xfrm>
            <a:off x="664369" y="772864"/>
            <a:ext cx="2098700" cy="142646"/>
          </a:xfrm>
          <a:prstGeom prst="rect">
            <a:avLst/>
          </a:prstGeom>
          <a:noFill/>
          <a:ln/>
        </p:spPr>
        <p:txBody>
          <a:bodyPr wrap="square" lIns="71438" tIns="28575" rIns="71438" bIns="28575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45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IIQ NATIONAL EXCELLENCE PRACTICE COMPETITION 2025</a:t>
            </a:r>
            <a:endParaRPr lang="en-US" sz="600" dirty="0"/>
          </a:p>
        </p:txBody>
      </p:sp>
      <p:sp>
        <p:nvSpPr>
          <p:cNvPr id="11" name="Text 5"/>
          <p:cNvSpPr/>
          <p:nvPr/>
        </p:nvSpPr>
        <p:spPr>
          <a:xfrm>
            <a:off x="535781" y="776436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44" dirty="0"/>
          </a:p>
        </p:txBody>
      </p:sp>
      <p:sp>
        <p:nvSpPr>
          <p:cNvPr id="12" name="Text 6"/>
          <p:cNvSpPr/>
          <p:nvPr/>
        </p:nvSpPr>
        <p:spPr>
          <a:xfrm>
            <a:off x="457200" y="1108621"/>
            <a:ext cx="3840435" cy="9907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672"/>
              </a:lnSpc>
              <a:buNone/>
            </a:pPr>
            <a:r>
              <a:rPr lang="en-US" sz="3600" b="1" kern="0" spc="-72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Shop Floor</a:t>
            </a:r>
            <a:endParaRPr lang="en-US" sz="3600" dirty="0"/>
          </a:p>
          <a:p>
            <a:pPr marL="0" indent="0" algn="l">
              <a:lnSpc>
                <a:spcPts val="3672"/>
              </a:lnSpc>
              <a:buNone/>
            </a:pPr>
            <a:r>
              <a:rPr lang="en-US" sz="3600" b="1" kern="0" spc="-72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Management</a:t>
            </a:r>
            <a:endParaRPr lang="en-US" sz="3600" dirty="0"/>
          </a:p>
        </p:txBody>
      </p:sp>
      <p:sp>
        <p:nvSpPr>
          <p:cNvPr id="13" name="Text 7"/>
          <p:cNvSpPr/>
          <p:nvPr/>
        </p:nvSpPr>
        <p:spPr>
          <a:xfrm>
            <a:off x="457200" y="2126828"/>
            <a:ext cx="3840435" cy="610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28"/>
              </a:lnSpc>
              <a:buNone/>
            </a:pPr>
            <a:r>
              <a:rPr lang="en-US" sz="2025" kern="0" spc="-20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Driving Excellence</a:t>
            </a:r>
            <a:endParaRPr lang="en-US" sz="2025" dirty="0"/>
          </a:p>
          <a:p>
            <a:pPr marL="0" indent="0" algn="l">
              <a:lnSpc>
                <a:spcPts val="2228"/>
              </a:lnSpc>
              <a:buNone/>
            </a:pPr>
            <a:r>
              <a:rPr lang="en-US" sz="2025" kern="0" spc="-20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 the Ground</a:t>
            </a:r>
            <a:endParaRPr lang="en-US" sz="2025" dirty="0"/>
          </a:p>
        </p:txBody>
      </p:sp>
      <p:sp>
        <p:nvSpPr>
          <p:cNvPr id="14" name="Text 8"/>
          <p:cNvSpPr/>
          <p:nvPr/>
        </p:nvSpPr>
        <p:spPr>
          <a:xfrm>
            <a:off x="457200" y="2999705"/>
            <a:ext cx="3286125" cy="573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systematic cadence of Go-and-See leadership, structured problem-solving, and people development deployed across the Pune plant shop floor.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457200" y="3688296"/>
            <a:ext cx="1789030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PRESENTED BY</a:t>
            </a:r>
            <a:endParaRPr lang="en-US" sz="800" dirty="0"/>
          </a:p>
        </p:txBody>
      </p:sp>
      <p:sp>
        <p:nvSpPr>
          <p:cNvPr id="16" name="Text 10"/>
          <p:cNvSpPr/>
          <p:nvPr/>
        </p:nvSpPr>
        <p:spPr>
          <a:xfrm>
            <a:off x="457200" y="3841886"/>
            <a:ext cx="148518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 Department</a:t>
            </a:r>
            <a:endParaRPr lang="en-US" sz="800" dirty="0"/>
          </a:p>
        </p:txBody>
      </p:sp>
      <p:sp>
        <p:nvSpPr>
          <p:cNvPr id="17" name="Text 11"/>
          <p:cNvSpPr/>
          <p:nvPr/>
        </p:nvSpPr>
        <p:spPr>
          <a:xfrm>
            <a:off x="2043113" y="3688296"/>
            <a:ext cx="2254523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DATE</a:t>
            </a:r>
            <a:endParaRPr lang="en-US" sz="800" dirty="0"/>
          </a:p>
        </p:txBody>
      </p:sp>
      <p:sp>
        <p:nvSpPr>
          <p:cNvPr id="18" name="Text 12"/>
          <p:cNvSpPr/>
          <p:nvPr/>
        </p:nvSpPr>
        <p:spPr>
          <a:xfrm>
            <a:off x="2043113" y="3841886"/>
            <a:ext cx="148518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August 2025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457200" y="4288371"/>
            <a:ext cx="367010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74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TEAM</a:t>
            </a:r>
            <a:endParaRPr lang="en-US" sz="800" dirty="0"/>
          </a:p>
        </p:txBody>
      </p:sp>
      <p:sp>
        <p:nvSpPr>
          <p:cNvPr id="20" name="Text 14"/>
          <p:cNvSpPr/>
          <p:nvPr/>
        </p:nvSpPr>
        <p:spPr>
          <a:xfrm>
            <a:off x="758019" y="4274083"/>
            <a:ext cx="3539617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Santosh Wankhede · Ajay Alam · Ganesh Hole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7439211" y="258961"/>
            <a:ext cx="57150" cy="57150"/>
          </a:xfrm>
          <a:prstGeom prst="ellipse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7553511" y="228600"/>
            <a:ext cx="159048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2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RHEINMETALL · PUNE PLANT</a:t>
            </a:r>
            <a:endParaRPr lang="en-US" sz="8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2857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0"/>
            <a:ext cx="5303453" cy="5143500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460772" y="1012515"/>
            <a:ext cx="1690390" cy="182166"/>
          </a:xfrm>
          <a:prstGeom prst="roundRect">
            <a:avLst>
              <a:gd name="adj" fmla="val 20915"/>
            </a:avLst>
          </a:prstGeom>
          <a:solidFill>
            <a:srgbClr val="3B82F6">
              <a:alpha val="16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664369" y="1051806"/>
            <a:ext cx="1411784" cy="139654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RHEINMETALL INDIA · PRODUCTION</a:t>
            </a:r>
            <a:endParaRPr lang="en-US" sz="619" dirty="0"/>
          </a:p>
        </p:txBody>
      </p:sp>
      <p:sp>
        <p:nvSpPr>
          <p:cNvPr id="7" name="Text 3"/>
          <p:cNvSpPr/>
          <p:nvPr/>
        </p:nvSpPr>
        <p:spPr>
          <a:xfrm>
            <a:off x="535781" y="1060735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844" dirty="0"/>
          </a:p>
        </p:txBody>
      </p:sp>
      <p:sp>
        <p:nvSpPr>
          <p:cNvPr id="8" name="Text 4"/>
          <p:cNvSpPr/>
          <p:nvPr/>
        </p:nvSpPr>
        <p:spPr>
          <a:xfrm>
            <a:off x="457200" y="1326840"/>
            <a:ext cx="4389053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250" b="1" kern="0" spc="-3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Purpose &amp; Vision</a:t>
            </a:r>
            <a:endParaRPr lang="en-US" sz="2250" dirty="0"/>
          </a:p>
        </p:txBody>
      </p:sp>
      <p:sp>
        <p:nvSpPr>
          <p:cNvPr id="9" name="Shape 5"/>
          <p:cNvSpPr/>
          <p:nvPr/>
        </p:nvSpPr>
        <p:spPr>
          <a:xfrm>
            <a:off x="457200" y="1751893"/>
            <a:ext cx="457200" cy="0"/>
          </a:xfrm>
          <a:prstGeom prst="line">
            <a:avLst/>
          </a:prstGeom>
          <a:noFill/>
          <a:ln w="7144">
            <a:solidFill>
              <a:srgbClr val="F1F5F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60772" y="1923343"/>
            <a:ext cx="4381909" cy="767953"/>
          </a:xfrm>
          <a:prstGeom prst="roundRect">
            <a:avLst>
              <a:gd name="adj" fmla="val 14884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07219" y="2055502"/>
            <a:ext cx="60512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74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PURPOSE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061740" y="2110867"/>
            <a:ext cx="3463044" cy="7144"/>
          </a:xfrm>
          <a:prstGeom prst="rect">
            <a:avLst/>
          </a:prstGeom>
          <a:solidFill>
            <a:srgbClr val="60A5FA">
              <a:alpha val="14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581934" y="2057288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1125" dirty="0"/>
          </a:p>
        </p:txBody>
      </p:sp>
      <p:sp>
        <p:nvSpPr>
          <p:cNvPr id="14" name="Text 10"/>
          <p:cNvSpPr/>
          <p:nvPr/>
        </p:nvSpPr>
        <p:spPr>
          <a:xfrm>
            <a:off x="607219" y="2216237"/>
            <a:ext cx="40890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 deliver technology solutions and generate sustainable value for all stakeholders.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57200" y="2794881"/>
            <a:ext cx="4389053" cy="603647"/>
          </a:xfrm>
          <a:prstGeom prst="roundRect">
            <a:avLst>
              <a:gd name="adj" fmla="val 18935"/>
            </a:avLst>
          </a:prstGeom>
          <a:solidFill>
            <a:srgbClr val="1B335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2"/>
          <p:cNvSpPr/>
          <p:nvPr/>
        </p:nvSpPr>
        <p:spPr>
          <a:xfrm>
            <a:off x="457200" y="2798452"/>
            <a:ext cx="4389053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842681" y="2794881"/>
            <a:ext cx="0" cy="603647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57200" y="3394956"/>
            <a:ext cx="4389053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67916" y="2794881"/>
            <a:ext cx="0" cy="603647"/>
          </a:xfrm>
          <a:prstGeom prst="line">
            <a:avLst/>
          </a:prstGeom>
          <a:noFill/>
          <a:ln w="21431">
            <a:solidFill>
              <a:srgbClr val="3B82F6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21506" y="2930612"/>
            <a:ext cx="132004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74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PURPOSE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1661703" y="2985976"/>
            <a:ext cx="2863081" cy="7144"/>
          </a:xfrm>
          <a:prstGeom prst="rect">
            <a:avLst/>
          </a:prstGeom>
          <a:solidFill>
            <a:srgbClr val="60A5FA">
              <a:alpha val="14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4581934" y="2932398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125" dirty="0"/>
          </a:p>
        </p:txBody>
      </p:sp>
      <p:sp>
        <p:nvSpPr>
          <p:cNvPr id="23" name="Text 19"/>
          <p:cNvSpPr/>
          <p:nvPr/>
        </p:nvSpPr>
        <p:spPr>
          <a:xfrm>
            <a:off x="621506" y="3091346"/>
            <a:ext cx="40747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i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“A passionate team delivers sustainable high-performance operational metrics.”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449603" y="3527115"/>
            <a:ext cx="4815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87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VISION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831800" y="3582479"/>
            <a:ext cx="4014453" cy="7144"/>
          </a:xfrm>
          <a:prstGeom prst="rect">
            <a:avLst/>
          </a:prstGeom>
          <a:solidFill>
            <a:srgbClr val="60A5FA">
              <a:alpha val="14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457200" y="3730712"/>
            <a:ext cx="32004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350" b="1" kern="0" spc="-27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350" dirty="0"/>
          </a:p>
        </p:txBody>
      </p:sp>
      <p:sp>
        <p:nvSpPr>
          <p:cNvPr id="27" name="Text 23"/>
          <p:cNvSpPr/>
          <p:nvPr/>
        </p:nvSpPr>
        <p:spPr>
          <a:xfrm>
            <a:off x="728663" y="3730712"/>
            <a:ext cx="1873002" cy="477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 a market leader in offering diversified technology solutions and realize sustainable growth.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2701677" y="3730712"/>
            <a:ext cx="32004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350" b="1" kern="0" spc="-27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350" dirty="0"/>
          </a:p>
        </p:txBody>
      </p:sp>
      <p:sp>
        <p:nvSpPr>
          <p:cNvPr id="29" name="Text 25"/>
          <p:cNvSpPr/>
          <p:nvPr/>
        </p:nvSpPr>
        <p:spPr>
          <a:xfrm>
            <a:off x="2973139" y="3730712"/>
            <a:ext cx="1873114" cy="318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 a benchmark in driving excellence, promoting shared values for the future.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5307806" y="0"/>
            <a:ext cx="0" cy="5143500"/>
          </a:xfrm>
          <a:prstGeom prst="line">
            <a:avLst/>
          </a:prstGeom>
          <a:noFill/>
          <a:ln w="14288">
            <a:solidFill>
              <a:srgbClr val="3B82F6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350472" y="4779169"/>
            <a:ext cx="0" cy="192881"/>
          </a:xfrm>
          <a:prstGeom prst="line">
            <a:avLst/>
          </a:prstGeom>
          <a:noFill/>
          <a:ln w="14288">
            <a:solidFill>
              <a:srgbClr val="FBBF24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7343329" y="4779169"/>
            <a:ext cx="1629221" cy="192881"/>
          </a:xfrm>
          <a:prstGeom prst="rect">
            <a:avLst/>
          </a:prstGeom>
          <a:solidFill>
            <a:srgbClr val="0E1116">
              <a:alpha val="7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7343329" y="4779169"/>
            <a:ext cx="1629221" cy="296266"/>
          </a:xfrm>
          <a:prstGeom prst="rect">
            <a:avLst/>
          </a:prstGeom>
          <a:noFill/>
          <a:ln/>
        </p:spPr>
        <p:txBody>
          <a:bodyPr wrap="square" lIns="71438" tIns="42863" rIns="71438" bIns="42863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10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PUNE PLANT · PRODUCTION FLOOR</a:t>
            </a:r>
            <a:endParaRPr lang="en-US" sz="600" dirty="0"/>
          </a:p>
        </p:txBody>
      </p:sp>
      <p:sp>
        <p:nvSpPr>
          <p:cNvPr id="34" name="Text 30"/>
          <p:cNvSpPr/>
          <p:nvPr/>
        </p:nvSpPr>
        <p:spPr>
          <a:xfrm>
            <a:off x="457200" y="4868466"/>
            <a:ext cx="78837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SHOP FLOOR MANAGEMENT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8355285" y="4868466"/>
            <a:ext cx="476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20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561784" y="460772"/>
            <a:ext cx="121444" cy="121444"/>
          </a:xfrm>
          <a:prstGeom prst="rect">
            <a:avLst/>
          </a:prstGeom>
          <a:noFill/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3861197" y="4375547"/>
            <a:ext cx="121444" cy="121444"/>
          </a:xfrm>
          <a:prstGeom prst="rect">
            <a:avLst/>
          </a:prstGeom>
          <a:noFill/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2"/>
          <p:cNvSpPr/>
          <p:nvPr/>
        </p:nvSpPr>
        <p:spPr>
          <a:xfrm>
            <a:off x="457200" y="1057275"/>
            <a:ext cx="4605397" cy="2360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213"/>
              </a:lnSpc>
              <a:buNone/>
            </a:pPr>
            <a:r>
              <a:rPr lang="en-US" sz="20250" b="1" kern="0" spc="-810" dirty="0">
                <a:solidFill>
                  <a:srgbClr val="FFFFFF">
                    <a:alpha val="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20250" dirty="0"/>
          </a:p>
        </p:txBody>
      </p:sp>
      <p:sp>
        <p:nvSpPr>
          <p:cNvPr id="8" name="Shape 3"/>
          <p:cNvSpPr/>
          <p:nvPr/>
        </p:nvSpPr>
        <p:spPr>
          <a:xfrm>
            <a:off x="4400550" y="2965996"/>
            <a:ext cx="457200" cy="0"/>
          </a:xfrm>
          <a:prstGeom prst="line">
            <a:avLst/>
          </a:prstGeom>
          <a:noFill/>
          <a:ln w="7144">
            <a:solidFill>
              <a:srgbClr val="F1F5F9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400050" y="1000125"/>
            <a:ext cx="4605397" cy="2360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213"/>
              </a:lnSpc>
              <a:buNone/>
            </a:pPr>
            <a:r>
              <a:rPr lang="en-US" sz="20250" b="1" kern="0" spc="-810" dirty="0">
                <a:solidFill>
                  <a:srgbClr val="3B82F6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20250" dirty="0"/>
          </a:p>
        </p:txBody>
      </p:sp>
      <p:sp>
        <p:nvSpPr>
          <p:cNvPr id="10" name="Text 5"/>
          <p:cNvSpPr/>
          <p:nvPr/>
        </p:nvSpPr>
        <p:spPr>
          <a:xfrm>
            <a:off x="457200" y="508992"/>
            <a:ext cx="257175" cy="14288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800100" y="457200"/>
            <a:ext cx="24719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2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RHEINMETALL · SHOP FLOOR MANAGEMENT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 rot="5400000">
            <a:off x="8063564" y="864505"/>
            <a:ext cx="165366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225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MARKER · 01 OF 05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4377690" y="1988891"/>
            <a:ext cx="1101097" cy="212027"/>
          </a:xfrm>
          <a:prstGeom prst="roundRect">
            <a:avLst>
              <a:gd name="adj" fmla="val 17969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4607719" y="2043113"/>
            <a:ext cx="769627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01 OF 05</a:t>
            </a:r>
            <a:endParaRPr lang="en-US" sz="619" dirty="0"/>
          </a:p>
        </p:txBody>
      </p:sp>
      <p:sp>
        <p:nvSpPr>
          <p:cNvPr id="15" name="Text 10"/>
          <p:cNvSpPr/>
          <p:nvPr/>
        </p:nvSpPr>
        <p:spPr>
          <a:xfrm>
            <a:off x="4479131" y="205204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❏</a:t>
            </a:r>
            <a:endParaRPr lang="en-US" sz="844" dirty="0"/>
          </a:p>
        </p:txBody>
      </p:sp>
      <p:sp>
        <p:nvSpPr>
          <p:cNvPr id="16" name="Text 11"/>
          <p:cNvSpPr/>
          <p:nvPr/>
        </p:nvSpPr>
        <p:spPr>
          <a:xfrm>
            <a:off x="4400550" y="2318147"/>
            <a:ext cx="4743450" cy="51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kern="0" spc="-72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Define</a:t>
            </a:r>
            <a:endParaRPr lang="en-US" sz="3600" dirty="0"/>
          </a:p>
        </p:txBody>
      </p:sp>
      <p:sp>
        <p:nvSpPr>
          <p:cNvPr id="17" name="Text 12"/>
          <p:cNvSpPr/>
          <p:nvPr/>
        </p:nvSpPr>
        <p:spPr>
          <a:xfrm>
            <a:off x="4400550" y="3105299"/>
            <a:ext cx="4000500" cy="777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Define the problem, scope, and rationale. Rising defects, customer complaints, and stagnating KPIs called for a structured, leader-led response.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400550" y="4041353"/>
            <a:ext cx="57150" cy="57150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4400550" y="4010992"/>
            <a:ext cx="14677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INTERNAL TRIGGERS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5628494" y="4041353"/>
            <a:ext cx="57150" cy="57150"/>
          </a:xfrm>
          <a:prstGeom prst="rect">
            <a:avLst/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5628494" y="4010992"/>
            <a:ext cx="30583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EXTERNAL TRIGGERS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7977336" y="4484489"/>
            <a:ext cx="69924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93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CONTINUE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8490347" y="4446984"/>
            <a:ext cx="192881" cy="192881"/>
          </a:xfrm>
          <a:prstGeom prst="ellipse">
            <a:avLst/>
          </a:prstGeom>
          <a:noFill/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8503920" y="4460558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25" name="Text 20"/>
          <p:cNvSpPr/>
          <p:nvPr/>
        </p:nvSpPr>
        <p:spPr>
          <a:xfrm>
            <a:off x="457200" y="4868466"/>
            <a:ext cx="78837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01 — DEFINE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8355285" y="4868466"/>
            <a:ext cx="476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20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4340" y="274391"/>
            <a:ext cx="1121301" cy="212027"/>
          </a:xfrm>
          <a:prstGeom prst="roundRect">
            <a:avLst>
              <a:gd name="adj" fmla="val 17969"/>
            </a:avLst>
          </a:prstGeom>
          <a:solidFill>
            <a:srgbClr val="3B82F6">
              <a:alpha val="16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664369" y="328613"/>
            <a:ext cx="911275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TRIGGERS FOR SFM</a:t>
            </a:r>
            <a:endParaRPr lang="en-US" sz="619" dirty="0"/>
          </a:p>
        </p:txBody>
      </p:sp>
      <p:sp>
        <p:nvSpPr>
          <p:cNvPr id="6" name="Text 2"/>
          <p:cNvSpPr/>
          <p:nvPr/>
        </p:nvSpPr>
        <p:spPr>
          <a:xfrm>
            <a:off x="535781" y="33754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844" dirty="0"/>
          </a:p>
        </p:txBody>
      </p:sp>
      <p:sp>
        <p:nvSpPr>
          <p:cNvPr id="7" name="Text 3"/>
          <p:cNvSpPr/>
          <p:nvPr/>
        </p:nvSpPr>
        <p:spPr>
          <a:xfrm>
            <a:off x="1618506" y="376833"/>
            <a:ext cx="5973291" cy="7144"/>
          </a:xfrm>
          <a:prstGeom prst="rect">
            <a:avLst/>
          </a:prstGeom>
          <a:solidFill>
            <a:srgbClr val="60A5FA">
              <a:alpha val="14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677522" y="326827"/>
            <a:ext cx="131061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101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BASELINE · 2021–2023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457200" y="546497"/>
            <a:ext cx="8636000" cy="298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28"/>
              </a:lnSpc>
              <a:buNone/>
            </a:pPr>
            <a:r>
              <a:rPr lang="en-US" sz="2025" b="1" kern="0" spc="-3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Baseline metrics called for action</a:t>
            </a:r>
            <a:endParaRPr lang="en-US" sz="2025" dirty="0"/>
          </a:p>
        </p:txBody>
      </p:sp>
      <p:sp>
        <p:nvSpPr>
          <p:cNvPr id="10" name="Text 6"/>
          <p:cNvSpPr/>
          <p:nvPr/>
        </p:nvSpPr>
        <p:spPr>
          <a:xfrm>
            <a:off x="457200" y="872207"/>
            <a:ext cx="78581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Internal triggers — rising defects, inconsistent quality, high downtime. External triggers — customer complaints, compliance issues, market competition.</a:t>
            </a:r>
            <a:endParaRPr lang="en-US" sz="788" dirty="0"/>
          </a:p>
        </p:txBody>
      </p:sp>
      <p:sp>
        <p:nvSpPr>
          <p:cNvPr id="11" name="Text 7"/>
          <p:cNvSpPr/>
          <p:nvPr/>
        </p:nvSpPr>
        <p:spPr>
          <a:xfrm>
            <a:off x="460772" y="1140098"/>
            <a:ext cx="1964531" cy="2421731"/>
          </a:xfrm>
          <a:prstGeom prst="roundRect">
            <a:avLst>
              <a:gd name="adj" fmla="val 5818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464344" y="2109527"/>
            <a:ext cx="21431" cy="1448730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735806" y="1279401"/>
            <a:ext cx="386120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kern="0" spc="68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OEE %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592931" y="127582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15" name="Text 11"/>
          <p:cNvSpPr/>
          <p:nvPr/>
        </p:nvSpPr>
        <p:spPr>
          <a:xfrm>
            <a:off x="592931" y="1407988"/>
            <a:ext cx="1700213" cy="3154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475" b="1" kern="0" spc="-49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84.33</a:t>
            </a:r>
            <a:r>
              <a:rPr lang="en-US" sz="900" b="1" kern="0" spc="-49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%</a:t>
            </a:r>
            <a:endParaRPr lang="en-US" sz="2475" dirty="0"/>
          </a:p>
        </p:txBody>
      </p:sp>
      <p:sp>
        <p:nvSpPr>
          <p:cNvPr id="16" name="Text 12"/>
          <p:cNvSpPr/>
          <p:nvPr/>
        </p:nvSpPr>
        <p:spPr>
          <a:xfrm>
            <a:off x="592931" y="1750888"/>
            <a:ext cx="1700213" cy="272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56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OVERALL EQUIPMENT EFFECTIVENESS · 2023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592931" y="2450976"/>
            <a:ext cx="1700213" cy="0"/>
          </a:xfrm>
          <a:prstGeom prst="line">
            <a:avLst/>
          </a:prstGeom>
          <a:noFill/>
          <a:ln w="14288">
            <a:solidFill>
              <a:srgbClr val="FBBF24"/>
            </a:solidFill>
            <a:prstDash val="dash"/>
          </a:ln>
        </p:spPr>
      </p:sp>
      <p:sp>
        <p:nvSpPr>
          <p:cNvPr id="18" name="Text 14"/>
          <p:cNvSpPr/>
          <p:nvPr/>
        </p:nvSpPr>
        <p:spPr>
          <a:xfrm>
            <a:off x="1928722" y="2347392"/>
            <a:ext cx="42679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600" b="1" kern="0" spc="4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TGT 85.0</a:t>
            </a:r>
            <a:endParaRPr lang="en-US" sz="600" dirty="0"/>
          </a:p>
        </p:txBody>
      </p:sp>
      <p:sp>
        <p:nvSpPr>
          <p:cNvPr id="19" name="Text 15"/>
          <p:cNvSpPr/>
          <p:nvPr/>
        </p:nvSpPr>
        <p:spPr>
          <a:xfrm>
            <a:off x="797243" y="3036763"/>
            <a:ext cx="4343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23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2021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1225868" y="3036763"/>
            <a:ext cx="4343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23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1654493" y="3036763"/>
            <a:ext cx="4343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23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2023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592931" y="3193926"/>
            <a:ext cx="1700213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70071" y="3243289"/>
            <a:ext cx="938466" cy="212027"/>
          </a:xfrm>
          <a:prstGeom prst="roundRect">
            <a:avLst>
              <a:gd name="adj" fmla="val 17969"/>
            </a:avLst>
          </a:prstGeom>
          <a:solidFill>
            <a:srgbClr val="3B82F6">
              <a:alpha val="16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757097" y="3297510"/>
            <a:ext cx="685857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BELOW TARGET</a:t>
            </a:r>
            <a:endParaRPr lang="en-US" sz="619" dirty="0"/>
          </a:p>
        </p:txBody>
      </p:sp>
      <p:sp>
        <p:nvSpPr>
          <p:cNvPr id="25" name="Text 21"/>
          <p:cNvSpPr/>
          <p:nvPr/>
        </p:nvSpPr>
        <p:spPr>
          <a:xfrm>
            <a:off x="671513" y="331001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↘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2546747" y="1140098"/>
            <a:ext cx="1964531" cy="2421731"/>
          </a:xfrm>
          <a:prstGeom prst="roundRect">
            <a:avLst>
              <a:gd name="adj" fmla="val 5818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2550319" y="2109527"/>
            <a:ext cx="21431" cy="1448730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2795704" y="1279401"/>
            <a:ext cx="825622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kern="0" spc="68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SCRAP COST %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2678906" y="127582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984" dirty="0"/>
          </a:p>
        </p:txBody>
      </p:sp>
      <p:sp>
        <p:nvSpPr>
          <p:cNvPr id="30" name="Text 26"/>
          <p:cNvSpPr/>
          <p:nvPr/>
        </p:nvSpPr>
        <p:spPr>
          <a:xfrm>
            <a:off x="2678906" y="1407988"/>
            <a:ext cx="1700213" cy="3154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475" b="1" kern="0" spc="-49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0.32</a:t>
            </a:r>
            <a:r>
              <a:rPr lang="en-US" sz="900" b="1" kern="0" spc="-49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%</a:t>
            </a:r>
            <a:endParaRPr lang="en-US" sz="2475" dirty="0"/>
          </a:p>
        </p:txBody>
      </p:sp>
      <p:sp>
        <p:nvSpPr>
          <p:cNvPr id="31" name="Text 27"/>
          <p:cNvSpPr/>
          <p:nvPr/>
        </p:nvSpPr>
        <p:spPr>
          <a:xfrm>
            <a:off x="2678906" y="1750888"/>
            <a:ext cx="18022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56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COST OF SCRAP / OUTPUT · 2023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2678906" y="2403425"/>
            <a:ext cx="1700213" cy="0"/>
          </a:xfrm>
          <a:prstGeom prst="line">
            <a:avLst/>
          </a:prstGeom>
          <a:noFill/>
          <a:ln w="14288">
            <a:solidFill>
              <a:srgbClr val="FBBF24"/>
            </a:solidFill>
            <a:prstDash val="dash"/>
          </a:ln>
        </p:spPr>
      </p:sp>
      <p:sp>
        <p:nvSpPr>
          <p:cNvPr id="33" name="Text 29"/>
          <p:cNvSpPr/>
          <p:nvPr/>
        </p:nvSpPr>
        <p:spPr>
          <a:xfrm>
            <a:off x="4014697" y="2299841"/>
            <a:ext cx="42679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600" b="1" kern="0" spc="4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TGT 0.40</a:t>
            </a:r>
            <a:endParaRPr lang="en-US" sz="600" dirty="0"/>
          </a:p>
        </p:txBody>
      </p:sp>
      <p:sp>
        <p:nvSpPr>
          <p:cNvPr id="34" name="Text 30"/>
          <p:cNvSpPr/>
          <p:nvPr/>
        </p:nvSpPr>
        <p:spPr>
          <a:xfrm>
            <a:off x="2883218" y="2929607"/>
            <a:ext cx="4343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23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2021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3311843" y="2929607"/>
            <a:ext cx="4343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23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3740468" y="2929607"/>
            <a:ext cx="4343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23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2023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2678906" y="3193926"/>
            <a:ext cx="1700213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2682478" y="3258220"/>
            <a:ext cx="1384660" cy="182166"/>
          </a:xfrm>
          <a:prstGeom prst="roundRect">
            <a:avLst>
              <a:gd name="adj" fmla="val 20915"/>
            </a:avLst>
          </a:prstGeom>
          <a:solidFill>
            <a:srgbClr val="3B82F6">
              <a:alpha val="16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2878931" y="3297510"/>
            <a:ext cx="1113197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60A5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ABOVE TARGET IN 2021–22</a:t>
            </a:r>
            <a:endParaRPr lang="en-US" sz="619" dirty="0"/>
          </a:p>
        </p:txBody>
      </p:sp>
      <p:sp>
        <p:nvSpPr>
          <p:cNvPr id="40" name="Text 36"/>
          <p:cNvSpPr/>
          <p:nvPr/>
        </p:nvSpPr>
        <p:spPr>
          <a:xfrm>
            <a:off x="2757488" y="331001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4632722" y="1140098"/>
            <a:ext cx="1964531" cy="2421731"/>
          </a:xfrm>
          <a:prstGeom prst="roundRect">
            <a:avLst>
              <a:gd name="adj" fmla="val 5818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8"/>
          <p:cNvSpPr/>
          <p:nvPr/>
        </p:nvSpPr>
        <p:spPr>
          <a:xfrm>
            <a:off x="4636294" y="2109527"/>
            <a:ext cx="21431" cy="1448730"/>
          </a:xfrm>
          <a:prstGeom prst="rect">
            <a:avLst/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4907756" y="1279401"/>
            <a:ext cx="1245920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b="1" kern="0" spc="68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FIRST AID &amp; NEAR-MISS</a:t>
            </a:r>
            <a:endParaRPr lang="en-US" sz="600" dirty="0"/>
          </a:p>
        </p:txBody>
      </p:sp>
      <p:sp>
        <p:nvSpPr>
          <p:cNvPr id="44" name="Text 40"/>
          <p:cNvSpPr/>
          <p:nvPr/>
        </p:nvSpPr>
        <p:spPr>
          <a:xfrm>
            <a:off x="4764881" y="127582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984" dirty="0"/>
          </a:p>
        </p:txBody>
      </p:sp>
      <p:sp>
        <p:nvSpPr>
          <p:cNvPr id="45" name="Text 41"/>
          <p:cNvSpPr/>
          <p:nvPr/>
        </p:nvSpPr>
        <p:spPr>
          <a:xfrm>
            <a:off x="4764881" y="1407988"/>
            <a:ext cx="1700213" cy="3154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475" b="1" kern="0" spc="-49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</a:t>
            </a:r>
            <a:endParaRPr lang="en-US" sz="2475" dirty="0"/>
          </a:p>
        </p:txBody>
      </p:sp>
      <p:sp>
        <p:nvSpPr>
          <p:cNvPr id="46" name="Text 42"/>
          <p:cNvSpPr/>
          <p:nvPr/>
        </p:nvSpPr>
        <p:spPr>
          <a:xfrm>
            <a:off x="4764881" y="1750888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56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RECORDED INCIDENTS · 2023</a:t>
            </a:r>
            <a:endParaRPr lang="en-US" sz="800" dirty="0"/>
          </a:p>
        </p:txBody>
      </p:sp>
      <p:sp>
        <p:nvSpPr>
          <p:cNvPr id="47" name="Text 43"/>
          <p:cNvSpPr/>
          <p:nvPr/>
        </p:nvSpPr>
        <p:spPr>
          <a:xfrm>
            <a:off x="4969193" y="2929607"/>
            <a:ext cx="4343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23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2021</a:t>
            </a:r>
            <a:endParaRPr lang="en-US" sz="800" dirty="0"/>
          </a:p>
        </p:txBody>
      </p:sp>
      <p:sp>
        <p:nvSpPr>
          <p:cNvPr id="48" name="Text 44"/>
          <p:cNvSpPr/>
          <p:nvPr/>
        </p:nvSpPr>
        <p:spPr>
          <a:xfrm>
            <a:off x="5397818" y="2929607"/>
            <a:ext cx="4343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23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49" name="Text 45"/>
          <p:cNvSpPr/>
          <p:nvPr/>
        </p:nvSpPr>
        <p:spPr>
          <a:xfrm>
            <a:off x="5826443" y="2929607"/>
            <a:ext cx="4343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23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2023</a:t>
            </a:r>
            <a:endParaRPr lang="en-US" sz="800" dirty="0"/>
          </a:p>
        </p:txBody>
      </p:sp>
      <p:sp>
        <p:nvSpPr>
          <p:cNvPr id="50" name="Shape 46"/>
          <p:cNvSpPr/>
          <p:nvPr/>
        </p:nvSpPr>
        <p:spPr>
          <a:xfrm>
            <a:off x="4764881" y="3193926"/>
            <a:ext cx="1700213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4742021" y="3243289"/>
            <a:ext cx="1100204" cy="212027"/>
          </a:xfrm>
          <a:prstGeom prst="roundRect">
            <a:avLst>
              <a:gd name="adj" fmla="val 17969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8"/>
          <p:cNvSpPr/>
          <p:nvPr/>
        </p:nvSpPr>
        <p:spPr>
          <a:xfrm>
            <a:off x="4964906" y="3297510"/>
            <a:ext cx="775878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↓ 81% REDUCTION</a:t>
            </a:r>
            <a:endParaRPr lang="en-US" sz="619" dirty="0"/>
          </a:p>
        </p:txBody>
      </p:sp>
      <p:sp>
        <p:nvSpPr>
          <p:cNvPr id="53" name="Text 49"/>
          <p:cNvSpPr/>
          <p:nvPr/>
        </p:nvSpPr>
        <p:spPr>
          <a:xfrm>
            <a:off x="4843463" y="331001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800" dirty="0"/>
          </a:p>
        </p:txBody>
      </p:sp>
      <p:sp>
        <p:nvSpPr>
          <p:cNvPr id="54" name="Text 50"/>
          <p:cNvSpPr/>
          <p:nvPr/>
        </p:nvSpPr>
        <p:spPr>
          <a:xfrm>
            <a:off x="6718697" y="1140098"/>
            <a:ext cx="1964531" cy="2421731"/>
          </a:xfrm>
          <a:prstGeom prst="roundRect">
            <a:avLst>
              <a:gd name="adj" fmla="val 5818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1"/>
          <p:cNvSpPr/>
          <p:nvPr/>
        </p:nvSpPr>
        <p:spPr>
          <a:xfrm>
            <a:off x="6722269" y="2109527"/>
            <a:ext cx="21431" cy="1448730"/>
          </a:xfrm>
          <a:prstGeom prst="rect">
            <a:avLst/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2"/>
          <p:cNvSpPr/>
          <p:nvPr/>
        </p:nvSpPr>
        <p:spPr>
          <a:xfrm>
            <a:off x="6993731" y="1279401"/>
            <a:ext cx="1171597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b="1" kern="0" spc="68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INCIDENTS</a:t>
            </a:r>
            <a:endParaRPr lang="en-US" sz="600" dirty="0"/>
          </a:p>
        </p:txBody>
      </p:sp>
      <p:sp>
        <p:nvSpPr>
          <p:cNvPr id="57" name="Text 53"/>
          <p:cNvSpPr/>
          <p:nvPr/>
        </p:nvSpPr>
        <p:spPr>
          <a:xfrm>
            <a:off x="6850856" y="127582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58" name="Text 54"/>
          <p:cNvSpPr/>
          <p:nvPr/>
        </p:nvSpPr>
        <p:spPr>
          <a:xfrm>
            <a:off x="6850856" y="1407988"/>
            <a:ext cx="1700213" cy="3154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475" b="1" kern="0" spc="-49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2475" dirty="0"/>
          </a:p>
        </p:txBody>
      </p:sp>
      <p:sp>
        <p:nvSpPr>
          <p:cNvPr id="59" name="Text 55"/>
          <p:cNvSpPr/>
          <p:nvPr/>
        </p:nvSpPr>
        <p:spPr>
          <a:xfrm>
            <a:off x="6850856" y="1750888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56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COMPLAINTS LOGGED · 2023</a:t>
            </a:r>
            <a:endParaRPr lang="en-US" sz="800" dirty="0"/>
          </a:p>
        </p:txBody>
      </p:sp>
      <p:sp>
        <p:nvSpPr>
          <p:cNvPr id="60" name="Shape 56"/>
          <p:cNvSpPr/>
          <p:nvPr/>
        </p:nvSpPr>
        <p:spPr>
          <a:xfrm>
            <a:off x="6850856" y="2522413"/>
            <a:ext cx="1700213" cy="0"/>
          </a:xfrm>
          <a:prstGeom prst="line">
            <a:avLst/>
          </a:prstGeom>
          <a:noFill/>
          <a:ln w="14288">
            <a:solidFill>
              <a:srgbClr val="FBBF24"/>
            </a:solidFill>
            <a:prstDash val="dash"/>
          </a:ln>
        </p:spPr>
      </p:sp>
      <p:sp>
        <p:nvSpPr>
          <p:cNvPr id="61" name="Text 57"/>
          <p:cNvSpPr/>
          <p:nvPr/>
        </p:nvSpPr>
        <p:spPr>
          <a:xfrm>
            <a:off x="8268797" y="2418829"/>
            <a:ext cx="33058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600" b="1" kern="0" spc="4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TGT 25</a:t>
            </a:r>
            <a:endParaRPr lang="en-US" sz="600" dirty="0"/>
          </a:p>
        </p:txBody>
      </p:sp>
      <p:sp>
        <p:nvSpPr>
          <p:cNvPr id="62" name="Text 58"/>
          <p:cNvSpPr/>
          <p:nvPr/>
        </p:nvSpPr>
        <p:spPr>
          <a:xfrm>
            <a:off x="7055168" y="2929607"/>
            <a:ext cx="4343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23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2021</a:t>
            </a:r>
            <a:endParaRPr lang="en-US" sz="800" dirty="0"/>
          </a:p>
        </p:txBody>
      </p:sp>
      <p:sp>
        <p:nvSpPr>
          <p:cNvPr id="63" name="Text 59"/>
          <p:cNvSpPr/>
          <p:nvPr/>
        </p:nvSpPr>
        <p:spPr>
          <a:xfrm>
            <a:off x="7483792" y="2929607"/>
            <a:ext cx="4343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23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64" name="Text 60"/>
          <p:cNvSpPr/>
          <p:nvPr/>
        </p:nvSpPr>
        <p:spPr>
          <a:xfrm>
            <a:off x="7912417" y="2929607"/>
            <a:ext cx="4343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23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2023</a:t>
            </a:r>
            <a:endParaRPr lang="en-US" sz="800" dirty="0"/>
          </a:p>
        </p:txBody>
      </p:sp>
      <p:sp>
        <p:nvSpPr>
          <p:cNvPr id="65" name="Shape 61"/>
          <p:cNvSpPr/>
          <p:nvPr/>
        </p:nvSpPr>
        <p:spPr>
          <a:xfrm>
            <a:off x="6850856" y="3193926"/>
            <a:ext cx="1700213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6854428" y="3258220"/>
            <a:ext cx="1410109" cy="182166"/>
          </a:xfrm>
          <a:prstGeom prst="roundRect">
            <a:avLst>
              <a:gd name="adj" fmla="val 20915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3"/>
          <p:cNvSpPr/>
          <p:nvPr/>
        </p:nvSpPr>
        <p:spPr>
          <a:xfrm>
            <a:off x="7050881" y="3297510"/>
            <a:ext cx="1138647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WITHIN TARGET SINCE 2022</a:t>
            </a:r>
            <a:endParaRPr lang="en-US" sz="619" dirty="0"/>
          </a:p>
        </p:txBody>
      </p:sp>
      <p:sp>
        <p:nvSpPr>
          <p:cNvPr id="68" name="Text 64"/>
          <p:cNvSpPr/>
          <p:nvPr/>
        </p:nvSpPr>
        <p:spPr>
          <a:xfrm>
            <a:off x="6929438" y="331001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69" name="Text 65"/>
          <p:cNvSpPr/>
          <p:nvPr/>
        </p:nvSpPr>
        <p:spPr>
          <a:xfrm>
            <a:off x="457200" y="4645558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844" dirty="0"/>
          </a:p>
        </p:txBody>
      </p:sp>
      <p:sp>
        <p:nvSpPr>
          <p:cNvPr id="70" name="Text 66"/>
          <p:cNvSpPr/>
          <p:nvPr/>
        </p:nvSpPr>
        <p:spPr>
          <a:xfrm>
            <a:off x="614363" y="4633503"/>
            <a:ext cx="8072438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Source: Pune Plant — IIQ National Excellence Practice Competition 2025 submission. Bars in </a:t>
            </a:r>
            <a:r>
              <a:rPr lang="en-US" sz="619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red</a:t>
            </a:r>
            <a:r>
              <a:rPr lang="en-US" sz="619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sit below target; bars in </a:t>
            </a:r>
            <a:r>
              <a:rPr lang="en-US" sz="619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yellow</a:t>
            </a:r>
            <a:r>
              <a:rPr lang="en-US" sz="619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meet or exceed target.</a:t>
            </a:r>
            <a:endParaRPr lang="en-US" sz="619" dirty="0"/>
          </a:p>
        </p:txBody>
      </p:sp>
      <p:sp>
        <p:nvSpPr>
          <p:cNvPr id="71" name="Text 67"/>
          <p:cNvSpPr/>
          <p:nvPr/>
        </p:nvSpPr>
        <p:spPr>
          <a:xfrm>
            <a:off x="878681" y="2724224"/>
            <a:ext cx="271463" cy="269677"/>
          </a:xfrm>
          <a:prstGeom prst="roundRect">
            <a:avLst>
              <a:gd name="adj" fmla="val 7064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68"/>
          <p:cNvSpPr/>
          <p:nvPr/>
        </p:nvSpPr>
        <p:spPr>
          <a:xfrm>
            <a:off x="889024" y="2609924"/>
            <a:ext cx="29012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83.51</a:t>
            </a:r>
            <a:endParaRPr lang="en-US" sz="600" dirty="0"/>
          </a:p>
        </p:txBody>
      </p:sp>
      <p:sp>
        <p:nvSpPr>
          <p:cNvPr id="73" name="Text 69"/>
          <p:cNvSpPr/>
          <p:nvPr/>
        </p:nvSpPr>
        <p:spPr>
          <a:xfrm>
            <a:off x="1307306" y="2502768"/>
            <a:ext cx="271463" cy="491133"/>
          </a:xfrm>
          <a:prstGeom prst="roundRect">
            <a:avLst>
              <a:gd name="adj" fmla="val 7018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70"/>
          <p:cNvSpPr/>
          <p:nvPr/>
        </p:nvSpPr>
        <p:spPr>
          <a:xfrm>
            <a:off x="1317649" y="2388468"/>
            <a:ext cx="29012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84.75</a:t>
            </a:r>
            <a:endParaRPr lang="en-US" sz="600" dirty="0"/>
          </a:p>
        </p:txBody>
      </p:sp>
      <p:sp>
        <p:nvSpPr>
          <p:cNvPr id="75" name="Text 71"/>
          <p:cNvSpPr/>
          <p:nvPr/>
        </p:nvSpPr>
        <p:spPr>
          <a:xfrm>
            <a:off x="1735931" y="2577778"/>
            <a:ext cx="271463" cy="416123"/>
          </a:xfrm>
          <a:prstGeom prst="roundRect">
            <a:avLst>
              <a:gd name="adj" fmla="val 7018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72"/>
          <p:cNvSpPr/>
          <p:nvPr/>
        </p:nvSpPr>
        <p:spPr>
          <a:xfrm>
            <a:off x="1746274" y="2463478"/>
            <a:ext cx="29012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84.33</a:t>
            </a:r>
            <a:endParaRPr lang="en-US" sz="600" dirty="0"/>
          </a:p>
        </p:txBody>
      </p:sp>
      <p:sp>
        <p:nvSpPr>
          <p:cNvPr id="77" name="Text 73"/>
          <p:cNvSpPr/>
          <p:nvPr/>
        </p:nvSpPr>
        <p:spPr>
          <a:xfrm>
            <a:off x="2964656" y="2267694"/>
            <a:ext cx="271463" cy="619051"/>
          </a:xfrm>
          <a:prstGeom prst="roundRect">
            <a:avLst>
              <a:gd name="adj" fmla="val 7018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74"/>
          <p:cNvSpPr/>
          <p:nvPr/>
        </p:nvSpPr>
        <p:spPr>
          <a:xfrm>
            <a:off x="3013560" y="2153394"/>
            <a:ext cx="23437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0.43</a:t>
            </a:r>
            <a:endParaRPr lang="en-US" sz="600" dirty="0"/>
          </a:p>
        </p:txBody>
      </p:sp>
      <p:sp>
        <p:nvSpPr>
          <p:cNvPr id="79" name="Text 75"/>
          <p:cNvSpPr/>
          <p:nvPr/>
        </p:nvSpPr>
        <p:spPr>
          <a:xfrm>
            <a:off x="3393281" y="2600995"/>
            <a:ext cx="271463" cy="285750"/>
          </a:xfrm>
          <a:prstGeom prst="roundRect">
            <a:avLst>
              <a:gd name="adj" fmla="val 7018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0" name="Text 76"/>
          <p:cNvSpPr/>
          <p:nvPr/>
        </p:nvSpPr>
        <p:spPr>
          <a:xfrm>
            <a:off x="3442185" y="2486695"/>
            <a:ext cx="23437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0.36</a:t>
            </a:r>
            <a:endParaRPr lang="en-US" sz="600" dirty="0"/>
          </a:p>
        </p:txBody>
      </p:sp>
      <p:sp>
        <p:nvSpPr>
          <p:cNvPr id="81" name="Text 77"/>
          <p:cNvSpPr/>
          <p:nvPr/>
        </p:nvSpPr>
        <p:spPr>
          <a:xfrm>
            <a:off x="3821906" y="2791532"/>
            <a:ext cx="271463" cy="95213"/>
          </a:xfrm>
          <a:prstGeom prst="roundRect">
            <a:avLst>
              <a:gd name="adj" fmla="val 20008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2" name="Text 78"/>
          <p:cNvSpPr/>
          <p:nvPr/>
        </p:nvSpPr>
        <p:spPr>
          <a:xfrm>
            <a:off x="3870810" y="2677232"/>
            <a:ext cx="23437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0.32</a:t>
            </a:r>
            <a:endParaRPr lang="en-US" sz="600" dirty="0"/>
          </a:p>
        </p:txBody>
      </p:sp>
      <p:sp>
        <p:nvSpPr>
          <p:cNvPr id="83" name="Text 79"/>
          <p:cNvSpPr/>
          <p:nvPr/>
        </p:nvSpPr>
        <p:spPr>
          <a:xfrm>
            <a:off x="5050631" y="2184313"/>
            <a:ext cx="271463" cy="702432"/>
          </a:xfrm>
          <a:prstGeom prst="roundRect">
            <a:avLst>
              <a:gd name="adj" fmla="val 7018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4" name="Text 80"/>
          <p:cNvSpPr/>
          <p:nvPr/>
        </p:nvSpPr>
        <p:spPr>
          <a:xfrm>
            <a:off x="5143500" y="2070013"/>
            <a:ext cx="1371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59</a:t>
            </a:r>
            <a:endParaRPr lang="en-US" sz="600" dirty="0"/>
          </a:p>
        </p:txBody>
      </p:sp>
      <p:sp>
        <p:nvSpPr>
          <p:cNvPr id="85" name="Text 81"/>
          <p:cNvSpPr/>
          <p:nvPr/>
        </p:nvSpPr>
        <p:spPr>
          <a:xfrm>
            <a:off x="5479256" y="2291469"/>
            <a:ext cx="271463" cy="595275"/>
          </a:xfrm>
          <a:prstGeom prst="roundRect">
            <a:avLst>
              <a:gd name="adj" fmla="val 7018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6" name="Text 82"/>
          <p:cNvSpPr/>
          <p:nvPr/>
        </p:nvSpPr>
        <p:spPr>
          <a:xfrm>
            <a:off x="5572125" y="2177169"/>
            <a:ext cx="1371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</a:t>
            </a:r>
            <a:endParaRPr lang="en-US" sz="600" dirty="0"/>
          </a:p>
        </p:txBody>
      </p:sp>
      <p:sp>
        <p:nvSpPr>
          <p:cNvPr id="87" name="Text 83"/>
          <p:cNvSpPr/>
          <p:nvPr/>
        </p:nvSpPr>
        <p:spPr>
          <a:xfrm>
            <a:off x="5907881" y="2755813"/>
            <a:ext cx="271463" cy="130932"/>
          </a:xfrm>
          <a:prstGeom prst="roundRect">
            <a:avLst>
              <a:gd name="adj" fmla="val 14550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8" name="Text 84"/>
          <p:cNvSpPr/>
          <p:nvPr/>
        </p:nvSpPr>
        <p:spPr>
          <a:xfrm>
            <a:off x="6000750" y="2641513"/>
            <a:ext cx="1371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</a:t>
            </a:r>
            <a:endParaRPr lang="en-US" sz="600" dirty="0"/>
          </a:p>
        </p:txBody>
      </p:sp>
      <p:sp>
        <p:nvSpPr>
          <p:cNvPr id="89" name="Text 85"/>
          <p:cNvSpPr/>
          <p:nvPr/>
        </p:nvSpPr>
        <p:spPr>
          <a:xfrm>
            <a:off x="7136606" y="2258095"/>
            <a:ext cx="271463" cy="628650"/>
          </a:xfrm>
          <a:prstGeom prst="roundRect">
            <a:avLst>
              <a:gd name="adj" fmla="val 7018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0" name="Text 86"/>
          <p:cNvSpPr/>
          <p:nvPr/>
        </p:nvSpPr>
        <p:spPr>
          <a:xfrm>
            <a:off x="7229475" y="2143795"/>
            <a:ext cx="1371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44</a:t>
            </a:r>
            <a:endParaRPr lang="en-US" sz="600" dirty="0"/>
          </a:p>
        </p:txBody>
      </p:sp>
      <p:sp>
        <p:nvSpPr>
          <p:cNvPr id="91" name="Text 87"/>
          <p:cNvSpPr/>
          <p:nvPr/>
        </p:nvSpPr>
        <p:spPr>
          <a:xfrm>
            <a:off x="7565231" y="2772445"/>
            <a:ext cx="271463" cy="11430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2" name="Text 88"/>
          <p:cNvSpPr/>
          <p:nvPr/>
        </p:nvSpPr>
        <p:spPr>
          <a:xfrm>
            <a:off x="7679531" y="2658145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800" dirty="0"/>
          </a:p>
        </p:txBody>
      </p:sp>
      <p:sp>
        <p:nvSpPr>
          <p:cNvPr id="93" name="Text 89"/>
          <p:cNvSpPr/>
          <p:nvPr/>
        </p:nvSpPr>
        <p:spPr>
          <a:xfrm>
            <a:off x="7993856" y="2786732"/>
            <a:ext cx="271463" cy="100013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4" name="Text 90"/>
          <p:cNvSpPr/>
          <p:nvPr/>
        </p:nvSpPr>
        <p:spPr>
          <a:xfrm>
            <a:off x="8108156" y="2672432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800" dirty="0"/>
          </a:p>
        </p:txBody>
      </p:sp>
      <p:sp>
        <p:nvSpPr>
          <p:cNvPr id="95" name="Text 91"/>
          <p:cNvSpPr/>
          <p:nvPr/>
        </p:nvSpPr>
        <p:spPr>
          <a:xfrm>
            <a:off x="457200" y="4868466"/>
            <a:ext cx="78837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TRIGGERS &amp; BASELINE</a:t>
            </a:r>
            <a:endParaRPr lang="en-US" sz="800" dirty="0"/>
          </a:p>
        </p:txBody>
      </p:sp>
      <p:sp>
        <p:nvSpPr>
          <p:cNvPr id="96" name="Text 92"/>
          <p:cNvSpPr/>
          <p:nvPr/>
        </p:nvSpPr>
        <p:spPr>
          <a:xfrm>
            <a:off x="8355285" y="4868466"/>
            <a:ext cx="476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20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561784" y="460772"/>
            <a:ext cx="121444" cy="121444"/>
          </a:xfrm>
          <a:prstGeom prst="rect">
            <a:avLst/>
          </a:prstGeom>
          <a:noFill/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3861197" y="4375547"/>
            <a:ext cx="121444" cy="121444"/>
          </a:xfrm>
          <a:prstGeom prst="rect">
            <a:avLst/>
          </a:prstGeom>
          <a:noFill/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2"/>
          <p:cNvSpPr/>
          <p:nvPr/>
        </p:nvSpPr>
        <p:spPr>
          <a:xfrm>
            <a:off x="457200" y="1057275"/>
            <a:ext cx="4605397" cy="2360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213"/>
              </a:lnSpc>
              <a:buNone/>
            </a:pPr>
            <a:r>
              <a:rPr lang="en-US" sz="20250" b="1" kern="0" spc="-810" dirty="0">
                <a:solidFill>
                  <a:srgbClr val="FFFFFF">
                    <a:alpha val="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20250" dirty="0"/>
          </a:p>
        </p:txBody>
      </p:sp>
      <p:sp>
        <p:nvSpPr>
          <p:cNvPr id="8" name="Shape 3"/>
          <p:cNvSpPr/>
          <p:nvPr/>
        </p:nvSpPr>
        <p:spPr>
          <a:xfrm>
            <a:off x="4400550" y="2965996"/>
            <a:ext cx="457200" cy="0"/>
          </a:xfrm>
          <a:prstGeom prst="line">
            <a:avLst/>
          </a:prstGeom>
          <a:noFill/>
          <a:ln w="7144">
            <a:solidFill>
              <a:srgbClr val="F1F5F9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400050" y="1000125"/>
            <a:ext cx="4605397" cy="2360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213"/>
              </a:lnSpc>
              <a:buNone/>
            </a:pPr>
            <a:r>
              <a:rPr lang="en-US" sz="20250" b="1" kern="0" spc="-810" dirty="0">
                <a:solidFill>
                  <a:srgbClr val="3B82F6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20250" dirty="0"/>
          </a:p>
        </p:txBody>
      </p:sp>
      <p:sp>
        <p:nvSpPr>
          <p:cNvPr id="10" name="Text 5"/>
          <p:cNvSpPr/>
          <p:nvPr/>
        </p:nvSpPr>
        <p:spPr>
          <a:xfrm>
            <a:off x="457200" y="508992"/>
            <a:ext cx="257175" cy="14288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800100" y="457200"/>
            <a:ext cx="24719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2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RHEINMETALL · SHOP FLOOR MANAGEMENT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 rot="5400000">
            <a:off x="8063564" y="864505"/>
            <a:ext cx="165366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225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MARKER · 02 OF 05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4377690" y="1988891"/>
            <a:ext cx="1101097" cy="212027"/>
          </a:xfrm>
          <a:prstGeom prst="roundRect">
            <a:avLst>
              <a:gd name="adj" fmla="val 17969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4607719" y="2043113"/>
            <a:ext cx="769627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02 OF 05</a:t>
            </a:r>
            <a:endParaRPr lang="en-US" sz="619" dirty="0"/>
          </a:p>
        </p:txBody>
      </p:sp>
      <p:sp>
        <p:nvSpPr>
          <p:cNvPr id="15" name="Text 10"/>
          <p:cNvSpPr/>
          <p:nvPr/>
        </p:nvSpPr>
        <p:spPr>
          <a:xfrm>
            <a:off x="4479131" y="205204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❏</a:t>
            </a:r>
            <a:endParaRPr lang="en-US" sz="844" dirty="0"/>
          </a:p>
        </p:txBody>
      </p:sp>
      <p:sp>
        <p:nvSpPr>
          <p:cNvPr id="16" name="Text 11"/>
          <p:cNvSpPr/>
          <p:nvPr/>
        </p:nvSpPr>
        <p:spPr>
          <a:xfrm>
            <a:off x="4400550" y="2318147"/>
            <a:ext cx="4743450" cy="51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kern="0" spc="-72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</a:t>
            </a:r>
            <a:endParaRPr lang="en-US" sz="3600" dirty="0"/>
          </a:p>
        </p:txBody>
      </p:sp>
      <p:sp>
        <p:nvSpPr>
          <p:cNvPr id="17" name="Text 12"/>
          <p:cNvSpPr/>
          <p:nvPr/>
        </p:nvSpPr>
        <p:spPr>
          <a:xfrm>
            <a:off x="4400550" y="3105299"/>
            <a:ext cx="4000500" cy="777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 performance and select what to track. Brainstormed, dot-voted, and ranked by 18 cross-functional members to define the weekly cadence.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400550" y="3985989"/>
            <a:ext cx="731118" cy="200025"/>
          </a:xfrm>
          <a:prstGeom prst="roundRect">
            <a:avLst>
              <a:gd name="adj" fmla="val 19048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4600575" y="4039567"/>
            <a:ext cx="566812" cy="14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4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 AND SEE</a:t>
            </a:r>
            <a:endParaRPr lang="en-US" sz="600" dirty="0"/>
          </a:p>
        </p:txBody>
      </p:sp>
      <p:sp>
        <p:nvSpPr>
          <p:cNvPr id="20" name="Text 15"/>
          <p:cNvSpPr/>
          <p:nvPr/>
        </p:nvSpPr>
        <p:spPr>
          <a:xfrm>
            <a:off x="4479131" y="404671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5203106" y="3985989"/>
            <a:ext cx="605656" cy="200025"/>
          </a:xfrm>
          <a:prstGeom prst="roundRect">
            <a:avLst>
              <a:gd name="adj" fmla="val 19048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5403131" y="4039567"/>
            <a:ext cx="441350" cy="14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4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OPERATE</a:t>
            </a:r>
            <a:endParaRPr lang="en-US" sz="600" dirty="0"/>
          </a:p>
        </p:txBody>
      </p:sp>
      <p:sp>
        <p:nvSpPr>
          <p:cNvPr id="23" name="Text 18"/>
          <p:cNvSpPr/>
          <p:nvPr/>
        </p:nvSpPr>
        <p:spPr>
          <a:xfrm>
            <a:off x="5281687" y="404671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5880199" y="3985989"/>
            <a:ext cx="941077" cy="200025"/>
          </a:xfrm>
          <a:prstGeom prst="roundRect">
            <a:avLst>
              <a:gd name="adj" fmla="val 19048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6080224" y="4039567"/>
            <a:ext cx="776771" cy="14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4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SOLVE PROBLEMS</a:t>
            </a:r>
            <a:endParaRPr lang="en-US" sz="600" dirty="0"/>
          </a:p>
        </p:txBody>
      </p:sp>
      <p:sp>
        <p:nvSpPr>
          <p:cNvPr id="26" name="Text 21"/>
          <p:cNvSpPr/>
          <p:nvPr/>
        </p:nvSpPr>
        <p:spPr>
          <a:xfrm>
            <a:off x="5958780" y="404671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6892714" y="3985989"/>
            <a:ext cx="732569" cy="200025"/>
          </a:xfrm>
          <a:prstGeom prst="roundRect">
            <a:avLst>
              <a:gd name="adj" fmla="val 19048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7092739" y="4039567"/>
            <a:ext cx="1594061" cy="14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4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LEADERSHIP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6971295" y="404671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7977336" y="4484489"/>
            <a:ext cx="69924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93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CONTINUE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8490347" y="4446984"/>
            <a:ext cx="192881" cy="192881"/>
          </a:xfrm>
          <a:prstGeom prst="ellipse">
            <a:avLst/>
          </a:prstGeom>
          <a:noFill/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8503920" y="4460558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33" name="Text 28"/>
          <p:cNvSpPr/>
          <p:nvPr/>
        </p:nvSpPr>
        <p:spPr>
          <a:xfrm>
            <a:off x="457200" y="4868466"/>
            <a:ext cx="78837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02 — MEASURE</a:t>
            </a:r>
            <a:endParaRPr lang="en-US" sz="800" dirty="0"/>
          </a:p>
        </p:txBody>
      </p:sp>
      <p:sp>
        <p:nvSpPr>
          <p:cNvPr id="34" name="Text 29"/>
          <p:cNvSpPr/>
          <p:nvPr/>
        </p:nvSpPr>
        <p:spPr>
          <a:xfrm>
            <a:off x="8355285" y="4868466"/>
            <a:ext cx="476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20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4340" y="274391"/>
            <a:ext cx="918932" cy="212027"/>
          </a:xfrm>
          <a:prstGeom prst="roundRect">
            <a:avLst>
              <a:gd name="adj" fmla="val 17969"/>
            </a:avLst>
          </a:prstGeom>
          <a:solidFill>
            <a:srgbClr val="3B82F6">
              <a:alpha val="16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662911" y="328613"/>
            <a:ext cx="711820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IT FITS</a:t>
            </a:r>
            <a:endParaRPr lang="en-US" sz="619" dirty="0"/>
          </a:p>
        </p:txBody>
      </p:sp>
      <p:sp>
        <p:nvSpPr>
          <p:cNvPr id="6" name="Text 2"/>
          <p:cNvSpPr/>
          <p:nvPr/>
        </p:nvSpPr>
        <p:spPr>
          <a:xfrm>
            <a:off x="535781" y="33754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44" dirty="0"/>
          </a:p>
        </p:txBody>
      </p:sp>
      <p:sp>
        <p:nvSpPr>
          <p:cNvPr id="7" name="Text 3"/>
          <p:cNvSpPr/>
          <p:nvPr/>
        </p:nvSpPr>
        <p:spPr>
          <a:xfrm>
            <a:off x="1416137" y="376833"/>
            <a:ext cx="5650260" cy="7144"/>
          </a:xfrm>
          <a:prstGeom prst="rect">
            <a:avLst/>
          </a:prstGeom>
          <a:solidFill>
            <a:srgbClr val="60A5FA">
              <a:alpha val="14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152122" y="326827"/>
            <a:ext cx="17488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10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SFM ESSENCE · FOUR COMPONENTS</a:t>
            </a:r>
            <a:endParaRPr lang="en-US" sz="600" dirty="0"/>
          </a:p>
        </p:txBody>
      </p:sp>
      <p:sp>
        <p:nvSpPr>
          <p:cNvPr id="9" name="Text 5"/>
          <p:cNvSpPr/>
          <p:nvPr/>
        </p:nvSpPr>
        <p:spPr>
          <a:xfrm>
            <a:off x="457200" y="546497"/>
            <a:ext cx="8636000" cy="298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28"/>
              </a:lnSpc>
              <a:buNone/>
            </a:pPr>
            <a:r>
              <a:rPr lang="en-US" sz="2025" b="1" kern="0" spc="-3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essence of Shop Floor Management</a:t>
            </a:r>
            <a:endParaRPr lang="en-US" sz="2025" dirty="0"/>
          </a:p>
        </p:txBody>
      </p:sp>
      <p:sp>
        <p:nvSpPr>
          <p:cNvPr id="10" name="Text 6"/>
          <p:cNvSpPr/>
          <p:nvPr/>
        </p:nvSpPr>
        <p:spPr>
          <a:xfrm>
            <a:off x="457200" y="872207"/>
            <a:ext cx="62865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SFM is the systematic activity on the shop floor to achieve the operational KPIs of Safety, Quality, Delivery, Cost, Productivity, and Morale — built on four inseparable components.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60772" y="1332979"/>
            <a:ext cx="4050506" cy="1478756"/>
          </a:xfrm>
          <a:prstGeom prst="roundRect">
            <a:avLst>
              <a:gd name="adj" fmla="val 7729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464344" y="1336551"/>
            <a:ext cx="4043363" cy="21431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639366" y="1497285"/>
            <a:ext cx="392906" cy="392906"/>
          </a:xfrm>
          <a:prstGeom prst="roundRect">
            <a:avLst>
              <a:gd name="adj" fmla="val 19394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FD23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670084" y="1528003"/>
            <a:ext cx="331470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50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2250" dirty="0"/>
          </a:p>
        </p:txBody>
      </p:sp>
      <p:sp>
        <p:nvSpPr>
          <p:cNvPr id="15" name="Text 11"/>
          <p:cNvSpPr/>
          <p:nvPr/>
        </p:nvSpPr>
        <p:spPr>
          <a:xfrm>
            <a:off x="3697117" y="1493713"/>
            <a:ext cx="827663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575" b="1" kern="0" spc="-32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r>
              <a:rPr lang="en-US" sz="800" b="1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04</a:t>
            </a:r>
            <a:endParaRPr lang="en-US" sz="1575" dirty="0"/>
          </a:p>
        </p:txBody>
      </p:sp>
      <p:sp>
        <p:nvSpPr>
          <p:cNvPr id="16" name="Text 12"/>
          <p:cNvSpPr/>
          <p:nvPr/>
        </p:nvSpPr>
        <p:spPr>
          <a:xfrm>
            <a:off x="635794" y="1979488"/>
            <a:ext cx="3700463" cy="19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23"/>
              </a:lnSpc>
              <a:buNone/>
            </a:pPr>
            <a:r>
              <a:rPr lang="en-US" sz="1238" b="1" kern="0" spc="-12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 and See</a:t>
            </a:r>
            <a:endParaRPr lang="en-US" sz="1238" dirty="0"/>
          </a:p>
        </p:txBody>
      </p:sp>
      <p:sp>
        <p:nvSpPr>
          <p:cNvPr id="17" name="Text 13"/>
          <p:cNvSpPr/>
          <p:nvPr/>
        </p:nvSpPr>
        <p:spPr>
          <a:xfrm>
            <a:off x="635794" y="2203066"/>
            <a:ext cx="3700463" cy="272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Involvement of leaders on the shop floor — daily Gemba walks at the point of value creation, not in meeting rooms.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635794" y="2506675"/>
            <a:ext cx="3700463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35794" y="2613831"/>
            <a:ext cx="42863" cy="42863"/>
          </a:xfrm>
          <a:prstGeom prst="ellipse">
            <a:avLst/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735806" y="2581684"/>
            <a:ext cx="36004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9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LEADERSHIP PRESENCE · POINT OF VALUE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4632722" y="1332979"/>
            <a:ext cx="4050506" cy="1478756"/>
          </a:xfrm>
          <a:prstGeom prst="roundRect">
            <a:avLst>
              <a:gd name="adj" fmla="val 7729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4636294" y="1336551"/>
            <a:ext cx="4043363" cy="21431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4811316" y="1497285"/>
            <a:ext cx="392906" cy="392906"/>
          </a:xfrm>
          <a:prstGeom prst="roundRect">
            <a:avLst>
              <a:gd name="adj" fmla="val 19394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FD23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4842034" y="1528003"/>
            <a:ext cx="331470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50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2250" dirty="0"/>
          </a:p>
        </p:txBody>
      </p:sp>
      <p:sp>
        <p:nvSpPr>
          <p:cNvPr id="25" name="Text 21"/>
          <p:cNvSpPr/>
          <p:nvPr/>
        </p:nvSpPr>
        <p:spPr>
          <a:xfrm>
            <a:off x="7869067" y="1493713"/>
            <a:ext cx="827663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575" b="1" kern="0" spc="-32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r>
              <a:rPr lang="en-US" sz="800" b="1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04</a:t>
            </a:r>
            <a:endParaRPr lang="en-US" sz="1575" dirty="0"/>
          </a:p>
        </p:txBody>
      </p:sp>
      <p:sp>
        <p:nvSpPr>
          <p:cNvPr id="26" name="Text 22"/>
          <p:cNvSpPr/>
          <p:nvPr/>
        </p:nvSpPr>
        <p:spPr>
          <a:xfrm>
            <a:off x="4807744" y="1979488"/>
            <a:ext cx="3700463" cy="19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23"/>
              </a:lnSpc>
              <a:buNone/>
            </a:pPr>
            <a:r>
              <a:rPr lang="en-US" sz="1238" b="1" kern="0" spc="-12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Operate</a:t>
            </a:r>
            <a:endParaRPr lang="en-US" sz="1238" dirty="0"/>
          </a:p>
        </p:txBody>
      </p:sp>
      <p:sp>
        <p:nvSpPr>
          <p:cNvPr id="27" name="Text 23"/>
          <p:cNvSpPr/>
          <p:nvPr/>
        </p:nvSpPr>
        <p:spPr>
          <a:xfrm>
            <a:off x="4807744" y="2203066"/>
            <a:ext cx="3700463" cy="272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Transparent and efficient communication through layered meetings, shift handovers, and visible performance boards.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4807744" y="2506675"/>
            <a:ext cx="3700463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807744" y="2613831"/>
            <a:ext cx="42863" cy="42863"/>
          </a:xfrm>
          <a:prstGeom prst="ellipse">
            <a:avLst/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4907756" y="2581684"/>
            <a:ext cx="36004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9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LAYERED MEETINGS · VISIBLE BOARDS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460772" y="2933179"/>
            <a:ext cx="4050506" cy="1478756"/>
          </a:xfrm>
          <a:prstGeom prst="roundRect">
            <a:avLst>
              <a:gd name="adj" fmla="val 7729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464344" y="2936751"/>
            <a:ext cx="4043363" cy="21431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639366" y="3097485"/>
            <a:ext cx="392906" cy="392906"/>
          </a:xfrm>
          <a:prstGeom prst="roundRect">
            <a:avLst>
              <a:gd name="adj" fmla="val 19394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FD23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670084" y="3128203"/>
            <a:ext cx="331470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50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2250" dirty="0"/>
          </a:p>
        </p:txBody>
      </p:sp>
      <p:sp>
        <p:nvSpPr>
          <p:cNvPr id="35" name="Text 31"/>
          <p:cNvSpPr/>
          <p:nvPr/>
        </p:nvSpPr>
        <p:spPr>
          <a:xfrm>
            <a:off x="3697117" y="3093913"/>
            <a:ext cx="827663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575" b="1" kern="0" spc="-32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r>
              <a:rPr lang="en-US" sz="800" b="1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04</a:t>
            </a:r>
            <a:endParaRPr lang="en-US" sz="1575" dirty="0"/>
          </a:p>
        </p:txBody>
      </p:sp>
      <p:sp>
        <p:nvSpPr>
          <p:cNvPr id="36" name="Text 32"/>
          <p:cNvSpPr/>
          <p:nvPr/>
        </p:nvSpPr>
        <p:spPr>
          <a:xfrm>
            <a:off x="635794" y="3579688"/>
            <a:ext cx="3700463" cy="19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23"/>
              </a:lnSpc>
              <a:buNone/>
            </a:pPr>
            <a:r>
              <a:rPr lang="en-US" sz="1238" b="1" kern="0" spc="-12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Solve Problems</a:t>
            </a:r>
            <a:endParaRPr lang="en-US" sz="1238" dirty="0"/>
          </a:p>
        </p:txBody>
      </p:sp>
      <p:sp>
        <p:nvSpPr>
          <p:cNvPr id="37" name="Text 33"/>
          <p:cNvSpPr/>
          <p:nvPr/>
        </p:nvSpPr>
        <p:spPr>
          <a:xfrm>
            <a:off x="635794" y="3803266"/>
            <a:ext cx="3700463" cy="272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Structured and systematic approach — A3 thinking, 8D, Why-Why, and Poka-Yoke to root-cause and permanently eliminate issues.</a:t>
            </a:r>
            <a:endParaRPr lang="en-US" sz="800" dirty="0"/>
          </a:p>
        </p:txBody>
      </p:sp>
      <p:sp>
        <p:nvSpPr>
          <p:cNvPr id="38" name="Shape 34"/>
          <p:cNvSpPr/>
          <p:nvPr/>
        </p:nvSpPr>
        <p:spPr>
          <a:xfrm>
            <a:off x="635794" y="4106875"/>
            <a:ext cx="3700463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35794" y="4214031"/>
            <a:ext cx="42863" cy="42863"/>
          </a:xfrm>
          <a:prstGeom prst="ellipse">
            <a:avLst/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735806" y="4181884"/>
            <a:ext cx="36004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9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A3 · 8D · WHY-WHY · POKA-YOKE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4632722" y="2933179"/>
            <a:ext cx="4050506" cy="1478756"/>
          </a:xfrm>
          <a:prstGeom prst="roundRect">
            <a:avLst>
              <a:gd name="adj" fmla="val 7729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8"/>
          <p:cNvSpPr/>
          <p:nvPr/>
        </p:nvSpPr>
        <p:spPr>
          <a:xfrm>
            <a:off x="4636294" y="2936751"/>
            <a:ext cx="4043363" cy="21431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4811316" y="3097485"/>
            <a:ext cx="392906" cy="392906"/>
          </a:xfrm>
          <a:prstGeom prst="roundRect">
            <a:avLst>
              <a:gd name="adj" fmla="val 19394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FD23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0"/>
          <p:cNvSpPr/>
          <p:nvPr/>
        </p:nvSpPr>
        <p:spPr>
          <a:xfrm>
            <a:off x="4842034" y="3128203"/>
            <a:ext cx="331470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50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2250" dirty="0"/>
          </a:p>
        </p:txBody>
      </p:sp>
      <p:sp>
        <p:nvSpPr>
          <p:cNvPr id="45" name="Text 41"/>
          <p:cNvSpPr/>
          <p:nvPr/>
        </p:nvSpPr>
        <p:spPr>
          <a:xfrm>
            <a:off x="7869067" y="3093913"/>
            <a:ext cx="827663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575" b="1" kern="0" spc="-32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r>
              <a:rPr lang="en-US" sz="800" b="1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04</a:t>
            </a:r>
            <a:endParaRPr lang="en-US" sz="1575" dirty="0"/>
          </a:p>
        </p:txBody>
      </p:sp>
      <p:sp>
        <p:nvSpPr>
          <p:cNvPr id="46" name="Text 42"/>
          <p:cNvSpPr/>
          <p:nvPr/>
        </p:nvSpPr>
        <p:spPr>
          <a:xfrm>
            <a:off x="4807744" y="3579688"/>
            <a:ext cx="3700463" cy="19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23"/>
              </a:lnSpc>
              <a:buNone/>
            </a:pPr>
            <a:r>
              <a:rPr lang="en-US" sz="1238" b="1" kern="0" spc="-12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Leadership</a:t>
            </a:r>
            <a:endParaRPr lang="en-US" sz="1238" dirty="0"/>
          </a:p>
        </p:txBody>
      </p:sp>
      <p:sp>
        <p:nvSpPr>
          <p:cNvPr id="47" name="Text 43"/>
          <p:cNvSpPr/>
          <p:nvPr/>
        </p:nvSpPr>
        <p:spPr>
          <a:xfrm>
            <a:off x="4807744" y="3803266"/>
            <a:ext cx="3700463" cy="272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Coach and teach people — leaders develop problem-solvers, not just delegate tasks. People development is the multiplier.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4807744" y="4106875"/>
            <a:ext cx="3700463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4807744" y="4214031"/>
            <a:ext cx="42863" cy="42863"/>
          </a:xfrm>
          <a:prstGeom prst="ellipse">
            <a:avLst/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6"/>
          <p:cNvSpPr/>
          <p:nvPr/>
        </p:nvSpPr>
        <p:spPr>
          <a:xfrm>
            <a:off x="4907756" y="4181884"/>
            <a:ext cx="36004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9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COACH · TEACH · MULTIPLY</a:t>
            </a:r>
            <a:endParaRPr lang="en-US" sz="800" dirty="0"/>
          </a:p>
        </p:txBody>
      </p:sp>
      <p:sp>
        <p:nvSpPr>
          <p:cNvPr id="51" name="Text 47"/>
          <p:cNvSpPr/>
          <p:nvPr/>
        </p:nvSpPr>
        <p:spPr>
          <a:xfrm>
            <a:off x="457200" y="4529807"/>
            <a:ext cx="8229600" cy="314325"/>
          </a:xfrm>
          <a:prstGeom prst="rect">
            <a:avLst/>
          </a:prstGeom>
          <a:solidFill>
            <a:srgbClr val="0F1E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Shape 48"/>
          <p:cNvSpPr/>
          <p:nvPr/>
        </p:nvSpPr>
        <p:spPr>
          <a:xfrm>
            <a:off x="457200" y="4533379"/>
            <a:ext cx="8229600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8683228" y="4529807"/>
            <a:ext cx="0" cy="314325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457200" y="4840560"/>
            <a:ext cx="8229600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467916" y="4529807"/>
            <a:ext cx="0" cy="314325"/>
          </a:xfrm>
          <a:prstGeom prst="line">
            <a:avLst/>
          </a:prstGeom>
          <a:noFill/>
          <a:ln w="21431">
            <a:solidFill>
              <a:srgbClr val="FBBF24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607219" y="4633392"/>
            <a:ext cx="102194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kern="0" spc="10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KPI DOMAINS</a:t>
            </a:r>
            <a:endParaRPr lang="en-US" sz="800" dirty="0"/>
          </a:p>
        </p:txBody>
      </p:sp>
      <p:sp>
        <p:nvSpPr>
          <p:cNvPr id="57" name="Text 53"/>
          <p:cNvSpPr/>
          <p:nvPr/>
        </p:nvSpPr>
        <p:spPr>
          <a:xfrm>
            <a:off x="1463911" y="4622676"/>
            <a:ext cx="638595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kern="0" spc="122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 </a:t>
            </a:r>
            <a:r>
              <a:rPr lang="en-US" sz="800" b="1" kern="0" spc="122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kern="0" spc="122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QUALITY </a:t>
            </a:r>
            <a:r>
              <a:rPr lang="en-US" sz="800" b="1" kern="0" spc="122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kern="0" spc="122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DELIVERY </a:t>
            </a:r>
            <a:r>
              <a:rPr lang="en-US" sz="800" b="1" kern="0" spc="122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kern="0" spc="122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COST </a:t>
            </a:r>
            <a:r>
              <a:rPr lang="en-US" sz="800" b="1" kern="0" spc="122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kern="0" spc="122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PRODUCTIVITY </a:t>
            </a:r>
            <a:r>
              <a:rPr lang="en-US" sz="800" b="1" kern="0" spc="122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kern="0" spc="122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MORALE</a:t>
            </a:r>
            <a:endParaRPr lang="en-US" sz="800" dirty="0"/>
          </a:p>
        </p:txBody>
      </p:sp>
      <p:sp>
        <p:nvSpPr>
          <p:cNvPr id="58" name="Text 54"/>
          <p:cNvSpPr/>
          <p:nvPr/>
        </p:nvSpPr>
        <p:spPr>
          <a:xfrm>
            <a:off x="7763786" y="4633392"/>
            <a:ext cx="81243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800" b="1" kern="0" spc="10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SFM TARGETS</a:t>
            </a:r>
            <a:endParaRPr lang="en-US" sz="800" dirty="0"/>
          </a:p>
        </p:txBody>
      </p:sp>
      <p:sp>
        <p:nvSpPr>
          <p:cNvPr id="59" name="Text 55"/>
          <p:cNvSpPr/>
          <p:nvPr/>
        </p:nvSpPr>
        <p:spPr>
          <a:xfrm>
            <a:off x="457200" y="4868466"/>
            <a:ext cx="78837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SFM FRAMEWORK</a:t>
            </a:r>
            <a:endParaRPr lang="en-US" sz="800" dirty="0"/>
          </a:p>
        </p:txBody>
      </p:sp>
      <p:sp>
        <p:nvSpPr>
          <p:cNvPr id="60" name="Text 56"/>
          <p:cNvSpPr/>
          <p:nvPr/>
        </p:nvSpPr>
        <p:spPr>
          <a:xfrm>
            <a:off x="8355285" y="4868466"/>
            <a:ext cx="476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20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80903" y="3214688"/>
            <a:ext cx="4663097" cy="1928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0"/>
              </a:lnSpc>
              <a:buNone/>
            </a:pPr>
            <a:r>
              <a:rPr lang="en-US" sz="20250" b="1" kern="0" spc="-810" dirty="0">
                <a:solidFill>
                  <a:srgbClr val="3B82F6">
                    <a:alpha val="4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20250" dirty="0"/>
          </a:p>
        </p:txBody>
      </p:sp>
      <p:sp>
        <p:nvSpPr>
          <p:cNvPr id="5" name="Text 2"/>
          <p:cNvSpPr/>
          <p:nvPr/>
        </p:nvSpPr>
        <p:spPr>
          <a:xfrm>
            <a:off x="434340" y="274391"/>
            <a:ext cx="771257" cy="212027"/>
          </a:xfrm>
          <a:prstGeom prst="roundRect">
            <a:avLst>
              <a:gd name="adj" fmla="val 17969"/>
            </a:avLst>
          </a:prstGeom>
          <a:solidFill>
            <a:srgbClr val="3B82F6">
              <a:alpha val="16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11805" y="328613"/>
            <a:ext cx="544914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RATIONALE</a:t>
            </a:r>
            <a:endParaRPr lang="en-US" sz="619" dirty="0"/>
          </a:p>
        </p:txBody>
      </p:sp>
      <p:sp>
        <p:nvSpPr>
          <p:cNvPr id="7" name="Text 4"/>
          <p:cNvSpPr/>
          <p:nvPr/>
        </p:nvSpPr>
        <p:spPr>
          <a:xfrm>
            <a:off x="535781" y="33754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844" dirty="0"/>
          </a:p>
        </p:txBody>
      </p:sp>
      <p:sp>
        <p:nvSpPr>
          <p:cNvPr id="8" name="Text 5"/>
          <p:cNvSpPr/>
          <p:nvPr/>
        </p:nvSpPr>
        <p:spPr>
          <a:xfrm>
            <a:off x="457200" y="575072"/>
            <a:ext cx="8636000" cy="311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9"/>
              </a:lnSpc>
              <a:buNone/>
            </a:pPr>
            <a:r>
              <a:rPr lang="en-US" sz="2025" b="1" kern="0" spc="-2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do it — seven reasons SFM matters</a:t>
            </a:r>
            <a:endParaRPr lang="en-US" sz="2025" dirty="0"/>
          </a:p>
        </p:txBody>
      </p:sp>
      <p:sp>
        <p:nvSpPr>
          <p:cNvPr id="9" name="Text 6"/>
          <p:cNvSpPr/>
          <p:nvPr/>
        </p:nvSpPr>
        <p:spPr>
          <a:xfrm>
            <a:off x="457200" y="913619"/>
            <a:ext cx="7000875" cy="178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SFM aligns daily execution with strategy through visibility, standardization, and continuous improvement.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17170" y="1336439"/>
            <a:ext cx="64008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25"/>
              </a:lnSpc>
              <a:buNone/>
            </a:pPr>
            <a:r>
              <a:rPr lang="en-US" sz="2025" b="1" kern="0" spc="-40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2025" dirty="0"/>
          </a:p>
        </p:txBody>
      </p:sp>
      <p:sp>
        <p:nvSpPr>
          <p:cNvPr id="11" name="Text 8"/>
          <p:cNvSpPr/>
          <p:nvPr/>
        </p:nvSpPr>
        <p:spPr>
          <a:xfrm>
            <a:off x="957263" y="1336439"/>
            <a:ext cx="3570446" cy="149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 Control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57263" y="1513582"/>
            <a:ext cx="34004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Ensures that production aligns with planned schedules and standards.</a:t>
            </a:r>
            <a:endParaRPr lang="en-US" sz="731" dirty="0"/>
          </a:p>
        </p:txBody>
      </p:sp>
      <p:sp>
        <p:nvSpPr>
          <p:cNvPr id="13" name="Shape 10"/>
          <p:cNvSpPr/>
          <p:nvPr/>
        </p:nvSpPr>
        <p:spPr>
          <a:xfrm>
            <a:off x="4686300" y="1254286"/>
            <a:ext cx="4000500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53170" y="1343583"/>
            <a:ext cx="46631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25"/>
              </a:lnSpc>
              <a:buNone/>
            </a:pPr>
            <a:r>
              <a:rPr lang="en-US" sz="2025" b="1" kern="0" spc="-40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2025" dirty="0"/>
          </a:p>
        </p:txBody>
      </p:sp>
      <p:sp>
        <p:nvSpPr>
          <p:cNvPr id="15" name="Text 12"/>
          <p:cNvSpPr/>
          <p:nvPr/>
        </p:nvSpPr>
        <p:spPr>
          <a:xfrm>
            <a:off x="5186363" y="1343583"/>
            <a:ext cx="3400425" cy="149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Decisions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186363" y="1520726"/>
            <a:ext cx="340042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Leverages real-time metrics for informed, fast, and auditable actions.</a:t>
            </a:r>
            <a:endParaRPr lang="en-US" sz="731" dirty="0"/>
          </a:p>
        </p:txBody>
      </p:sp>
      <p:sp>
        <p:nvSpPr>
          <p:cNvPr id="17" name="Shape 14"/>
          <p:cNvSpPr/>
          <p:nvPr/>
        </p:nvSpPr>
        <p:spPr>
          <a:xfrm>
            <a:off x="457200" y="1849338"/>
            <a:ext cx="4000500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4070" y="1938635"/>
            <a:ext cx="46631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25"/>
              </a:lnSpc>
              <a:buNone/>
            </a:pPr>
            <a:r>
              <a:rPr lang="en-US" sz="2025" b="1" kern="0" spc="-40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2025" dirty="0"/>
          </a:p>
        </p:txBody>
      </p:sp>
      <p:sp>
        <p:nvSpPr>
          <p:cNvPr id="19" name="Text 16"/>
          <p:cNvSpPr/>
          <p:nvPr/>
        </p:nvSpPr>
        <p:spPr>
          <a:xfrm>
            <a:off x="957263" y="1938635"/>
            <a:ext cx="3400425" cy="149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Process Standardization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957263" y="2115778"/>
            <a:ext cx="340042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Establishes consistent methods to reduce variability and errors across lines and shifts.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686300" y="1849338"/>
            <a:ext cx="4000500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53170" y="1938635"/>
            <a:ext cx="46631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25"/>
              </a:lnSpc>
              <a:buNone/>
            </a:pPr>
            <a:r>
              <a:rPr lang="en-US" sz="2025" b="1" kern="0" spc="-40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2025" dirty="0"/>
          </a:p>
        </p:txBody>
      </p:sp>
      <p:sp>
        <p:nvSpPr>
          <p:cNvPr id="23" name="Text 20"/>
          <p:cNvSpPr/>
          <p:nvPr/>
        </p:nvSpPr>
        <p:spPr>
          <a:xfrm>
            <a:off x="5186363" y="1938635"/>
            <a:ext cx="3510153" cy="149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Communication Effectiveness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186363" y="2115778"/>
            <a:ext cx="340042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Improves the effectiveness and efficiency of communication processes across the plant.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2583693"/>
            <a:ext cx="4000500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24070" y="2672990"/>
            <a:ext cx="46631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25"/>
              </a:lnSpc>
              <a:buNone/>
            </a:pPr>
            <a:r>
              <a:rPr lang="en-US" sz="2025" b="1" kern="0" spc="-40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2025" dirty="0"/>
          </a:p>
        </p:txBody>
      </p:sp>
      <p:sp>
        <p:nvSpPr>
          <p:cNvPr id="27" name="Text 24"/>
          <p:cNvSpPr/>
          <p:nvPr/>
        </p:nvSpPr>
        <p:spPr>
          <a:xfrm>
            <a:off x="957263" y="2672990"/>
            <a:ext cx="3400425" cy="149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Improvement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957263" y="2850133"/>
            <a:ext cx="340042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Embeds a Kaizen culture for ongoing, employee-driven enhancements.</a:t>
            </a:r>
            <a:endParaRPr lang="en-US" sz="731" dirty="0"/>
          </a:p>
        </p:txBody>
      </p:sp>
      <p:sp>
        <p:nvSpPr>
          <p:cNvPr id="29" name="Shape 26"/>
          <p:cNvSpPr/>
          <p:nvPr/>
        </p:nvSpPr>
        <p:spPr>
          <a:xfrm>
            <a:off x="4686300" y="2583693"/>
            <a:ext cx="4000500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653170" y="2672990"/>
            <a:ext cx="46631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25"/>
              </a:lnSpc>
              <a:buNone/>
            </a:pPr>
            <a:r>
              <a:rPr lang="en-US" sz="2025" b="1" kern="0" spc="-40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2025" dirty="0"/>
          </a:p>
        </p:txBody>
      </p:sp>
      <p:sp>
        <p:nvSpPr>
          <p:cNvPr id="31" name="Text 28"/>
          <p:cNvSpPr/>
          <p:nvPr/>
        </p:nvSpPr>
        <p:spPr>
          <a:xfrm>
            <a:off x="5186363" y="2672990"/>
            <a:ext cx="3400425" cy="149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People Development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186363" y="2850133"/>
            <a:ext cx="340042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Ensures the development of employees into effective, motivated problem-solvers.</a:t>
            </a:r>
            <a:endParaRPr lang="en-US" sz="731" dirty="0"/>
          </a:p>
        </p:txBody>
      </p:sp>
      <p:sp>
        <p:nvSpPr>
          <p:cNvPr id="33" name="Shape 30"/>
          <p:cNvSpPr/>
          <p:nvPr/>
        </p:nvSpPr>
        <p:spPr>
          <a:xfrm>
            <a:off x="457200" y="3178746"/>
            <a:ext cx="4000500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24070" y="3268042"/>
            <a:ext cx="46631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25"/>
              </a:lnSpc>
              <a:buNone/>
            </a:pPr>
            <a:r>
              <a:rPr lang="en-US" sz="2025" b="1" kern="0" spc="-40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2025" dirty="0"/>
          </a:p>
        </p:txBody>
      </p:sp>
      <p:sp>
        <p:nvSpPr>
          <p:cNvPr id="35" name="Text 32"/>
          <p:cNvSpPr/>
          <p:nvPr/>
        </p:nvSpPr>
        <p:spPr>
          <a:xfrm>
            <a:off x="957263" y="3268042"/>
            <a:ext cx="3400425" cy="149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Leadership Visibility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957263" y="3445185"/>
            <a:ext cx="340042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Promotes active management presence at the point of value creation (Gemba).</a:t>
            </a:r>
            <a:endParaRPr lang="en-US" sz="731" dirty="0"/>
          </a:p>
        </p:txBody>
      </p:sp>
      <p:sp>
        <p:nvSpPr>
          <p:cNvPr id="37" name="Text 34"/>
          <p:cNvSpPr/>
          <p:nvPr/>
        </p:nvSpPr>
        <p:spPr>
          <a:xfrm>
            <a:off x="457200" y="4868466"/>
            <a:ext cx="763722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SFM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077398" y="4868466"/>
            <a:ext cx="7848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 07 / 20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613630" y="428625"/>
            <a:ext cx="7530370" cy="1543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0"/>
              </a:lnSpc>
              <a:buNone/>
            </a:pPr>
            <a:r>
              <a:rPr lang="en-US" sz="11250" b="1" kern="0" spc="-450" dirty="0">
                <a:solidFill>
                  <a:srgbClr val="FBBF24">
                    <a:alpha val="4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MON–FRI</a:t>
            </a:r>
            <a:endParaRPr lang="en-US" sz="11250" dirty="0"/>
          </a:p>
        </p:txBody>
      </p:sp>
      <p:sp>
        <p:nvSpPr>
          <p:cNvPr id="4" name="Text 2"/>
          <p:cNvSpPr/>
          <p:nvPr/>
        </p:nvSpPr>
        <p:spPr>
          <a:xfrm>
            <a:off x="171450" y="571500"/>
            <a:ext cx="57150" cy="57150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71450" y="1557338"/>
            <a:ext cx="57150" cy="57150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71450" y="2543175"/>
            <a:ext cx="57150" cy="57150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71450" y="3529013"/>
            <a:ext cx="57150" cy="57150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71450" y="4514850"/>
            <a:ext cx="57150" cy="57150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85763" y="1885950"/>
            <a:ext cx="2960549" cy="1573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75"/>
              </a:lnSpc>
              <a:buNone/>
            </a:pPr>
            <a:r>
              <a:rPr lang="en-US" sz="13500" b="1" kern="0" spc="-810" dirty="0">
                <a:solidFill>
                  <a:srgbClr val="FFFFFF">
                    <a:alpha val="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3500" dirty="0"/>
          </a:p>
        </p:txBody>
      </p:sp>
      <p:sp>
        <p:nvSpPr>
          <p:cNvPr id="10" name="Shape 8"/>
          <p:cNvSpPr/>
          <p:nvPr/>
        </p:nvSpPr>
        <p:spPr>
          <a:xfrm>
            <a:off x="2714625" y="2423461"/>
            <a:ext cx="457200" cy="0"/>
          </a:xfrm>
          <a:prstGeom prst="line">
            <a:avLst/>
          </a:prstGeom>
          <a:noFill/>
          <a:ln w="7144">
            <a:solidFill>
              <a:srgbClr val="F1F5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" y="1843088"/>
            <a:ext cx="2960549" cy="1573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75"/>
              </a:lnSpc>
              <a:buNone/>
            </a:pPr>
            <a:r>
              <a:rPr lang="en-US" sz="13500" b="1" kern="0" spc="-810" dirty="0">
                <a:solidFill>
                  <a:srgbClr val="3B82F6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3500" dirty="0"/>
          </a:p>
        </p:txBody>
      </p:sp>
      <p:sp>
        <p:nvSpPr>
          <p:cNvPr id="12" name="Text 10"/>
          <p:cNvSpPr/>
          <p:nvPr/>
        </p:nvSpPr>
        <p:spPr>
          <a:xfrm>
            <a:off x="2691765" y="1445799"/>
            <a:ext cx="1101097" cy="212027"/>
          </a:xfrm>
          <a:prstGeom prst="roundRect">
            <a:avLst>
              <a:gd name="adj" fmla="val 17969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921794" y="1500020"/>
            <a:ext cx="769627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03 OF 05</a:t>
            </a:r>
            <a:endParaRPr lang="en-US" sz="619" dirty="0"/>
          </a:p>
        </p:txBody>
      </p:sp>
      <p:sp>
        <p:nvSpPr>
          <p:cNvPr id="14" name="Text 12"/>
          <p:cNvSpPr/>
          <p:nvPr/>
        </p:nvSpPr>
        <p:spPr>
          <a:xfrm>
            <a:off x="2793206" y="1508950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844" dirty="0"/>
          </a:p>
        </p:txBody>
      </p:sp>
      <p:sp>
        <p:nvSpPr>
          <p:cNvPr id="15" name="Text 13"/>
          <p:cNvSpPr/>
          <p:nvPr/>
        </p:nvSpPr>
        <p:spPr>
          <a:xfrm>
            <a:off x="2714625" y="1803629"/>
            <a:ext cx="5303520" cy="503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72"/>
              </a:lnSpc>
              <a:buNone/>
            </a:pPr>
            <a:r>
              <a:rPr lang="en-US" sz="3600" b="1" kern="0" spc="-108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Analyze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2714625" y="2591340"/>
            <a:ext cx="4143375" cy="777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Analyze via daily Gemba focus. Monday through Wednesday surface Safety, 5S, and Quality issues at the source, where value is created.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14625" y="3470530"/>
            <a:ext cx="641710" cy="228029"/>
          </a:xfrm>
          <a:prstGeom prst="roundRect">
            <a:avLst>
              <a:gd name="adj" fmla="val 12531"/>
            </a:avLst>
          </a:prstGeom>
          <a:solidFill>
            <a:srgbClr val="142844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929881" y="3532752"/>
            <a:ext cx="481543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7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800350" y="3525608"/>
            <a:ext cx="47026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74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13485" y="3470530"/>
            <a:ext cx="442131" cy="228029"/>
          </a:xfrm>
          <a:prstGeom prst="roundRect">
            <a:avLst>
              <a:gd name="adj" fmla="val 12531"/>
            </a:avLst>
          </a:prstGeom>
          <a:solidFill>
            <a:srgbClr val="142844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655256" y="3532752"/>
            <a:ext cx="228935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74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499210" y="3525608"/>
            <a:ext cx="27068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74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912766" y="3470530"/>
            <a:ext cx="682563" cy="228029"/>
          </a:xfrm>
          <a:prstGeom prst="roundRect">
            <a:avLst>
              <a:gd name="adj" fmla="val 12531"/>
            </a:avLst>
          </a:prstGeom>
          <a:solidFill>
            <a:srgbClr val="142844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154537" y="3532752"/>
            <a:ext cx="469367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b="1" kern="0" spc="7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</a:t>
            </a:r>
            <a:endParaRPr lang="en-US" sz="619" dirty="0"/>
          </a:p>
        </p:txBody>
      </p:sp>
      <p:sp>
        <p:nvSpPr>
          <p:cNvPr id="25" name="Text 23"/>
          <p:cNvSpPr/>
          <p:nvPr/>
        </p:nvSpPr>
        <p:spPr>
          <a:xfrm>
            <a:off x="3998491" y="3525608"/>
            <a:ext cx="511113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74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52479" y="3470530"/>
            <a:ext cx="550515" cy="228029"/>
          </a:xfrm>
          <a:prstGeom prst="roundRect">
            <a:avLst>
              <a:gd name="adj" fmla="val 12531"/>
            </a:avLst>
          </a:prstGeom>
          <a:solidFill>
            <a:srgbClr val="142844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94250" y="3532752"/>
            <a:ext cx="337319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7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PPSR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38204" y="3525608"/>
            <a:ext cx="37906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74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260144" y="3470530"/>
            <a:ext cx="635347" cy="228029"/>
          </a:xfrm>
          <a:prstGeom prst="roundRect">
            <a:avLst>
              <a:gd name="adj" fmla="val 12531"/>
            </a:avLst>
          </a:prstGeom>
          <a:solidFill>
            <a:srgbClr val="142844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501915" y="3532752"/>
            <a:ext cx="1356085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7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KAIZEN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345869" y="3525608"/>
            <a:ext cx="46389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74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714625" y="4123430"/>
            <a:ext cx="463674" cy="347072"/>
          </a:xfrm>
          <a:prstGeom prst="roundRect">
            <a:avLst>
              <a:gd name="adj" fmla="val 10978"/>
            </a:avLst>
          </a:prstGeom>
          <a:solidFill>
            <a:srgbClr val="3B82F6"/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821781" y="4193381"/>
            <a:ext cx="385093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87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765883" y="4311253"/>
            <a:ext cx="361158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600" kern="0" spc="51" dirty="0">
                <a:solidFill>
                  <a:srgbClr val="FFFFF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3235449" y="4123430"/>
            <a:ext cx="380851" cy="347072"/>
          </a:xfrm>
          <a:prstGeom prst="roundRect">
            <a:avLst>
              <a:gd name="adj" fmla="val 10978"/>
            </a:avLst>
          </a:prstGeom>
          <a:solidFill>
            <a:srgbClr val="3B82F6"/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342605" y="4193381"/>
            <a:ext cx="302270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87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TUE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333764" y="4311253"/>
            <a:ext cx="184221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51" dirty="0">
                <a:solidFill>
                  <a:srgbClr val="FFFFFF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673450" y="4123430"/>
            <a:ext cx="495821" cy="347072"/>
          </a:xfrm>
          <a:prstGeom prst="roundRect">
            <a:avLst>
              <a:gd name="adj" fmla="val 10978"/>
            </a:avLst>
          </a:prstGeom>
          <a:solidFill>
            <a:srgbClr val="3B82F6"/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780606" y="4193381"/>
            <a:ext cx="417240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87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WED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712908" y="4311253"/>
            <a:ext cx="416905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600" kern="0" spc="51" dirty="0">
                <a:solidFill>
                  <a:srgbClr val="FFFFF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4226421" y="4123430"/>
            <a:ext cx="391678" cy="347072"/>
          </a:xfrm>
          <a:prstGeom prst="roundRect">
            <a:avLst>
              <a:gd name="adj" fmla="val 10978"/>
            </a:avLst>
          </a:prstGeom>
          <a:solidFill>
            <a:srgbClr val="3B82F6"/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333577" y="4193381"/>
            <a:ext cx="313097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87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THU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297429" y="4311253"/>
            <a:ext cx="249662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600" kern="0" spc="51" dirty="0">
                <a:solidFill>
                  <a:srgbClr val="FFFFF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PPSR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4675250" y="4123430"/>
            <a:ext cx="458428" cy="347072"/>
          </a:xfrm>
          <a:prstGeom prst="roundRect">
            <a:avLst>
              <a:gd name="adj" fmla="val 10978"/>
            </a:avLst>
          </a:prstGeom>
          <a:solidFill>
            <a:srgbClr val="3B82F6"/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782406" y="4193381"/>
            <a:ext cx="351272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87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FRI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723885" y="4311253"/>
            <a:ext cx="361158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600" kern="0" spc="51" dirty="0">
                <a:solidFill>
                  <a:srgbClr val="FFFFF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KAIZEN</a:t>
            </a:r>
            <a:endParaRPr lang="en-US" sz="600" dirty="0"/>
          </a:p>
        </p:txBody>
      </p:sp>
      <p:pic>
        <p:nvPicPr>
          <p:cNvPr id="4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6525927" y="380405"/>
            <a:ext cx="42863" cy="42863"/>
          </a:xfrm>
          <a:prstGeom prst="ellipse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6640227" y="342900"/>
            <a:ext cx="176294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SHOP FLOOR MANAGEMENT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7980685" y="342900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64748B">
                    <a:alpha val="5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8107152" y="342900"/>
            <a:ext cx="76004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03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7659551" y="4443413"/>
            <a:ext cx="86635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kern="0" spc="149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CONTINUE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8286750" y="4500563"/>
            <a:ext cx="400050" cy="14288"/>
          </a:xfrm>
          <a:prstGeom prst="rect">
            <a:avLst/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457200" y="4868466"/>
            <a:ext cx="76372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03 — THE WEEKLY AGENDA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8077398" y="4868466"/>
            <a:ext cx="7848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 08 / 20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14375" y="-571500"/>
            <a:ext cx="2000250" cy="20002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-714375" y="-571500"/>
            <a:ext cx="2000250" cy="2000250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25" y="3714750"/>
            <a:ext cx="1857375" cy="1857375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7858125" y="3714750"/>
            <a:ext cx="1857375" cy="1857375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2"/>
          <p:cNvSpPr/>
          <p:nvPr/>
        </p:nvSpPr>
        <p:spPr>
          <a:xfrm>
            <a:off x="7464996" y="2119685"/>
            <a:ext cx="0" cy="385763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9" name="Shape 3"/>
          <p:cNvSpPr/>
          <p:nvPr/>
        </p:nvSpPr>
        <p:spPr>
          <a:xfrm>
            <a:off x="7464996" y="2562597"/>
            <a:ext cx="0" cy="385763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0" name="Shape 4"/>
          <p:cNvSpPr/>
          <p:nvPr/>
        </p:nvSpPr>
        <p:spPr>
          <a:xfrm>
            <a:off x="7464996" y="3005510"/>
            <a:ext cx="0" cy="385763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1" name="Shape 5"/>
          <p:cNvSpPr/>
          <p:nvPr/>
        </p:nvSpPr>
        <p:spPr>
          <a:xfrm>
            <a:off x="7464996" y="3448422"/>
            <a:ext cx="0" cy="385763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7464996" y="3891335"/>
            <a:ext cx="0" cy="385763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7537326" y="160734"/>
            <a:ext cx="42863" cy="42863"/>
          </a:xfrm>
          <a:prstGeom prst="ellipse">
            <a:avLst/>
          </a:prstGeom>
          <a:solidFill>
            <a:srgbClr val="22D3EE"/>
          </a:solidFill>
          <a:ln/>
          <a:effectLst>
            <a:outerShdw blurRad="76200" dist="50800" dir="16200000" algn="bl" rotWithShape="0">
              <a:srgbClr val="22D3EE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7637338" y="128588"/>
            <a:ext cx="126509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84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BLUEPRINT · METHODOLOGY</a:t>
            </a:r>
            <a:endParaRPr lang="en-US" sz="600" dirty="0"/>
          </a:p>
        </p:txBody>
      </p:sp>
      <p:sp>
        <p:nvSpPr>
          <p:cNvPr id="15" name="Text 9"/>
          <p:cNvSpPr/>
          <p:nvPr/>
        </p:nvSpPr>
        <p:spPr>
          <a:xfrm>
            <a:off x="460772" y="175022"/>
            <a:ext cx="1696975" cy="182166"/>
          </a:xfrm>
          <a:prstGeom prst="roundRect">
            <a:avLst>
              <a:gd name="adj" fmla="val 20915"/>
            </a:avLst>
          </a:prstGeom>
          <a:solidFill>
            <a:srgbClr val="22D3EE">
              <a:alpha val="14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0"/>
          <p:cNvSpPr/>
          <p:nvPr/>
        </p:nvSpPr>
        <p:spPr>
          <a:xfrm>
            <a:off x="457200" y="171450"/>
            <a:ext cx="1704119" cy="204740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22D3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METHOD · BRAINSTORM + MULTI-VOTE</a:t>
            </a:r>
            <a:endParaRPr lang="en-US" sz="619" dirty="0"/>
          </a:p>
        </p:txBody>
      </p:sp>
      <p:sp>
        <p:nvSpPr>
          <p:cNvPr id="17" name="Text 11"/>
          <p:cNvSpPr/>
          <p:nvPr/>
        </p:nvSpPr>
        <p:spPr>
          <a:xfrm>
            <a:off x="457200" y="403622"/>
            <a:ext cx="8636000" cy="5913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268"/>
              </a:lnSpc>
              <a:buNone/>
            </a:pPr>
            <a:r>
              <a:rPr lang="en-US" sz="2025" b="1" kern="0" spc="-2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How the 5 SFM Themes Were</a:t>
            </a:r>
            <a:endParaRPr lang="en-US" sz="2025" dirty="0"/>
          </a:p>
          <a:p>
            <a:pPr marL="0" indent="0" algn="l">
              <a:lnSpc>
                <a:spcPts val="2268"/>
              </a:lnSpc>
              <a:buNone/>
            </a:pPr>
            <a:r>
              <a:rPr lang="en-US" sz="2025" b="1" kern="0" spc="-2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Selected</a:t>
            </a:r>
            <a:endParaRPr lang="en-US" sz="2025" dirty="0"/>
          </a:p>
        </p:txBody>
      </p:sp>
      <p:sp>
        <p:nvSpPr>
          <p:cNvPr id="18" name="Text 12"/>
          <p:cNvSpPr/>
          <p:nvPr/>
        </p:nvSpPr>
        <p:spPr>
          <a:xfrm>
            <a:off x="457200" y="1022449"/>
            <a:ext cx="7000875" cy="318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2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cross-functional team of 18 line leaders, supervisors, and OE engineers gathered for a 90-minute workshop. 18 candidate themes were brainstormed against the SQDCPM framework, dot-voted, and the top 5 became the weekly SFM cadence.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460772" y="1401738"/>
            <a:ext cx="5058110" cy="2993231"/>
          </a:xfrm>
          <a:prstGeom prst="roundRect">
            <a:avLst>
              <a:gd name="adj" fmla="val 3819"/>
            </a:avLst>
          </a:prstGeom>
          <a:solidFill>
            <a:srgbClr val="142844">
              <a:alpha val="60000"/>
            </a:srgbClr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607219" y="1519610"/>
            <a:ext cx="271463" cy="271463"/>
          </a:xfrm>
          <a:prstGeom prst="ellipse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5"/>
          <p:cNvSpPr/>
          <p:nvPr/>
        </p:nvSpPr>
        <p:spPr>
          <a:xfrm>
            <a:off x="607219" y="1519610"/>
            <a:ext cx="307181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434"/>
              </a:lnSpc>
              <a:buNone/>
            </a:pPr>
            <a:r>
              <a:rPr lang="en-US" sz="956" b="1" kern="0" spc="-19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956" dirty="0"/>
          </a:p>
        </p:txBody>
      </p:sp>
      <p:sp>
        <p:nvSpPr>
          <p:cNvPr id="22" name="Text 16"/>
          <p:cNvSpPr/>
          <p:nvPr/>
        </p:nvSpPr>
        <p:spPr>
          <a:xfrm>
            <a:off x="950119" y="1605335"/>
            <a:ext cx="4422316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800" b="1" kern="0" spc="79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BRAINSTORM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4923160" y="1549328"/>
            <a:ext cx="449275" cy="212027"/>
          </a:xfrm>
          <a:prstGeom prst="roundRect">
            <a:avLst>
              <a:gd name="adj" fmla="val 17969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4923160" y="1560686"/>
            <a:ext cx="4492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90 MIN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607219" y="1876797"/>
            <a:ext cx="487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kern="0" spc="7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 candidate themes generated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 rot="21480000">
            <a:off x="603144" y="2069033"/>
            <a:ext cx="543932" cy="287041"/>
          </a:xfrm>
          <a:prstGeom prst="roundRect">
            <a:avLst>
              <a:gd name="adj" fmla="val 9955"/>
            </a:avLst>
          </a:prstGeom>
          <a:solidFill>
            <a:srgbClr val="3B82F6">
              <a:alpha val="18000"/>
            </a:srgbClr>
          </a:solidFill>
          <a:ln w="14288">
            <a:solidFill>
              <a:srgbClr val="3B82F6"/>
            </a:solidFill>
            <a:prstDash val="solid"/>
          </a:ln>
          <a:effectLst>
            <a:outerShdw blurRad="114300" dist="50800" dir="16200000" algn="bl" rotWithShape="0">
              <a:srgbClr val="FBBF24">
                <a:alpha val="4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1"/>
          <p:cNvSpPr/>
          <p:nvPr/>
        </p:nvSpPr>
        <p:spPr>
          <a:xfrm>
            <a:off x="1052178" y="2059918"/>
            <a:ext cx="103442" cy="103442"/>
          </a:xfrm>
          <a:prstGeom prst="roundRect">
            <a:avLst>
              <a:gd name="adj" fmla="val 66667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2"/>
          <p:cNvSpPr/>
          <p:nvPr/>
        </p:nvSpPr>
        <p:spPr>
          <a:xfrm rot="21480000">
            <a:off x="607219" y="2085757"/>
            <a:ext cx="53553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591"/>
              </a:lnSpc>
              <a:buNone/>
            </a:pPr>
            <a:r>
              <a:rPr lang="en-US" sz="800" b="1" kern="0" spc="6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 Walks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1052178" y="2059918"/>
            <a:ext cx="103442" cy="103442"/>
          </a:xfrm>
          <a:prstGeom prst="ellipse">
            <a:avLst/>
          </a:prstGeom>
          <a:solidFill>
            <a:srgbClr val="FBBF24"/>
          </a:solidFill>
          <a:ln/>
          <a:effectLst>
            <a:outerShdw blurRad="57150" dist="50800" dir="16200000" algn="bl" rotWithShape="0">
              <a:srgbClr val="FBBF24">
                <a:alpha val="7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1029918" y="2081635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6" dirty="0">
                <a:solidFill>
                  <a:srgbClr val="0A162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 rot="120000">
            <a:off x="1181787" y="2069033"/>
            <a:ext cx="543932" cy="287041"/>
          </a:xfrm>
          <a:prstGeom prst="roundRect">
            <a:avLst>
              <a:gd name="adj" fmla="val 9955"/>
            </a:avLst>
          </a:prstGeom>
          <a:solidFill>
            <a:srgbClr val="FBBF24">
              <a:alpha val="18000"/>
            </a:srgbClr>
          </a:solidFill>
          <a:ln w="14288">
            <a:solidFill>
              <a:srgbClr val="FBBF24"/>
            </a:solidFill>
            <a:prstDash val="solid"/>
          </a:ln>
          <a:effectLst>
            <a:outerShdw blurRad="114300" dist="50800" dir="16200000" algn="bl" rotWithShape="0">
              <a:srgbClr val="FBBF24">
                <a:alpha val="4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1637304" y="2076123"/>
            <a:ext cx="103442" cy="103442"/>
          </a:xfrm>
          <a:prstGeom prst="roundRect">
            <a:avLst>
              <a:gd name="adj" fmla="val 66667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7"/>
          <p:cNvSpPr/>
          <p:nvPr/>
        </p:nvSpPr>
        <p:spPr>
          <a:xfrm rot="120000">
            <a:off x="1185994" y="2085753"/>
            <a:ext cx="53578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591"/>
              </a:lnSpc>
              <a:buNone/>
            </a:pPr>
            <a:r>
              <a:rPr lang="en-US" sz="800" b="1" kern="0" spc="6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5S Audit</a:t>
            </a:r>
            <a:endParaRPr lang="en-US" sz="800" dirty="0"/>
          </a:p>
        </p:txBody>
      </p:sp>
      <p:sp>
        <p:nvSpPr>
          <p:cNvPr id="34" name="Text 28"/>
          <p:cNvSpPr/>
          <p:nvPr/>
        </p:nvSpPr>
        <p:spPr>
          <a:xfrm>
            <a:off x="1637304" y="2076123"/>
            <a:ext cx="103442" cy="103442"/>
          </a:xfrm>
          <a:prstGeom prst="ellipse">
            <a:avLst/>
          </a:prstGeom>
          <a:solidFill>
            <a:srgbClr val="FBBF24"/>
          </a:solidFill>
          <a:ln/>
          <a:effectLst>
            <a:outerShdw blurRad="57150" dist="50800" dir="16200000" algn="bl" rotWithShape="0">
              <a:srgbClr val="FBBF24">
                <a:alpha val="7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9"/>
          <p:cNvSpPr/>
          <p:nvPr/>
        </p:nvSpPr>
        <p:spPr>
          <a:xfrm>
            <a:off x="1608561" y="2097840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6" dirty="0">
                <a:solidFill>
                  <a:srgbClr val="0A162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 rot="21480000">
            <a:off x="1760431" y="2069033"/>
            <a:ext cx="543931" cy="287041"/>
          </a:xfrm>
          <a:prstGeom prst="roundRect">
            <a:avLst>
              <a:gd name="adj" fmla="val 9955"/>
            </a:avLst>
          </a:prstGeom>
          <a:solidFill>
            <a:srgbClr val="22D3EE">
              <a:alpha val="18000"/>
            </a:srgbClr>
          </a:solidFill>
          <a:ln w="14288">
            <a:solidFill>
              <a:srgbClr val="22D3EE"/>
            </a:solidFill>
            <a:prstDash val="solid"/>
          </a:ln>
          <a:effectLst>
            <a:outerShdw blurRad="114300" dist="50800" dir="16200000" algn="bl" rotWithShape="0">
              <a:srgbClr val="FBBF24">
                <a:alpha val="4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1"/>
          <p:cNvSpPr/>
          <p:nvPr/>
        </p:nvSpPr>
        <p:spPr>
          <a:xfrm>
            <a:off x="2209465" y="2059918"/>
            <a:ext cx="103442" cy="103442"/>
          </a:xfrm>
          <a:prstGeom prst="roundRect">
            <a:avLst>
              <a:gd name="adj" fmla="val 66667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2"/>
          <p:cNvSpPr/>
          <p:nvPr/>
        </p:nvSpPr>
        <p:spPr>
          <a:xfrm rot="21480000">
            <a:off x="1763010" y="2084386"/>
            <a:ext cx="53578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591"/>
              </a:lnSpc>
              <a:buNone/>
            </a:pPr>
            <a:r>
              <a:rPr lang="en-US" sz="800" b="1" kern="0" spc="6" dirty="0">
                <a:solidFill>
                  <a:srgbClr val="22D3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NC Verify</a:t>
            </a:r>
            <a:endParaRPr lang="en-US" sz="800" dirty="0"/>
          </a:p>
        </p:txBody>
      </p:sp>
      <p:sp>
        <p:nvSpPr>
          <p:cNvPr id="39" name="Text 33"/>
          <p:cNvSpPr/>
          <p:nvPr/>
        </p:nvSpPr>
        <p:spPr>
          <a:xfrm>
            <a:off x="2209465" y="2059918"/>
            <a:ext cx="103442" cy="103442"/>
          </a:xfrm>
          <a:prstGeom prst="ellipse">
            <a:avLst/>
          </a:prstGeom>
          <a:solidFill>
            <a:srgbClr val="FBBF24"/>
          </a:solidFill>
          <a:ln/>
          <a:effectLst>
            <a:outerShdw blurRad="57150" dist="50800" dir="16200000" algn="bl" rotWithShape="0">
              <a:srgbClr val="FBBF24">
                <a:alpha val="7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4"/>
          <p:cNvSpPr/>
          <p:nvPr/>
        </p:nvSpPr>
        <p:spPr>
          <a:xfrm>
            <a:off x="2187205" y="2081635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6" dirty="0">
                <a:solidFill>
                  <a:srgbClr val="0A162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</a:t>
            </a:r>
            <a:endParaRPr lang="en-US" sz="800" dirty="0"/>
          </a:p>
        </p:txBody>
      </p:sp>
      <p:sp>
        <p:nvSpPr>
          <p:cNvPr id="41" name="Text 35"/>
          <p:cNvSpPr/>
          <p:nvPr/>
        </p:nvSpPr>
        <p:spPr>
          <a:xfrm rot="120000">
            <a:off x="2339075" y="2069033"/>
            <a:ext cx="543931" cy="287041"/>
          </a:xfrm>
          <a:prstGeom prst="roundRect">
            <a:avLst>
              <a:gd name="adj" fmla="val 9955"/>
            </a:avLst>
          </a:prstGeom>
          <a:solidFill>
            <a:srgbClr val="A78BFA">
              <a:alpha val="18000"/>
            </a:srgbClr>
          </a:solidFill>
          <a:ln w="14288">
            <a:solidFill>
              <a:srgbClr val="A78BFA"/>
            </a:solidFill>
            <a:prstDash val="solid"/>
          </a:ln>
          <a:effectLst>
            <a:outerShdw blurRad="114300" dist="50800" dir="16200000" algn="bl" rotWithShape="0">
              <a:srgbClr val="FBBF24">
                <a:alpha val="4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6"/>
          <p:cNvSpPr/>
          <p:nvPr/>
        </p:nvSpPr>
        <p:spPr>
          <a:xfrm>
            <a:off x="2794591" y="2076123"/>
            <a:ext cx="103442" cy="103442"/>
          </a:xfrm>
          <a:prstGeom prst="roundRect">
            <a:avLst>
              <a:gd name="adj" fmla="val 66667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7"/>
          <p:cNvSpPr/>
          <p:nvPr/>
        </p:nvSpPr>
        <p:spPr>
          <a:xfrm rot="120000">
            <a:off x="2343337" y="2085755"/>
            <a:ext cx="53578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591"/>
              </a:lnSpc>
              <a:buNone/>
            </a:pPr>
            <a:r>
              <a:rPr lang="en-US" sz="800" b="1" kern="0" spc="6" dirty="0">
                <a:solidFill>
                  <a:srgbClr val="A78B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PPSR Review</a:t>
            </a:r>
            <a:endParaRPr lang="en-US" sz="800" dirty="0"/>
          </a:p>
        </p:txBody>
      </p:sp>
      <p:sp>
        <p:nvSpPr>
          <p:cNvPr id="44" name="Text 38"/>
          <p:cNvSpPr/>
          <p:nvPr/>
        </p:nvSpPr>
        <p:spPr>
          <a:xfrm>
            <a:off x="2794591" y="2076123"/>
            <a:ext cx="103442" cy="103442"/>
          </a:xfrm>
          <a:prstGeom prst="ellipse">
            <a:avLst/>
          </a:prstGeom>
          <a:solidFill>
            <a:srgbClr val="FBBF24"/>
          </a:solidFill>
          <a:ln/>
          <a:effectLst>
            <a:outerShdw blurRad="57150" dist="50800" dir="16200000" algn="bl" rotWithShape="0">
              <a:srgbClr val="FBBF24">
                <a:alpha val="7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9"/>
          <p:cNvSpPr/>
          <p:nvPr/>
        </p:nvSpPr>
        <p:spPr>
          <a:xfrm>
            <a:off x="2765849" y="2097840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6" dirty="0">
                <a:solidFill>
                  <a:srgbClr val="0A162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</a:t>
            </a:r>
            <a:endParaRPr lang="en-US" sz="800" dirty="0"/>
          </a:p>
        </p:txBody>
      </p:sp>
      <p:sp>
        <p:nvSpPr>
          <p:cNvPr id="46" name="Text 40"/>
          <p:cNvSpPr/>
          <p:nvPr/>
        </p:nvSpPr>
        <p:spPr>
          <a:xfrm rot="21480000">
            <a:off x="2917719" y="2069033"/>
            <a:ext cx="543931" cy="287041"/>
          </a:xfrm>
          <a:prstGeom prst="roundRect">
            <a:avLst>
              <a:gd name="adj" fmla="val 9955"/>
            </a:avLst>
          </a:prstGeom>
          <a:solidFill>
            <a:srgbClr val="3B82F6">
              <a:alpha val="18000"/>
            </a:srgbClr>
          </a:solidFill>
          <a:ln w="14288">
            <a:solidFill>
              <a:srgbClr val="3B82F6"/>
            </a:solidFill>
            <a:prstDash val="solid"/>
          </a:ln>
          <a:effectLst>
            <a:outerShdw blurRad="114300" dist="50800" dir="16200000" algn="bl" rotWithShape="0">
              <a:srgbClr val="FBBF24">
                <a:alpha val="4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1"/>
          <p:cNvSpPr/>
          <p:nvPr/>
        </p:nvSpPr>
        <p:spPr>
          <a:xfrm>
            <a:off x="3366753" y="2059918"/>
            <a:ext cx="103442" cy="103442"/>
          </a:xfrm>
          <a:prstGeom prst="roundRect">
            <a:avLst>
              <a:gd name="adj" fmla="val 66667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2"/>
          <p:cNvSpPr/>
          <p:nvPr/>
        </p:nvSpPr>
        <p:spPr>
          <a:xfrm rot="21480000">
            <a:off x="2921607" y="2085755"/>
            <a:ext cx="53578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591"/>
              </a:lnSpc>
              <a:buNone/>
            </a:pPr>
            <a:r>
              <a:rPr lang="en-US" sz="800" b="1" kern="0" spc="6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Kaizen Tree</a:t>
            </a:r>
            <a:endParaRPr lang="en-US" sz="800" dirty="0"/>
          </a:p>
        </p:txBody>
      </p:sp>
      <p:sp>
        <p:nvSpPr>
          <p:cNvPr id="49" name="Text 43"/>
          <p:cNvSpPr/>
          <p:nvPr/>
        </p:nvSpPr>
        <p:spPr>
          <a:xfrm>
            <a:off x="3366753" y="2059918"/>
            <a:ext cx="103442" cy="103442"/>
          </a:xfrm>
          <a:prstGeom prst="ellipse">
            <a:avLst/>
          </a:prstGeom>
          <a:solidFill>
            <a:srgbClr val="FBBF24"/>
          </a:solidFill>
          <a:ln/>
          <a:effectLst>
            <a:outerShdw blurRad="57150" dist="50800" dir="16200000" algn="bl" rotWithShape="0">
              <a:srgbClr val="FBBF24">
                <a:alpha val="7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4"/>
          <p:cNvSpPr/>
          <p:nvPr/>
        </p:nvSpPr>
        <p:spPr>
          <a:xfrm>
            <a:off x="3344493" y="2081635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6" dirty="0">
                <a:solidFill>
                  <a:srgbClr val="0A162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</a:t>
            </a:r>
            <a:endParaRPr lang="en-US" sz="800" dirty="0"/>
          </a:p>
        </p:txBody>
      </p:sp>
      <p:sp>
        <p:nvSpPr>
          <p:cNvPr id="51" name="Text 45"/>
          <p:cNvSpPr/>
          <p:nvPr/>
        </p:nvSpPr>
        <p:spPr>
          <a:xfrm rot="120000">
            <a:off x="3496362" y="2069033"/>
            <a:ext cx="543931" cy="287041"/>
          </a:xfrm>
          <a:prstGeom prst="roundRect">
            <a:avLst>
              <a:gd name="adj" fmla="val 9955"/>
            </a:avLst>
          </a:prstGeom>
          <a:solidFill>
            <a:srgbClr val="FBBF24">
              <a:alpha val="18000"/>
            </a:srgbClr>
          </a:solidFill>
          <a:ln w="7144">
            <a:solidFill>
              <a:srgbClr val="FBBF24"/>
            </a:solidFill>
            <a:prstDash val="solid"/>
          </a:ln>
          <a:effectLst>
            <a:outerShdw blurRad="38100" dist="19050" dir="5400000" algn="bl" rotWithShape="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6"/>
          <p:cNvSpPr/>
          <p:nvPr/>
        </p:nvSpPr>
        <p:spPr>
          <a:xfrm rot="120000">
            <a:off x="3500438" y="2091110"/>
            <a:ext cx="53578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591"/>
              </a:lnSpc>
              <a:buNone/>
            </a:pPr>
            <a:r>
              <a:rPr lang="en-US" sz="800" kern="0" spc="6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TPM Check</a:t>
            </a:r>
            <a:endParaRPr lang="en-US" sz="800" dirty="0"/>
          </a:p>
        </p:txBody>
      </p:sp>
      <p:sp>
        <p:nvSpPr>
          <p:cNvPr id="53" name="Text 47"/>
          <p:cNvSpPr/>
          <p:nvPr/>
        </p:nvSpPr>
        <p:spPr>
          <a:xfrm rot="21480000">
            <a:off x="4075006" y="2069033"/>
            <a:ext cx="543931" cy="287041"/>
          </a:xfrm>
          <a:prstGeom prst="roundRect">
            <a:avLst>
              <a:gd name="adj" fmla="val 9955"/>
            </a:avLst>
          </a:prstGeom>
          <a:solidFill>
            <a:srgbClr val="22D3EE">
              <a:alpha val="18000"/>
            </a:srgbClr>
          </a:solidFill>
          <a:ln w="7144">
            <a:solidFill>
              <a:srgbClr val="22D3EE"/>
            </a:solidFill>
            <a:prstDash val="solid"/>
          </a:ln>
          <a:effectLst>
            <a:outerShdw blurRad="38100" dist="19050" dir="5400000" algn="bl" rotWithShape="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8"/>
          <p:cNvSpPr/>
          <p:nvPr/>
        </p:nvSpPr>
        <p:spPr>
          <a:xfrm rot="21480000">
            <a:off x="4079081" y="2091110"/>
            <a:ext cx="53578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591"/>
              </a:lnSpc>
              <a:buNone/>
            </a:pPr>
            <a:r>
              <a:rPr lang="en-US" sz="800" kern="0" spc="6" dirty="0">
                <a:solidFill>
                  <a:srgbClr val="22D3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SMED</a:t>
            </a:r>
            <a:endParaRPr lang="en-US" sz="800" dirty="0"/>
          </a:p>
        </p:txBody>
      </p:sp>
      <p:sp>
        <p:nvSpPr>
          <p:cNvPr id="55" name="Text 49"/>
          <p:cNvSpPr/>
          <p:nvPr/>
        </p:nvSpPr>
        <p:spPr>
          <a:xfrm rot="120000">
            <a:off x="4653650" y="2069033"/>
            <a:ext cx="543931" cy="287041"/>
          </a:xfrm>
          <a:prstGeom prst="roundRect">
            <a:avLst>
              <a:gd name="adj" fmla="val 9955"/>
            </a:avLst>
          </a:prstGeom>
          <a:solidFill>
            <a:srgbClr val="A78BFA">
              <a:alpha val="18000"/>
            </a:srgbClr>
          </a:solidFill>
          <a:ln w="7144">
            <a:solidFill>
              <a:srgbClr val="A78BFA"/>
            </a:solidFill>
            <a:prstDash val="solid"/>
          </a:ln>
          <a:effectLst>
            <a:outerShdw blurRad="38100" dist="19050" dir="5400000" algn="bl" rotWithShape="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0"/>
          <p:cNvSpPr/>
          <p:nvPr/>
        </p:nvSpPr>
        <p:spPr>
          <a:xfrm rot="120000">
            <a:off x="4657725" y="2091110"/>
            <a:ext cx="53578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591"/>
              </a:lnSpc>
              <a:buNone/>
            </a:pPr>
            <a:r>
              <a:rPr lang="en-US" sz="800" kern="0" spc="6" dirty="0">
                <a:solidFill>
                  <a:srgbClr val="A78B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Visual Mgmt</a:t>
            </a:r>
            <a:endParaRPr lang="en-US" sz="800" dirty="0"/>
          </a:p>
        </p:txBody>
      </p:sp>
      <p:sp>
        <p:nvSpPr>
          <p:cNvPr id="57" name="Text 51"/>
          <p:cNvSpPr/>
          <p:nvPr/>
        </p:nvSpPr>
        <p:spPr>
          <a:xfrm rot="21480000">
            <a:off x="603144" y="2354783"/>
            <a:ext cx="543932" cy="287041"/>
          </a:xfrm>
          <a:prstGeom prst="roundRect">
            <a:avLst>
              <a:gd name="adj" fmla="val 9955"/>
            </a:avLst>
          </a:prstGeom>
          <a:solidFill>
            <a:srgbClr val="3B82F6">
              <a:alpha val="18000"/>
            </a:srgbClr>
          </a:solidFill>
          <a:ln w="7144">
            <a:solidFill>
              <a:srgbClr val="3B82F6"/>
            </a:solidFill>
            <a:prstDash val="solid"/>
          </a:ln>
          <a:effectLst>
            <a:outerShdw blurRad="38100" dist="19050" dir="5400000" algn="bl" rotWithShape="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2"/>
          <p:cNvSpPr/>
          <p:nvPr/>
        </p:nvSpPr>
        <p:spPr>
          <a:xfrm rot="21480000">
            <a:off x="607219" y="2376860"/>
            <a:ext cx="53578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591"/>
              </a:lnSpc>
              <a:buNone/>
            </a:pPr>
            <a:r>
              <a:rPr lang="en-US" sz="800" kern="0" spc="6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WIP Control</a:t>
            </a:r>
            <a:endParaRPr lang="en-US" sz="800" dirty="0"/>
          </a:p>
        </p:txBody>
      </p:sp>
      <p:sp>
        <p:nvSpPr>
          <p:cNvPr id="59" name="Text 53"/>
          <p:cNvSpPr/>
          <p:nvPr/>
        </p:nvSpPr>
        <p:spPr>
          <a:xfrm rot="120000">
            <a:off x="1181787" y="2354783"/>
            <a:ext cx="543932" cy="287041"/>
          </a:xfrm>
          <a:prstGeom prst="roundRect">
            <a:avLst>
              <a:gd name="adj" fmla="val 9955"/>
            </a:avLst>
          </a:prstGeom>
          <a:solidFill>
            <a:srgbClr val="FBBF24">
              <a:alpha val="18000"/>
            </a:srgbClr>
          </a:solidFill>
          <a:ln w="7144">
            <a:solidFill>
              <a:srgbClr val="FBBF24"/>
            </a:solidFill>
            <a:prstDash val="solid"/>
          </a:ln>
          <a:effectLst>
            <a:outerShdw blurRad="38100" dist="19050" dir="5400000" algn="bl" rotWithShape="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4"/>
          <p:cNvSpPr/>
          <p:nvPr/>
        </p:nvSpPr>
        <p:spPr>
          <a:xfrm rot="120000">
            <a:off x="1185863" y="2376860"/>
            <a:ext cx="53578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591"/>
              </a:lnSpc>
              <a:buNone/>
            </a:pPr>
            <a:r>
              <a:rPr lang="en-US" sz="800" kern="0" spc="6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Tool Preset</a:t>
            </a:r>
            <a:endParaRPr lang="en-US" sz="800" dirty="0"/>
          </a:p>
        </p:txBody>
      </p:sp>
      <p:sp>
        <p:nvSpPr>
          <p:cNvPr id="61" name="Text 55"/>
          <p:cNvSpPr/>
          <p:nvPr/>
        </p:nvSpPr>
        <p:spPr>
          <a:xfrm rot="21480000">
            <a:off x="1760431" y="2354783"/>
            <a:ext cx="543931" cy="287041"/>
          </a:xfrm>
          <a:prstGeom prst="roundRect">
            <a:avLst>
              <a:gd name="adj" fmla="val 9955"/>
            </a:avLst>
          </a:prstGeom>
          <a:solidFill>
            <a:srgbClr val="22D3EE">
              <a:alpha val="18000"/>
            </a:srgbClr>
          </a:solidFill>
          <a:ln w="7144">
            <a:solidFill>
              <a:srgbClr val="22D3EE"/>
            </a:solidFill>
            <a:prstDash val="solid"/>
          </a:ln>
          <a:effectLst>
            <a:outerShdw blurRad="38100" dist="19050" dir="5400000" algn="bl" rotWithShape="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6"/>
          <p:cNvSpPr/>
          <p:nvPr/>
        </p:nvSpPr>
        <p:spPr>
          <a:xfrm rot="21480000">
            <a:off x="1764506" y="2376860"/>
            <a:ext cx="53578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591"/>
              </a:lnSpc>
              <a:buNone/>
            </a:pPr>
            <a:r>
              <a:rPr lang="en-US" sz="800" kern="0" spc="6" dirty="0">
                <a:solidFill>
                  <a:srgbClr val="22D3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Spare Parts</a:t>
            </a:r>
            <a:endParaRPr lang="en-US" sz="800" dirty="0"/>
          </a:p>
        </p:txBody>
      </p:sp>
      <p:sp>
        <p:nvSpPr>
          <p:cNvPr id="63" name="Text 57"/>
          <p:cNvSpPr/>
          <p:nvPr/>
        </p:nvSpPr>
        <p:spPr>
          <a:xfrm rot="120000">
            <a:off x="2339075" y="2354783"/>
            <a:ext cx="543931" cy="287041"/>
          </a:xfrm>
          <a:prstGeom prst="roundRect">
            <a:avLst>
              <a:gd name="adj" fmla="val 9955"/>
            </a:avLst>
          </a:prstGeom>
          <a:solidFill>
            <a:srgbClr val="A78BFA">
              <a:alpha val="18000"/>
            </a:srgbClr>
          </a:solidFill>
          <a:ln w="7144">
            <a:solidFill>
              <a:srgbClr val="A78BFA"/>
            </a:solidFill>
            <a:prstDash val="solid"/>
          </a:ln>
          <a:effectLst>
            <a:outerShdw blurRad="38100" dist="19050" dir="5400000" algn="bl" rotWithShape="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58"/>
          <p:cNvSpPr/>
          <p:nvPr/>
        </p:nvSpPr>
        <p:spPr>
          <a:xfrm rot="120000">
            <a:off x="2343150" y="2376860"/>
            <a:ext cx="53578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591"/>
              </a:lnSpc>
              <a:buNone/>
            </a:pPr>
            <a:r>
              <a:rPr lang="en-US" sz="800" kern="0" spc="6" dirty="0">
                <a:solidFill>
                  <a:srgbClr val="A78B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Skill Matrix</a:t>
            </a:r>
            <a:endParaRPr lang="en-US" sz="800" dirty="0"/>
          </a:p>
        </p:txBody>
      </p:sp>
      <p:sp>
        <p:nvSpPr>
          <p:cNvPr id="65" name="Text 59"/>
          <p:cNvSpPr/>
          <p:nvPr/>
        </p:nvSpPr>
        <p:spPr>
          <a:xfrm rot="21480000">
            <a:off x="2917719" y="2354783"/>
            <a:ext cx="543931" cy="287041"/>
          </a:xfrm>
          <a:prstGeom prst="roundRect">
            <a:avLst>
              <a:gd name="adj" fmla="val 9955"/>
            </a:avLst>
          </a:prstGeom>
          <a:solidFill>
            <a:srgbClr val="3B82F6">
              <a:alpha val="18000"/>
            </a:srgbClr>
          </a:solidFill>
          <a:ln w="7144">
            <a:solidFill>
              <a:srgbClr val="3B82F6"/>
            </a:solidFill>
            <a:prstDash val="solid"/>
          </a:ln>
          <a:effectLst>
            <a:outerShdw blurRad="38100" dist="19050" dir="5400000" algn="bl" rotWithShape="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60"/>
          <p:cNvSpPr/>
          <p:nvPr/>
        </p:nvSpPr>
        <p:spPr>
          <a:xfrm rot="21480000">
            <a:off x="2921794" y="2376860"/>
            <a:ext cx="53578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591"/>
              </a:lnSpc>
              <a:buNone/>
            </a:pPr>
            <a:r>
              <a:rPr lang="en-US" sz="800" kern="0" spc="6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OEE Review</a:t>
            </a:r>
            <a:endParaRPr lang="en-US" sz="800" dirty="0"/>
          </a:p>
        </p:txBody>
      </p:sp>
      <p:sp>
        <p:nvSpPr>
          <p:cNvPr id="67" name="Text 61"/>
          <p:cNvSpPr/>
          <p:nvPr/>
        </p:nvSpPr>
        <p:spPr>
          <a:xfrm rot="120000">
            <a:off x="3496362" y="2354783"/>
            <a:ext cx="543931" cy="287041"/>
          </a:xfrm>
          <a:prstGeom prst="roundRect">
            <a:avLst>
              <a:gd name="adj" fmla="val 9955"/>
            </a:avLst>
          </a:prstGeom>
          <a:solidFill>
            <a:srgbClr val="FBBF24">
              <a:alpha val="18000"/>
            </a:srgbClr>
          </a:solidFill>
          <a:ln w="7144">
            <a:solidFill>
              <a:srgbClr val="FBBF24"/>
            </a:solidFill>
            <a:prstDash val="solid"/>
          </a:ln>
          <a:effectLst>
            <a:outerShdw blurRad="38100" dist="19050" dir="5400000" algn="bl" rotWithShape="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62"/>
          <p:cNvSpPr/>
          <p:nvPr/>
        </p:nvSpPr>
        <p:spPr>
          <a:xfrm rot="120000">
            <a:off x="3500438" y="2376860"/>
            <a:ext cx="53578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591"/>
              </a:lnSpc>
              <a:buNone/>
            </a:pPr>
            <a:r>
              <a:rPr lang="en-US" sz="800" kern="0" spc="6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 Tracker</a:t>
            </a:r>
            <a:endParaRPr lang="en-US" sz="800" dirty="0"/>
          </a:p>
        </p:txBody>
      </p:sp>
      <p:sp>
        <p:nvSpPr>
          <p:cNvPr id="69" name="Text 63"/>
          <p:cNvSpPr/>
          <p:nvPr/>
        </p:nvSpPr>
        <p:spPr>
          <a:xfrm>
            <a:off x="607219" y="4194944"/>
            <a:ext cx="57150" cy="57150"/>
          </a:xfrm>
          <a:prstGeom prst="roundRect">
            <a:avLst>
              <a:gd name="adj" fmla="val 66667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64"/>
          <p:cNvSpPr/>
          <p:nvPr/>
        </p:nvSpPr>
        <p:spPr>
          <a:xfrm>
            <a:off x="607219" y="4169941"/>
            <a:ext cx="476521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28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★ = TOP 5 SELECTED</a:t>
            </a:r>
            <a:endParaRPr lang="en-US" sz="800" dirty="0"/>
          </a:p>
        </p:txBody>
      </p:sp>
      <p:sp>
        <p:nvSpPr>
          <p:cNvPr id="71" name="Text 65"/>
          <p:cNvSpPr/>
          <p:nvPr/>
        </p:nvSpPr>
        <p:spPr>
          <a:xfrm>
            <a:off x="5626038" y="1401738"/>
            <a:ext cx="1324608" cy="2993231"/>
          </a:xfrm>
          <a:prstGeom prst="roundRect">
            <a:avLst>
              <a:gd name="adj" fmla="val 8629"/>
            </a:avLst>
          </a:prstGeom>
          <a:solidFill>
            <a:srgbClr val="142844">
              <a:alpha val="60000"/>
            </a:srgbClr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66"/>
          <p:cNvSpPr/>
          <p:nvPr/>
        </p:nvSpPr>
        <p:spPr>
          <a:xfrm>
            <a:off x="5772485" y="1596405"/>
            <a:ext cx="271463" cy="271463"/>
          </a:xfrm>
          <a:prstGeom prst="ellipse">
            <a:avLst/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67"/>
          <p:cNvSpPr/>
          <p:nvPr/>
        </p:nvSpPr>
        <p:spPr>
          <a:xfrm>
            <a:off x="5772485" y="1596405"/>
            <a:ext cx="307181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434"/>
              </a:lnSpc>
              <a:buNone/>
            </a:pPr>
            <a:r>
              <a:rPr lang="en-US" sz="956" b="1" kern="0" spc="-19" dirty="0">
                <a:solidFill>
                  <a:srgbClr val="0A162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956" dirty="0"/>
          </a:p>
        </p:txBody>
      </p:sp>
      <p:sp>
        <p:nvSpPr>
          <p:cNvPr id="74" name="Text 68"/>
          <p:cNvSpPr/>
          <p:nvPr/>
        </p:nvSpPr>
        <p:spPr>
          <a:xfrm>
            <a:off x="6115385" y="1632124"/>
            <a:ext cx="39770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800" b="1" kern="0" spc="79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MULTI-VOTE</a:t>
            </a:r>
            <a:endParaRPr lang="en-US" sz="800" dirty="0"/>
          </a:p>
        </p:txBody>
      </p:sp>
      <p:sp>
        <p:nvSpPr>
          <p:cNvPr id="75" name="Text 69"/>
          <p:cNvSpPr/>
          <p:nvPr/>
        </p:nvSpPr>
        <p:spPr>
          <a:xfrm>
            <a:off x="6552381" y="1523181"/>
            <a:ext cx="366787" cy="417909"/>
          </a:xfrm>
          <a:prstGeom prst="roundRect">
            <a:avLst>
              <a:gd name="adj" fmla="val 10388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70"/>
          <p:cNvSpPr/>
          <p:nvPr/>
        </p:nvSpPr>
        <p:spPr>
          <a:xfrm>
            <a:off x="6548810" y="1519610"/>
            <a:ext cx="255389" cy="593529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DOTS EACH</a:t>
            </a:r>
            <a:endParaRPr lang="en-US" sz="800" dirty="0"/>
          </a:p>
        </p:txBody>
      </p:sp>
      <p:sp>
        <p:nvSpPr>
          <p:cNvPr id="77" name="Text 71"/>
          <p:cNvSpPr/>
          <p:nvPr/>
        </p:nvSpPr>
        <p:spPr>
          <a:xfrm>
            <a:off x="5772485" y="2030388"/>
            <a:ext cx="1093617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kern="0" spc="7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18 team members × 5 dots = 90 votes cast</a:t>
            </a:r>
            <a:endParaRPr lang="en-US" sz="800" dirty="0"/>
          </a:p>
        </p:txBody>
      </p:sp>
      <p:sp>
        <p:nvSpPr>
          <p:cNvPr id="78" name="Text 72"/>
          <p:cNvSpPr/>
          <p:nvPr/>
        </p:nvSpPr>
        <p:spPr>
          <a:xfrm>
            <a:off x="5772485" y="2392933"/>
            <a:ext cx="8215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6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 Walks</a:t>
            </a:r>
            <a:endParaRPr lang="en-US" sz="800" dirty="0"/>
          </a:p>
        </p:txBody>
      </p:sp>
      <p:sp>
        <p:nvSpPr>
          <p:cNvPr id="79" name="Text 73"/>
          <p:cNvSpPr/>
          <p:nvPr/>
        </p:nvSpPr>
        <p:spPr>
          <a:xfrm>
            <a:off x="6490432" y="2391147"/>
            <a:ext cx="67308" cy="121444"/>
          </a:xfrm>
          <a:prstGeom prst="roundRect">
            <a:avLst>
              <a:gd name="adj" fmla="val 28303"/>
            </a:avLst>
          </a:prstGeom>
          <a:solidFill>
            <a:srgbClr val="0F1E36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4004" y="2394719"/>
            <a:ext cx="60164" cy="114300"/>
          </a:xfrm>
          <a:prstGeom prst="rect">
            <a:avLst/>
          </a:prstGeom>
        </p:spPr>
      </p:pic>
      <p:sp>
        <p:nvSpPr>
          <p:cNvPr id="81" name="Text 74"/>
          <p:cNvSpPr/>
          <p:nvPr/>
        </p:nvSpPr>
        <p:spPr>
          <a:xfrm>
            <a:off x="6507019" y="2387575"/>
            <a:ext cx="2971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17</a:t>
            </a:r>
            <a:endParaRPr lang="en-US" sz="800" dirty="0"/>
          </a:p>
        </p:txBody>
      </p:sp>
      <p:sp>
        <p:nvSpPr>
          <p:cNvPr id="82" name="Text 75"/>
          <p:cNvSpPr/>
          <p:nvPr/>
        </p:nvSpPr>
        <p:spPr>
          <a:xfrm>
            <a:off x="5772485" y="2600102"/>
            <a:ext cx="9398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6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5S Audit</a:t>
            </a:r>
            <a:endParaRPr lang="en-US" sz="800" dirty="0"/>
          </a:p>
        </p:txBody>
      </p:sp>
      <p:sp>
        <p:nvSpPr>
          <p:cNvPr id="83" name="Text 76"/>
          <p:cNvSpPr/>
          <p:nvPr/>
        </p:nvSpPr>
        <p:spPr>
          <a:xfrm>
            <a:off x="6490432" y="2598316"/>
            <a:ext cx="67308" cy="121444"/>
          </a:xfrm>
          <a:prstGeom prst="roundRect">
            <a:avLst>
              <a:gd name="adj" fmla="val 28303"/>
            </a:avLst>
          </a:prstGeom>
          <a:solidFill>
            <a:srgbClr val="0F1E36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4004" y="2601888"/>
            <a:ext cx="56592" cy="114300"/>
          </a:xfrm>
          <a:prstGeom prst="rect">
            <a:avLst/>
          </a:prstGeom>
        </p:spPr>
      </p:pic>
      <p:sp>
        <p:nvSpPr>
          <p:cNvPr id="85" name="Text 77"/>
          <p:cNvSpPr/>
          <p:nvPr/>
        </p:nvSpPr>
        <p:spPr>
          <a:xfrm>
            <a:off x="6507019" y="2594744"/>
            <a:ext cx="2971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</a:t>
            </a:r>
            <a:endParaRPr lang="en-US" sz="800" dirty="0"/>
          </a:p>
        </p:txBody>
      </p:sp>
      <p:sp>
        <p:nvSpPr>
          <p:cNvPr id="86" name="Text 78"/>
          <p:cNvSpPr/>
          <p:nvPr/>
        </p:nvSpPr>
        <p:spPr>
          <a:xfrm>
            <a:off x="5772485" y="2807271"/>
            <a:ext cx="8215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6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Kaizen Tree</a:t>
            </a:r>
            <a:endParaRPr lang="en-US" sz="800" dirty="0"/>
          </a:p>
        </p:txBody>
      </p:sp>
      <p:sp>
        <p:nvSpPr>
          <p:cNvPr id="87" name="Text 79"/>
          <p:cNvSpPr/>
          <p:nvPr/>
        </p:nvSpPr>
        <p:spPr>
          <a:xfrm>
            <a:off x="6490432" y="2805485"/>
            <a:ext cx="67308" cy="121444"/>
          </a:xfrm>
          <a:prstGeom prst="roundRect">
            <a:avLst>
              <a:gd name="adj" fmla="val 28303"/>
            </a:avLst>
          </a:prstGeom>
          <a:solidFill>
            <a:srgbClr val="0F1E36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4004" y="2809056"/>
            <a:ext cx="53020" cy="114300"/>
          </a:xfrm>
          <a:prstGeom prst="rect">
            <a:avLst/>
          </a:prstGeom>
        </p:spPr>
      </p:pic>
      <p:sp>
        <p:nvSpPr>
          <p:cNvPr id="89" name="Text 80"/>
          <p:cNvSpPr/>
          <p:nvPr/>
        </p:nvSpPr>
        <p:spPr>
          <a:xfrm>
            <a:off x="6507019" y="2801913"/>
            <a:ext cx="2971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</a:t>
            </a:r>
            <a:endParaRPr lang="en-US" sz="800" dirty="0"/>
          </a:p>
        </p:txBody>
      </p:sp>
      <p:sp>
        <p:nvSpPr>
          <p:cNvPr id="90" name="Text 81"/>
          <p:cNvSpPr/>
          <p:nvPr/>
        </p:nvSpPr>
        <p:spPr>
          <a:xfrm>
            <a:off x="5772485" y="3014439"/>
            <a:ext cx="8215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6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PPSR Review</a:t>
            </a:r>
            <a:endParaRPr lang="en-US" sz="800" dirty="0"/>
          </a:p>
        </p:txBody>
      </p:sp>
      <p:sp>
        <p:nvSpPr>
          <p:cNvPr id="91" name="Text 82"/>
          <p:cNvSpPr/>
          <p:nvPr/>
        </p:nvSpPr>
        <p:spPr>
          <a:xfrm>
            <a:off x="6490432" y="3012653"/>
            <a:ext cx="67308" cy="121444"/>
          </a:xfrm>
          <a:prstGeom prst="roundRect">
            <a:avLst>
              <a:gd name="adj" fmla="val 28303"/>
            </a:avLst>
          </a:prstGeom>
          <a:solidFill>
            <a:srgbClr val="0F1E36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2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4004" y="3016225"/>
            <a:ext cx="49560" cy="114300"/>
          </a:xfrm>
          <a:prstGeom prst="rect">
            <a:avLst/>
          </a:prstGeom>
        </p:spPr>
      </p:pic>
      <p:sp>
        <p:nvSpPr>
          <p:cNvPr id="93" name="Text 83"/>
          <p:cNvSpPr/>
          <p:nvPr/>
        </p:nvSpPr>
        <p:spPr>
          <a:xfrm>
            <a:off x="6507019" y="3009081"/>
            <a:ext cx="2971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800" dirty="0"/>
          </a:p>
        </p:txBody>
      </p:sp>
      <p:sp>
        <p:nvSpPr>
          <p:cNvPr id="94" name="Text 84"/>
          <p:cNvSpPr/>
          <p:nvPr/>
        </p:nvSpPr>
        <p:spPr>
          <a:xfrm>
            <a:off x="5772485" y="3221608"/>
            <a:ext cx="8215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6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NC</a:t>
            </a:r>
            <a:endParaRPr lang="en-US" sz="800" dirty="0"/>
          </a:p>
        </p:txBody>
      </p:sp>
      <p:sp>
        <p:nvSpPr>
          <p:cNvPr id="95" name="Text 85"/>
          <p:cNvSpPr/>
          <p:nvPr/>
        </p:nvSpPr>
        <p:spPr>
          <a:xfrm>
            <a:off x="6490432" y="3219822"/>
            <a:ext cx="67308" cy="121444"/>
          </a:xfrm>
          <a:prstGeom prst="roundRect">
            <a:avLst>
              <a:gd name="adj" fmla="val 28303"/>
            </a:avLst>
          </a:prstGeom>
          <a:solidFill>
            <a:srgbClr val="0F1E36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6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4004" y="3223394"/>
            <a:ext cx="45988" cy="114300"/>
          </a:xfrm>
          <a:prstGeom prst="rect">
            <a:avLst/>
          </a:prstGeom>
        </p:spPr>
      </p:pic>
      <p:sp>
        <p:nvSpPr>
          <p:cNvPr id="97" name="Text 86"/>
          <p:cNvSpPr/>
          <p:nvPr/>
        </p:nvSpPr>
        <p:spPr>
          <a:xfrm>
            <a:off x="6507019" y="3216250"/>
            <a:ext cx="2971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</a:t>
            </a:r>
            <a:endParaRPr lang="en-US" sz="800" dirty="0"/>
          </a:p>
        </p:txBody>
      </p:sp>
      <p:pic>
        <p:nvPicPr>
          <p:cNvPr id="98" name="Image 9" descr="preencoded.png"/>
          <p:cNvPicPr>
            <a:picLocks noChangeAspect="1"/>
          </p:cNvPicPr>
          <p:nvPr/>
        </p:nvPicPr>
        <p:blipFill>
          <a:blip r:embed="rId9">
            <a:alphaModFix amt="50000"/>
          </a:blip>
          <a:stretch>
            <a:fillRect/>
          </a:stretch>
        </p:blipFill>
        <p:spPr>
          <a:xfrm>
            <a:off x="5772485" y="3468067"/>
            <a:ext cx="198462" cy="7144"/>
          </a:xfrm>
          <a:prstGeom prst="rect">
            <a:avLst/>
          </a:prstGeom>
        </p:spPr>
      </p:pic>
      <p:sp>
        <p:nvSpPr>
          <p:cNvPr id="99" name="Text 87"/>
          <p:cNvSpPr/>
          <p:nvPr/>
        </p:nvSpPr>
        <p:spPr>
          <a:xfrm>
            <a:off x="6028097" y="3423419"/>
            <a:ext cx="7000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600" b="1" kern="0" spc="76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TOP 5 CUTOFF</a:t>
            </a:r>
            <a:endParaRPr lang="en-US" sz="600" dirty="0"/>
          </a:p>
        </p:txBody>
      </p:sp>
      <p:pic>
        <p:nvPicPr>
          <p:cNvPr id="100" name="Image 10" descr="preencoded.png"/>
          <p:cNvPicPr>
            <a:picLocks noChangeAspect="1"/>
          </p:cNvPicPr>
          <p:nvPr/>
        </p:nvPicPr>
        <p:blipFill>
          <a:blip r:embed="rId9">
            <a:alphaModFix amt="50000"/>
          </a:blip>
          <a:stretch>
            <a:fillRect/>
          </a:stretch>
        </p:blipFill>
        <p:spPr>
          <a:xfrm>
            <a:off x="6605736" y="3468067"/>
            <a:ext cx="198462" cy="7144"/>
          </a:xfrm>
          <a:prstGeom prst="rect">
            <a:avLst/>
          </a:prstGeom>
        </p:spPr>
      </p:pic>
      <p:sp>
        <p:nvSpPr>
          <p:cNvPr id="101" name="Text 88"/>
          <p:cNvSpPr/>
          <p:nvPr/>
        </p:nvSpPr>
        <p:spPr>
          <a:xfrm>
            <a:off x="5772485" y="3603799"/>
            <a:ext cx="8215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Visual Mgmt</a:t>
            </a:r>
            <a:endParaRPr lang="en-US" sz="800" dirty="0"/>
          </a:p>
        </p:txBody>
      </p:sp>
      <p:sp>
        <p:nvSpPr>
          <p:cNvPr id="102" name="Text 89"/>
          <p:cNvSpPr/>
          <p:nvPr/>
        </p:nvSpPr>
        <p:spPr>
          <a:xfrm>
            <a:off x="6490432" y="3602013"/>
            <a:ext cx="67308" cy="121444"/>
          </a:xfrm>
          <a:prstGeom prst="roundRect">
            <a:avLst>
              <a:gd name="adj" fmla="val 28303"/>
            </a:avLst>
          </a:prstGeom>
          <a:solidFill>
            <a:srgbClr val="0F1E36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3" name="Text 90"/>
          <p:cNvSpPr/>
          <p:nvPr/>
        </p:nvSpPr>
        <p:spPr>
          <a:xfrm>
            <a:off x="6494004" y="3605585"/>
            <a:ext cx="28240" cy="114300"/>
          </a:xfrm>
          <a:prstGeom prst="roundRect">
            <a:avLst>
              <a:gd name="adj" fmla="val 67458"/>
            </a:avLst>
          </a:prstGeom>
          <a:solidFill>
            <a:srgbClr val="60A5FA">
              <a:alpha val="8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4" name="Text 91"/>
          <p:cNvSpPr/>
          <p:nvPr/>
        </p:nvSpPr>
        <p:spPr>
          <a:xfrm>
            <a:off x="6507019" y="3598441"/>
            <a:ext cx="2971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800" dirty="0"/>
          </a:p>
        </p:txBody>
      </p:sp>
      <p:sp>
        <p:nvSpPr>
          <p:cNvPr id="105" name="Text 92"/>
          <p:cNvSpPr/>
          <p:nvPr/>
        </p:nvSpPr>
        <p:spPr>
          <a:xfrm>
            <a:off x="5772485" y="3810967"/>
            <a:ext cx="9398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TPM Check</a:t>
            </a:r>
            <a:endParaRPr lang="en-US" sz="800" dirty="0"/>
          </a:p>
        </p:txBody>
      </p:sp>
      <p:sp>
        <p:nvSpPr>
          <p:cNvPr id="106" name="Text 93"/>
          <p:cNvSpPr/>
          <p:nvPr/>
        </p:nvSpPr>
        <p:spPr>
          <a:xfrm>
            <a:off x="6490432" y="3809181"/>
            <a:ext cx="67308" cy="121444"/>
          </a:xfrm>
          <a:prstGeom prst="roundRect">
            <a:avLst>
              <a:gd name="adj" fmla="val 28303"/>
            </a:avLst>
          </a:prstGeom>
          <a:solidFill>
            <a:srgbClr val="0F1E36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7" name="Text 94"/>
          <p:cNvSpPr/>
          <p:nvPr/>
        </p:nvSpPr>
        <p:spPr>
          <a:xfrm>
            <a:off x="6494004" y="3812753"/>
            <a:ext cx="21208" cy="114300"/>
          </a:xfrm>
          <a:prstGeom prst="roundRect">
            <a:avLst>
              <a:gd name="adj" fmla="val 89825"/>
            </a:avLst>
          </a:prstGeom>
          <a:solidFill>
            <a:srgbClr val="60A5FA">
              <a:alpha val="8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8" name="Text 95"/>
          <p:cNvSpPr/>
          <p:nvPr/>
        </p:nvSpPr>
        <p:spPr>
          <a:xfrm>
            <a:off x="6507019" y="3805610"/>
            <a:ext cx="2971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800" dirty="0"/>
          </a:p>
        </p:txBody>
      </p:sp>
      <p:sp>
        <p:nvSpPr>
          <p:cNvPr id="109" name="Text 96"/>
          <p:cNvSpPr/>
          <p:nvPr/>
        </p:nvSpPr>
        <p:spPr>
          <a:xfrm>
            <a:off x="5772485" y="4018136"/>
            <a:ext cx="8215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OEE Review</a:t>
            </a:r>
            <a:endParaRPr lang="en-US" sz="800" dirty="0"/>
          </a:p>
        </p:txBody>
      </p:sp>
      <p:sp>
        <p:nvSpPr>
          <p:cNvPr id="110" name="Text 97"/>
          <p:cNvSpPr/>
          <p:nvPr/>
        </p:nvSpPr>
        <p:spPr>
          <a:xfrm>
            <a:off x="6490432" y="4016350"/>
            <a:ext cx="67308" cy="121444"/>
          </a:xfrm>
          <a:prstGeom prst="roundRect">
            <a:avLst>
              <a:gd name="adj" fmla="val 28303"/>
            </a:avLst>
          </a:prstGeom>
          <a:solidFill>
            <a:srgbClr val="0F1E36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1" name="Text 98"/>
          <p:cNvSpPr/>
          <p:nvPr/>
        </p:nvSpPr>
        <p:spPr>
          <a:xfrm>
            <a:off x="6494004" y="4019922"/>
            <a:ext cx="17636" cy="114300"/>
          </a:xfrm>
          <a:prstGeom prst="roundRect">
            <a:avLst>
              <a:gd name="adj" fmla="val 108018"/>
            </a:avLst>
          </a:prstGeom>
          <a:solidFill>
            <a:srgbClr val="60A5FA">
              <a:alpha val="8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2" name="Text 99"/>
          <p:cNvSpPr/>
          <p:nvPr/>
        </p:nvSpPr>
        <p:spPr>
          <a:xfrm>
            <a:off x="6507019" y="4012778"/>
            <a:ext cx="2971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113" name="Text 100"/>
          <p:cNvSpPr/>
          <p:nvPr/>
        </p:nvSpPr>
        <p:spPr>
          <a:xfrm>
            <a:off x="7057802" y="1401738"/>
            <a:ext cx="1625426" cy="2993231"/>
          </a:xfrm>
          <a:prstGeom prst="roundRect">
            <a:avLst>
              <a:gd name="adj" fmla="val 7032"/>
            </a:avLst>
          </a:prstGeom>
          <a:solidFill>
            <a:srgbClr val="142844">
              <a:alpha val="60000"/>
            </a:srgbClr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4" name="Text 101"/>
          <p:cNvSpPr/>
          <p:nvPr/>
        </p:nvSpPr>
        <p:spPr>
          <a:xfrm>
            <a:off x="7204249" y="1537469"/>
            <a:ext cx="271463" cy="271463"/>
          </a:xfrm>
          <a:prstGeom prst="ellipse">
            <a:avLst/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5" name="Text 102"/>
          <p:cNvSpPr/>
          <p:nvPr/>
        </p:nvSpPr>
        <p:spPr>
          <a:xfrm>
            <a:off x="7204249" y="1537469"/>
            <a:ext cx="307181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434"/>
              </a:lnSpc>
              <a:buNone/>
            </a:pPr>
            <a:r>
              <a:rPr lang="en-US" sz="956" b="1" kern="0" spc="-19" dirty="0">
                <a:solidFill>
                  <a:srgbClr val="0A162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956" dirty="0"/>
          </a:p>
        </p:txBody>
      </p:sp>
      <p:sp>
        <p:nvSpPr>
          <p:cNvPr id="116" name="Text 103"/>
          <p:cNvSpPr/>
          <p:nvPr/>
        </p:nvSpPr>
        <p:spPr>
          <a:xfrm>
            <a:off x="7547149" y="1573188"/>
            <a:ext cx="57339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800" b="1" kern="0" spc="79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TOP 5 SELECTED</a:t>
            </a:r>
            <a:endParaRPr lang="en-US" sz="800" dirty="0"/>
          </a:p>
        </p:txBody>
      </p:sp>
      <p:sp>
        <p:nvSpPr>
          <p:cNvPr id="117" name="Text 104"/>
          <p:cNvSpPr/>
          <p:nvPr/>
        </p:nvSpPr>
        <p:spPr>
          <a:xfrm>
            <a:off x="8156265" y="1506808"/>
            <a:ext cx="533995" cy="332784"/>
          </a:xfrm>
          <a:prstGeom prst="roundRect">
            <a:avLst>
              <a:gd name="adj" fmla="val 11449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8" name="Text 105"/>
          <p:cNvSpPr/>
          <p:nvPr/>
        </p:nvSpPr>
        <p:spPr>
          <a:xfrm>
            <a:off x="8002786" y="1519610"/>
            <a:ext cx="533995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WEEKLY CADENCE</a:t>
            </a:r>
            <a:endParaRPr lang="en-US" sz="800" dirty="0"/>
          </a:p>
        </p:txBody>
      </p:sp>
      <p:sp>
        <p:nvSpPr>
          <p:cNvPr id="119" name="Text 106"/>
          <p:cNvSpPr/>
          <p:nvPr/>
        </p:nvSpPr>
        <p:spPr>
          <a:xfrm>
            <a:off x="7204249" y="1912516"/>
            <a:ext cx="141248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kern="0" spc="7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Final ranking — Monday to Friday</a:t>
            </a:r>
            <a:endParaRPr lang="en-US" sz="675" dirty="0"/>
          </a:p>
        </p:txBody>
      </p:sp>
      <p:pic>
        <p:nvPicPr>
          <p:cNvPr id="120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04249" y="2112541"/>
            <a:ext cx="1332533" cy="400050"/>
          </a:xfrm>
          <a:prstGeom prst="rect">
            <a:avLst/>
          </a:prstGeom>
        </p:spPr>
      </p:pic>
      <p:sp>
        <p:nvSpPr>
          <p:cNvPr id="121" name="Text 107"/>
          <p:cNvSpPr/>
          <p:nvPr/>
        </p:nvSpPr>
        <p:spPr>
          <a:xfrm>
            <a:off x="7207821" y="2116113"/>
            <a:ext cx="1325389" cy="392906"/>
          </a:xfrm>
          <a:prstGeom prst="roundRect">
            <a:avLst>
              <a:gd name="adj" fmla="val 19394"/>
            </a:avLst>
          </a:prstGeom>
          <a:noFill/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2" name="Text 108"/>
          <p:cNvSpPr/>
          <p:nvPr/>
        </p:nvSpPr>
        <p:spPr>
          <a:xfrm>
            <a:off x="7211392" y="2119685"/>
            <a:ext cx="257175" cy="385763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3" name="Text 109"/>
          <p:cNvSpPr/>
          <p:nvPr/>
        </p:nvSpPr>
        <p:spPr>
          <a:xfrm>
            <a:off x="7211392" y="2119685"/>
            <a:ext cx="25717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kern="0" spc="3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</a:t>
            </a:r>
            <a:endParaRPr lang="en-US" sz="800" dirty="0"/>
          </a:p>
        </p:txBody>
      </p:sp>
      <p:sp>
        <p:nvSpPr>
          <p:cNvPr id="124" name="Text 110"/>
          <p:cNvSpPr/>
          <p:nvPr/>
        </p:nvSpPr>
        <p:spPr>
          <a:xfrm>
            <a:off x="7554292" y="2195810"/>
            <a:ext cx="478774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44" b="1" kern="0" spc="-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</a:t>
            </a:r>
            <a:endParaRPr lang="en-US" sz="844" dirty="0"/>
          </a:p>
        </p:txBody>
      </p:sp>
      <p:sp>
        <p:nvSpPr>
          <p:cNvPr id="125" name="Text 111"/>
          <p:cNvSpPr/>
          <p:nvPr/>
        </p:nvSpPr>
        <p:spPr>
          <a:xfrm>
            <a:off x="7554292" y="2335113"/>
            <a:ext cx="396485" cy="131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42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Highest priority — zero-harm baseline</a:t>
            </a:r>
            <a:endParaRPr lang="en-US" sz="619" dirty="0"/>
          </a:p>
        </p:txBody>
      </p:sp>
      <p:sp>
        <p:nvSpPr>
          <p:cNvPr id="126" name="Text 112"/>
          <p:cNvSpPr/>
          <p:nvPr/>
        </p:nvSpPr>
        <p:spPr>
          <a:xfrm>
            <a:off x="7996294" y="2206553"/>
            <a:ext cx="479672" cy="212027"/>
          </a:xfrm>
          <a:prstGeom prst="roundRect">
            <a:avLst>
              <a:gd name="adj" fmla="val 17969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7" name="Text 113"/>
          <p:cNvSpPr/>
          <p:nvPr/>
        </p:nvSpPr>
        <p:spPr>
          <a:xfrm>
            <a:off x="7971381" y="2217911"/>
            <a:ext cx="52949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kern="0" spc="12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17 votes</a:t>
            </a:r>
            <a:endParaRPr lang="en-US" sz="800" dirty="0"/>
          </a:p>
        </p:txBody>
      </p:sp>
      <p:pic>
        <p:nvPicPr>
          <p:cNvPr id="128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04249" y="2555453"/>
            <a:ext cx="1332533" cy="400050"/>
          </a:xfrm>
          <a:prstGeom prst="rect">
            <a:avLst/>
          </a:prstGeom>
        </p:spPr>
      </p:pic>
      <p:sp>
        <p:nvSpPr>
          <p:cNvPr id="129" name="Text 114"/>
          <p:cNvSpPr/>
          <p:nvPr/>
        </p:nvSpPr>
        <p:spPr>
          <a:xfrm>
            <a:off x="7207821" y="2559025"/>
            <a:ext cx="1325389" cy="392906"/>
          </a:xfrm>
          <a:prstGeom prst="roundRect">
            <a:avLst>
              <a:gd name="adj" fmla="val 19394"/>
            </a:avLst>
          </a:prstGeom>
          <a:noFill/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0" name="Text 115"/>
          <p:cNvSpPr/>
          <p:nvPr/>
        </p:nvSpPr>
        <p:spPr>
          <a:xfrm>
            <a:off x="7211392" y="2562597"/>
            <a:ext cx="257175" cy="385763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1" name="Text 116"/>
          <p:cNvSpPr/>
          <p:nvPr/>
        </p:nvSpPr>
        <p:spPr>
          <a:xfrm>
            <a:off x="7211392" y="2562597"/>
            <a:ext cx="25717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kern="0" spc="3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TUE</a:t>
            </a:r>
            <a:endParaRPr lang="en-US" sz="800" dirty="0"/>
          </a:p>
        </p:txBody>
      </p:sp>
      <p:sp>
        <p:nvSpPr>
          <p:cNvPr id="132" name="Text 117"/>
          <p:cNvSpPr/>
          <p:nvPr/>
        </p:nvSpPr>
        <p:spPr>
          <a:xfrm>
            <a:off x="7554292" y="2638723"/>
            <a:ext cx="590987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44" b="1" kern="0" spc="-4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5S</a:t>
            </a:r>
            <a:endParaRPr lang="en-US" sz="844" dirty="0"/>
          </a:p>
        </p:txBody>
      </p:sp>
      <p:sp>
        <p:nvSpPr>
          <p:cNvPr id="133" name="Text 118"/>
          <p:cNvSpPr/>
          <p:nvPr/>
        </p:nvSpPr>
        <p:spPr>
          <a:xfrm>
            <a:off x="7554292" y="2778026"/>
            <a:ext cx="374042" cy="131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42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Foundation for visual workplace</a:t>
            </a:r>
            <a:endParaRPr lang="en-US" sz="619" dirty="0"/>
          </a:p>
        </p:txBody>
      </p:sp>
      <p:sp>
        <p:nvSpPr>
          <p:cNvPr id="134" name="Text 119"/>
          <p:cNvSpPr/>
          <p:nvPr/>
        </p:nvSpPr>
        <p:spPr>
          <a:xfrm>
            <a:off x="7996294" y="2649465"/>
            <a:ext cx="479672" cy="212027"/>
          </a:xfrm>
          <a:prstGeom prst="roundRect">
            <a:avLst>
              <a:gd name="adj" fmla="val 17969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5" name="Text 120"/>
          <p:cNvSpPr/>
          <p:nvPr/>
        </p:nvSpPr>
        <p:spPr>
          <a:xfrm>
            <a:off x="7971381" y="2660824"/>
            <a:ext cx="52949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kern="0" spc="12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 votes</a:t>
            </a:r>
            <a:endParaRPr lang="en-US" sz="800" dirty="0"/>
          </a:p>
        </p:txBody>
      </p:sp>
      <p:pic>
        <p:nvPicPr>
          <p:cNvPr id="136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04249" y="2998366"/>
            <a:ext cx="1332533" cy="400050"/>
          </a:xfrm>
          <a:prstGeom prst="rect">
            <a:avLst/>
          </a:prstGeom>
        </p:spPr>
      </p:pic>
      <p:sp>
        <p:nvSpPr>
          <p:cNvPr id="137" name="Text 121"/>
          <p:cNvSpPr/>
          <p:nvPr/>
        </p:nvSpPr>
        <p:spPr>
          <a:xfrm>
            <a:off x="7207821" y="3001938"/>
            <a:ext cx="1325389" cy="392906"/>
          </a:xfrm>
          <a:prstGeom prst="roundRect">
            <a:avLst>
              <a:gd name="adj" fmla="val 19394"/>
            </a:avLst>
          </a:prstGeom>
          <a:noFill/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8" name="Text 122"/>
          <p:cNvSpPr/>
          <p:nvPr/>
        </p:nvSpPr>
        <p:spPr>
          <a:xfrm>
            <a:off x="7211392" y="3005510"/>
            <a:ext cx="257175" cy="385763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9" name="Text 123"/>
          <p:cNvSpPr/>
          <p:nvPr/>
        </p:nvSpPr>
        <p:spPr>
          <a:xfrm>
            <a:off x="7211392" y="3005510"/>
            <a:ext cx="25717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kern="0" spc="3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WED</a:t>
            </a:r>
            <a:endParaRPr lang="en-US" sz="800" dirty="0"/>
          </a:p>
        </p:txBody>
      </p:sp>
      <p:sp>
        <p:nvSpPr>
          <p:cNvPr id="140" name="Text 124"/>
          <p:cNvSpPr/>
          <p:nvPr/>
        </p:nvSpPr>
        <p:spPr>
          <a:xfrm>
            <a:off x="7538476" y="3081635"/>
            <a:ext cx="510407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44" b="1" kern="0" spc="-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</a:t>
            </a:r>
            <a:endParaRPr lang="en-US" sz="844" dirty="0"/>
          </a:p>
        </p:txBody>
      </p:sp>
      <p:sp>
        <p:nvSpPr>
          <p:cNvPr id="141" name="Text 125"/>
          <p:cNvSpPr/>
          <p:nvPr/>
        </p:nvSpPr>
        <p:spPr>
          <a:xfrm>
            <a:off x="7554292" y="3220938"/>
            <a:ext cx="374042" cy="131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42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Direct link to customer incidents</a:t>
            </a:r>
            <a:endParaRPr lang="en-US" sz="619" dirty="0"/>
          </a:p>
        </p:txBody>
      </p:sp>
      <p:sp>
        <p:nvSpPr>
          <p:cNvPr id="142" name="Text 126"/>
          <p:cNvSpPr/>
          <p:nvPr/>
        </p:nvSpPr>
        <p:spPr>
          <a:xfrm>
            <a:off x="7996294" y="3092378"/>
            <a:ext cx="479672" cy="212027"/>
          </a:xfrm>
          <a:prstGeom prst="roundRect">
            <a:avLst>
              <a:gd name="adj" fmla="val 17969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3" name="Text 127"/>
          <p:cNvSpPr/>
          <p:nvPr/>
        </p:nvSpPr>
        <p:spPr>
          <a:xfrm>
            <a:off x="7971381" y="3103736"/>
            <a:ext cx="52949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kern="0" spc="12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 votes</a:t>
            </a:r>
            <a:endParaRPr lang="en-US" sz="800" dirty="0"/>
          </a:p>
        </p:txBody>
      </p:sp>
      <p:pic>
        <p:nvPicPr>
          <p:cNvPr id="144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04249" y="3441278"/>
            <a:ext cx="1332533" cy="400050"/>
          </a:xfrm>
          <a:prstGeom prst="rect">
            <a:avLst/>
          </a:prstGeom>
        </p:spPr>
      </p:pic>
      <p:sp>
        <p:nvSpPr>
          <p:cNvPr id="145" name="Text 128"/>
          <p:cNvSpPr/>
          <p:nvPr/>
        </p:nvSpPr>
        <p:spPr>
          <a:xfrm>
            <a:off x="7207821" y="3444850"/>
            <a:ext cx="1325389" cy="392906"/>
          </a:xfrm>
          <a:prstGeom prst="roundRect">
            <a:avLst>
              <a:gd name="adj" fmla="val 19394"/>
            </a:avLst>
          </a:prstGeom>
          <a:noFill/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6" name="Text 129"/>
          <p:cNvSpPr/>
          <p:nvPr/>
        </p:nvSpPr>
        <p:spPr>
          <a:xfrm>
            <a:off x="7211392" y="3448422"/>
            <a:ext cx="257175" cy="385763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7" name="Text 130"/>
          <p:cNvSpPr/>
          <p:nvPr/>
        </p:nvSpPr>
        <p:spPr>
          <a:xfrm>
            <a:off x="7211392" y="3448422"/>
            <a:ext cx="25717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kern="0" spc="3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THU</a:t>
            </a:r>
            <a:endParaRPr lang="en-US" sz="800" dirty="0"/>
          </a:p>
        </p:txBody>
      </p:sp>
      <p:sp>
        <p:nvSpPr>
          <p:cNvPr id="148" name="Text 131"/>
          <p:cNvSpPr/>
          <p:nvPr/>
        </p:nvSpPr>
        <p:spPr>
          <a:xfrm>
            <a:off x="7554292" y="3524548"/>
            <a:ext cx="590987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44" b="1" kern="0" spc="-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PPSR</a:t>
            </a:r>
            <a:endParaRPr lang="en-US" sz="844" dirty="0"/>
          </a:p>
        </p:txBody>
      </p:sp>
      <p:sp>
        <p:nvSpPr>
          <p:cNvPr id="149" name="Text 132"/>
          <p:cNvSpPr/>
          <p:nvPr/>
        </p:nvSpPr>
        <p:spPr>
          <a:xfrm>
            <a:off x="7554292" y="3663851"/>
            <a:ext cx="374042" cy="131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42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Builds problem-solving muscle</a:t>
            </a:r>
            <a:endParaRPr lang="en-US" sz="619" dirty="0"/>
          </a:p>
        </p:txBody>
      </p:sp>
      <p:sp>
        <p:nvSpPr>
          <p:cNvPr id="150" name="Text 133"/>
          <p:cNvSpPr/>
          <p:nvPr/>
        </p:nvSpPr>
        <p:spPr>
          <a:xfrm>
            <a:off x="7996294" y="3535290"/>
            <a:ext cx="479672" cy="212027"/>
          </a:xfrm>
          <a:prstGeom prst="roundRect">
            <a:avLst>
              <a:gd name="adj" fmla="val 17969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1" name="Text 134"/>
          <p:cNvSpPr/>
          <p:nvPr/>
        </p:nvSpPr>
        <p:spPr>
          <a:xfrm>
            <a:off x="7971381" y="3546649"/>
            <a:ext cx="52949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kern="0" spc="12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 votes</a:t>
            </a:r>
            <a:endParaRPr lang="en-US" sz="800" dirty="0"/>
          </a:p>
        </p:txBody>
      </p:sp>
      <p:pic>
        <p:nvPicPr>
          <p:cNvPr id="152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04249" y="3884191"/>
            <a:ext cx="1332533" cy="400050"/>
          </a:xfrm>
          <a:prstGeom prst="rect">
            <a:avLst/>
          </a:prstGeom>
        </p:spPr>
      </p:pic>
      <p:sp>
        <p:nvSpPr>
          <p:cNvPr id="153" name="Text 135"/>
          <p:cNvSpPr/>
          <p:nvPr/>
        </p:nvSpPr>
        <p:spPr>
          <a:xfrm>
            <a:off x="7207821" y="3887763"/>
            <a:ext cx="1325389" cy="392906"/>
          </a:xfrm>
          <a:prstGeom prst="roundRect">
            <a:avLst>
              <a:gd name="adj" fmla="val 19394"/>
            </a:avLst>
          </a:prstGeom>
          <a:noFill/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4" name="Text 136"/>
          <p:cNvSpPr/>
          <p:nvPr/>
        </p:nvSpPr>
        <p:spPr>
          <a:xfrm>
            <a:off x="7211392" y="3891335"/>
            <a:ext cx="257175" cy="385763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5" name="Text 137"/>
          <p:cNvSpPr/>
          <p:nvPr/>
        </p:nvSpPr>
        <p:spPr>
          <a:xfrm>
            <a:off x="7211392" y="3891335"/>
            <a:ext cx="25717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kern="0" spc="3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FRI</a:t>
            </a:r>
            <a:endParaRPr lang="en-US" sz="800" dirty="0"/>
          </a:p>
        </p:txBody>
      </p:sp>
      <p:sp>
        <p:nvSpPr>
          <p:cNvPr id="156" name="Text 138"/>
          <p:cNvSpPr/>
          <p:nvPr/>
        </p:nvSpPr>
        <p:spPr>
          <a:xfrm>
            <a:off x="7554292" y="3967460"/>
            <a:ext cx="478774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44" b="1" kern="0" spc="-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Kaizen</a:t>
            </a:r>
            <a:endParaRPr lang="en-US" sz="844" dirty="0"/>
          </a:p>
        </p:txBody>
      </p:sp>
      <p:sp>
        <p:nvSpPr>
          <p:cNvPr id="157" name="Text 139"/>
          <p:cNvSpPr/>
          <p:nvPr/>
        </p:nvSpPr>
        <p:spPr>
          <a:xfrm>
            <a:off x="7554292" y="4106763"/>
            <a:ext cx="374042" cy="131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42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Closes the improvement loop</a:t>
            </a:r>
            <a:endParaRPr lang="en-US" sz="619" dirty="0"/>
          </a:p>
        </p:txBody>
      </p:sp>
      <p:sp>
        <p:nvSpPr>
          <p:cNvPr id="158" name="Text 140"/>
          <p:cNvSpPr/>
          <p:nvPr/>
        </p:nvSpPr>
        <p:spPr>
          <a:xfrm>
            <a:off x="7996294" y="3978203"/>
            <a:ext cx="479672" cy="212027"/>
          </a:xfrm>
          <a:prstGeom prst="roundRect">
            <a:avLst>
              <a:gd name="adj" fmla="val 17969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9" name="Text 141"/>
          <p:cNvSpPr/>
          <p:nvPr/>
        </p:nvSpPr>
        <p:spPr>
          <a:xfrm>
            <a:off x="7971381" y="3989561"/>
            <a:ext cx="52949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kern="0" spc="12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 votes</a:t>
            </a:r>
            <a:endParaRPr lang="en-US" sz="800" dirty="0"/>
          </a:p>
        </p:txBody>
      </p:sp>
      <p:pic>
        <p:nvPicPr>
          <p:cNvPr id="160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4455691"/>
            <a:ext cx="8229600" cy="357188"/>
          </a:xfrm>
          <a:prstGeom prst="rect">
            <a:avLst/>
          </a:prstGeom>
        </p:spPr>
      </p:pic>
      <p:sp>
        <p:nvSpPr>
          <p:cNvPr id="161" name="Text 142"/>
          <p:cNvSpPr/>
          <p:nvPr/>
        </p:nvSpPr>
        <p:spPr>
          <a:xfrm>
            <a:off x="460772" y="4459263"/>
            <a:ext cx="8222456" cy="350044"/>
          </a:xfrm>
          <a:prstGeom prst="roundRect">
            <a:avLst>
              <a:gd name="adj" fmla="val 32653"/>
            </a:avLst>
          </a:prstGeom>
          <a:noFill/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2" name="Text 143"/>
          <p:cNvSpPr/>
          <p:nvPr/>
        </p:nvSpPr>
        <p:spPr>
          <a:xfrm>
            <a:off x="592931" y="4512841"/>
            <a:ext cx="141233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68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PARTICIPANTS</a:t>
            </a:r>
            <a:endParaRPr lang="en-US" sz="800" dirty="0"/>
          </a:p>
        </p:txBody>
      </p:sp>
      <p:sp>
        <p:nvSpPr>
          <p:cNvPr id="163" name="Text 144"/>
          <p:cNvSpPr/>
          <p:nvPr/>
        </p:nvSpPr>
        <p:spPr>
          <a:xfrm>
            <a:off x="592931" y="4627141"/>
            <a:ext cx="121406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kern="0" spc="7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 cross-functional members</a:t>
            </a:r>
            <a:endParaRPr lang="en-US" sz="675" dirty="0"/>
          </a:p>
        </p:txBody>
      </p:sp>
      <p:pic>
        <p:nvPicPr>
          <p:cNvPr id="164" name="Image 1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59942" y="4541416"/>
            <a:ext cx="7144" cy="185738"/>
          </a:xfrm>
          <a:prstGeom prst="rect">
            <a:avLst/>
          </a:prstGeom>
        </p:spPr>
      </p:pic>
      <p:sp>
        <p:nvSpPr>
          <p:cNvPr id="165" name="Text 145"/>
          <p:cNvSpPr/>
          <p:nvPr/>
        </p:nvSpPr>
        <p:spPr>
          <a:xfrm>
            <a:off x="2009961" y="4512841"/>
            <a:ext cx="195879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68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METHOD</a:t>
            </a:r>
            <a:endParaRPr lang="en-US" sz="800" dirty="0"/>
          </a:p>
        </p:txBody>
      </p:sp>
      <p:sp>
        <p:nvSpPr>
          <p:cNvPr id="166" name="Text 146"/>
          <p:cNvSpPr/>
          <p:nvPr/>
        </p:nvSpPr>
        <p:spPr>
          <a:xfrm>
            <a:off x="2009961" y="4627141"/>
            <a:ext cx="155052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kern="0" spc="7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Brainstorm + Multi-vote (5 dots each)</a:t>
            </a:r>
            <a:endParaRPr lang="en-US" sz="675" dirty="0"/>
          </a:p>
        </p:txBody>
      </p:sp>
      <p:pic>
        <p:nvPicPr>
          <p:cNvPr id="167" name="Image 1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88507" y="4541416"/>
            <a:ext cx="7144" cy="185738"/>
          </a:xfrm>
          <a:prstGeom prst="rect">
            <a:avLst/>
          </a:prstGeom>
        </p:spPr>
      </p:pic>
      <p:sp>
        <p:nvSpPr>
          <p:cNvPr id="168" name="Text 147"/>
          <p:cNvSpPr/>
          <p:nvPr/>
        </p:nvSpPr>
        <p:spPr>
          <a:xfrm>
            <a:off x="3738525" y="4512841"/>
            <a:ext cx="200082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68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CRITERIA</a:t>
            </a:r>
            <a:endParaRPr lang="en-US" sz="800" dirty="0"/>
          </a:p>
        </p:txBody>
      </p:sp>
      <p:sp>
        <p:nvSpPr>
          <p:cNvPr id="169" name="Text 148"/>
          <p:cNvSpPr/>
          <p:nvPr/>
        </p:nvSpPr>
        <p:spPr>
          <a:xfrm>
            <a:off x="3738525" y="4627141"/>
            <a:ext cx="158379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kern="0" spc="7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SQDCPM alignment + impact potential</a:t>
            </a:r>
            <a:endParaRPr lang="en-US" sz="675" dirty="0"/>
          </a:p>
        </p:txBody>
      </p:sp>
      <p:sp>
        <p:nvSpPr>
          <p:cNvPr id="170" name="Text 149"/>
          <p:cNvSpPr/>
          <p:nvPr/>
        </p:nvSpPr>
        <p:spPr>
          <a:xfrm>
            <a:off x="3103625" y="281262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688" dirty="0"/>
          </a:p>
        </p:txBody>
      </p:sp>
      <p:sp>
        <p:nvSpPr>
          <p:cNvPr id="171" name="Text 150"/>
          <p:cNvSpPr/>
          <p:nvPr/>
        </p:nvSpPr>
        <p:spPr>
          <a:xfrm>
            <a:off x="5778289" y="281262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688" dirty="0"/>
          </a:p>
        </p:txBody>
      </p:sp>
      <p:sp>
        <p:nvSpPr>
          <p:cNvPr id="172" name="Text 151"/>
          <p:cNvSpPr/>
          <p:nvPr/>
        </p:nvSpPr>
        <p:spPr>
          <a:xfrm>
            <a:off x="457200" y="4868466"/>
            <a:ext cx="785767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METHOD · THEME SELECTION</a:t>
            </a:r>
            <a:endParaRPr lang="en-US" sz="800" dirty="0"/>
          </a:p>
        </p:txBody>
      </p:sp>
      <p:sp>
        <p:nvSpPr>
          <p:cNvPr id="173" name="Text 152"/>
          <p:cNvSpPr/>
          <p:nvPr/>
        </p:nvSpPr>
        <p:spPr>
          <a:xfrm>
            <a:off x="8329166" y="4868466"/>
            <a:ext cx="52787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93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20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108721" y="-214312"/>
            <a:ext cx="7035279" cy="1388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25"/>
              </a:lnSpc>
              <a:buNone/>
            </a:pPr>
            <a:r>
              <a:rPr lang="en-US" sz="10125" b="1" kern="0" spc="-405" dirty="0">
                <a:solidFill>
                  <a:srgbClr val="3B82F6">
                    <a:alpha val="4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CADENCE</a:t>
            </a:r>
            <a:endParaRPr lang="en-US" sz="10125" dirty="0"/>
          </a:p>
        </p:txBody>
      </p:sp>
      <p:sp>
        <p:nvSpPr>
          <p:cNvPr id="4" name="Text 2"/>
          <p:cNvSpPr/>
          <p:nvPr/>
        </p:nvSpPr>
        <p:spPr>
          <a:xfrm>
            <a:off x="460772" y="289322"/>
            <a:ext cx="2349624" cy="182166"/>
          </a:xfrm>
          <a:prstGeom prst="roundRect">
            <a:avLst>
              <a:gd name="adj" fmla="val 20915"/>
            </a:avLst>
          </a:prstGeom>
          <a:solidFill>
            <a:srgbClr val="3B82F6">
              <a:alpha val="16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4369" y="328613"/>
            <a:ext cx="2071018" cy="139654"/>
          </a:xfrm>
          <a:prstGeom prst="rect">
            <a:avLst/>
          </a:prstGeom>
          <a:noFill/>
          <a:ln/>
        </p:spPr>
        <p:txBody>
          <a:bodyPr wrap="square" lIns="71438" tIns="28575" rIns="71438" bIns="28575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SFM AGENDA · AWARENESS · COACHING · TRAINING</a:t>
            </a:r>
            <a:endParaRPr lang="en-US" sz="619" dirty="0"/>
          </a:p>
        </p:txBody>
      </p:sp>
      <p:sp>
        <p:nvSpPr>
          <p:cNvPr id="6" name="Text 4"/>
          <p:cNvSpPr/>
          <p:nvPr/>
        </p:nvSpPr>
        <p:spPr>
          <a:xfrm>
            <a:off x="535781" y="33754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844" dirty="0"/>
          </a:p>
        </p:txBody>
      </p:sp>
      <p:sp>
        <p:nvSpPr>
          <p:cNvPr id="7" name="Text 5"/>
          <p:cNvSpPr/>
          <p:nvPr/>
        </p:nvSpPr>
        <p:spPr>
          <a:xfrm>
            <a:off x="457200" y="575072"/>
            <a:ext cx="8636000" cy="311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9"/>
              </a:lnSpc>
              <a:buNone/>
            </a:pPr>
            <a:r>
              <a:rPr lang="en-US" sz="2025" b="1" kern="0" spc="-2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repeatable weekly cadence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457200" y="913619"/>
            <a:ext cx="6429375" cy="357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weekday carries a fixed theme — leaders walk the floor, verify standards, coach teams, and close the loop with recognition.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0772" y="1491369"/>
            <a:ext cx="1570174" cy="2921794"/>
          </a:xfrm>
          <a:prstGeom prst="roundRect">
            <a:avLst>
              <a:gd name="adj" fmla="val 6066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4344" y="1494941"/>
            <a:ext cx="1563030" cy="314325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64344" y="1494941"/>
            <a:ext cx="1563030" cy="2868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519"/>
              </a:lnSpc>
              <a:buNone/>
            </a:pPr>
            <a:r>
              <a:rPr lang="en-US" sz="1013" b="1" kern="0" spc="5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MONDAY</a:t>
            </a:r>
            <a:endParaRPr lang="en-US" sz="1013" dirty="0"/>
          </a:p>
        </p:txBody>
      </p:sp>
      <p:sp>
        <p:nvSpPr>
          <p:cNvPr id="12" name="Text 10"/>
          <p:cNvSpPr/>
          <p:nvPr/>
        </p:nvSpPr>
        <p:spPr>
          <a:xfrm>
            <a:off x="547216" y="1898563"/>
            <a:ext cx="462794" cy="200025"/>
          </a:xfrm>
          <a:prstGeom prst="roundRect">
            <a:avLst>
              <a:gd name="adj" fmla="val 19048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FD23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37841" y="1909279"/>
            <a:ext cx="48154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kern="0" spc="68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31503" y="2173598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50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496206" y="2459348"/>
            <a:ext cx="149930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84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 walks &amp; awareness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64356" y="2641513"/>
            <a:ext cx="1363005" cy="7144"/>
          </a:xfrm>
          <a:prstGeom prst="rect">
            <a:avLst/>
          </a:prstGeom>
          <a:solidFill>
            <a:srgbClr val="60A5FA">
              <a:alpha val="14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64356" y="2720094"/>
            <a:ext cx="1363005" cy="1172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PPE, assembly points, emergency contacts</a:t>
            </a:r>
            <a:endParaRPr lang="en-US" sz="800" dirty="0"/>
          </a:p>
          <a:p>
            <a:pPr marL="0" indent="0" algn="l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ESD, oil/coolant spills, gangway clearance</a:t>
            </a:r>
            <a:endParaRPr lang="en-US" sz="800" dirty="0"/>
          </a:p>
          <a:p>
            <a:pPr marL="0" indent="0" algn="l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Electrical &amp; fire-extinguisher access</a:t>
            </a:r>
            <a:endParaRPr lang="en-US" sz="800" dirty="0"/>
          </a:p>
          <a:p>
            <a:pPr marL="0" indent="0" algn="l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 Kaizens as applicable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123815" y="1491369"/>
            <a:ext cx="1570174" cy="2921794"/>
          </a:xfrm>
          <a:prstGeom prst="roundRect">
            <a:avLst>
              <a:gd name="adj" fmla="val 6066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127386" y="1494941"/>
            <a:ext cx="1563030" cy="314325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127386" y="1494941"/>
            <a:ext cx="1563030" cy="2868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519"/>
              </a:lnSpc>
              <a:buNone/>
            </a:pPr>
            <a:r>
              <a:rPr lang="en-US" sz="1013" b="1" kern="0" spc="5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TUESDAY</a:t>
            </a:r>
            <a:endParaRPr lang="en-US" sz="1013" dirty="0"/>
          </a:p>
        </p:txBody>
      </p:sp>
      <p:sp>
        <p:nvSpPr>
          <p:cNvPr id="21" name="Text 19"/>
          <p:cNvSpPr/>
          <p:nvPr/>
        </p:nvSpPr>
        <p:spPr>
          <a:xfrm>
            <a:off x="2216426" y="1898563"/>
            <a:ext cx="269075" cy="200025"/>
          </a:xfrm>
          <a:prstGeom prst="roundRect">
            <a:avLst>
              <a:gd name="adj" fmla="val 19048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FD23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227399" y="1909279"/>
            <a:ext cx="24712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kern="0" spc="68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794546" y="2173598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50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2127386" y="2459348"/>
            <a:ext cx="156303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84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5S assessment &amp; zones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227399" y="2641513"/>
            <a:ext cx="1363005" cy="7144"/>
          </a:xfrm>
          <a:prstGeom prst="rect">
            <a:avLst/>
          </a:prstGeom>
          <a:solidFill>
            <a:srgbClr val="60A5FA">
              <a:alpha val="14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227399" y="2720094"/>
            <a:ext cx="1363005" cy="8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Random assessor + line selection</a:t>
            </a:r>
            <a:endParaRPr lang="en-US" sz="800" dirty="0"/>
          </a:p>
          <a:p>
            <a:pPr marL="0" indent="0" algn="l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12-question 5S evaluation</a:t>
            </a:r>
            <a:endParaRPr lang="en-US" sz="800" dirty="0"/>
          </a:p>
          <a:p>
            <a:pPr marL="0" indent="0" algn="l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Colour-coding standardization</a:t>
            </a:r>
            <a:endParaRPr lang="en-US" sz="800" dirty="0"/>
          </a:p>
          <a:p>
            <a:pPr marL="0" indent="0" algn="l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Best 5S Zone — monthly trophy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786857" y="1491369"/>
            <a:ext cx="1570174" cy="2921794"/>
          </a:xfrm>
          <a:prstGeom prst="roundRect">
            <a:avLst>
              <a:gd name="adj" fmla="val 6066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790429" y="1494941"/>
            <a:ext cx="1563030" cy="314325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790429" y="1494941"/>
            <a:ext cx="1563030" cy="2868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519"/>
              </a:lnSpc>
              <a:buNone/>
            </a:pPr>
            <a:r>
              <a:rPr lang="en-US" sz="1013" b="1" kern="0" spc="5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WEDNESDAY</a:t>
            </a:r>
            <a:endParaRPr lang="en-US" sz="1013" dirty="0"/>
          </a:p>
        </p:txBody>
      </p:sp>
      <p:sp>
        <p:nvSpPr>
          <p:cNvPr id="30" name="Text 28"/>
          <p:cNvSpPr/>
          <p:nvPr/>
        </p:nvSpPr>
        <p:spPr>
          <a:xfrm>
            <a:off x="3871814" y="1898563"/>
            <a:ext cx="502938" cy="200025"/>
          </a:xfrm>
          <a:prstGeom prst="roundRect">
            <a:avLst>
              <a:gd name="adj" fmla="val 19048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FD23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845346" y="1909279"/>
            <a:ext cx="55587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kern="0" spc="68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457588" y="2173598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50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2250" dirty="0"/>
          </a:p>
        </p:txBody>
      </p:sp>
      <p:sp>
        <p:nvSpPr>
          <p:cNvPr id="33" name="Text 31"/>
          <p:cNvSpPr/>
          <p:nvPr/>
        </p:nvSpPr>
        <p:spPr>
          <a:xfrm>
            <a:off x="3790429" y="2459348"/>
            <a:ext cx="156303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84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verification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890442" y="2641513"/>
            <a:ext cx="1363005" cy="7144"/>
          </a:xfrm>
          <a:prstGeom prst="rect">
            <a:avLst/>
          </a:prstGeom>
          <a:solidFill>
            <a:srgbClr val="60A5FA">
              <a:alpha val="14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890442" y="2720094"/>
            <a:ext cx="1363005" cy="8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NC part handling on line</a:t>
            </a:r>
            <a:endParaRPr lang="en-US" sz="800" dirty="0"/>
          </a:p>
          <a:p>
            <a:pPr marL="0" indent="0" algn="l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Supermarket trolley &amp; part ID</a:t>
            </a:r>
            <a:endParaRPr lang="en-US" sz="800" dirty="0"/>
          </a:p>
          <a:p>
            <a:pPr marL="0" indent="0" algn="l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Part mix-up detection method</a:t>
            </a:r>
            <a:endParaRPr lang="en-US" sz="800" dirty="0"/>
          </a:p>
          <a:p>
            <a:pPr marL="0" indent="0" algn="l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Line documentation &amp; WIP control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449900" y="1491369"/>
            <a:ext cx="1570174" cy="2921794"/>
          </a:xfrm>
          <a:prstGeom prst="roundRect">
            <a:avLst>
              <a:gd name="adj" fmla="val 6066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453472" y="1494941"/>
            <a:ext cx="1563030" cy="314325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453472" y="1494941"/>
            <a:ext cx="1563030" cy="2868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519"/>
              </a:lnSpc>
              <a:buNone/>
            </a:pPr>
            <a:r>
              <a:rPr lang="en-US" sz="1013" b="1" kern="0" spc="5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THURSDAY</a:t>
            </a:r>
            <a:endParaRPr lang="en-US" sz="1013" dirty="0"/>
          </a:p>
        </p:txBody>
      </p:sp>
      <p:sp>
        <p:nvSpPr>
          <p:cNvPr id="39" name="Text 37"/>
          <p:cNvSpPr/>
          <p:nvPr/>
        </p:nvSpPr>
        <p:spPr>
          <a:xfrm>
            <a:off x="5539661" y="1898563"/>
            <a:ext cx="373225" cy="200025"/>
          </a:xfrm>
          <a:prstGeom prst="roundRect">
            <a:avLst>
              <a:gd name="adj" fmla="val 19048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FD23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553484" y="1909279"/>
            <a:ext cx="34557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kern="0" spc="68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PPSR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120631" y="2173598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50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2250" dirty="0"/>
          </a:p>
        </p:txBody>
      </p:sp>
      <p:sp>
        <p:nvSpPr>
          <p:cNvPr id="42" name="Text 40"/>
          <p:cNvSpPr/>
          <p:nvPr/>
        </p:nvSpPr>
        <p:spPr>
          <a:xfrm>
            <a:off x="5453472" y="2459348"/>
            <a:ext cx="156303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84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PPSR problem-solving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553484" y="2641513"/>
            <a:ext cx="1363005" cy="7144"/>
          </a:xfrm>
          <a:prstGeom prst="rect">
            <a:avLst/>
          </a:prstGeom>
          <a:solidFill>
            <a:srgbClr val="60A5FA">
              <a:alpha val="14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553484" y="2720094"/>
            <a:ext cx="1363005" cy="10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PPSR review — leader presents</a:t>
            </a:r>
            <a:endParaRPr lang="en-US" sz="800" dirty="0"/>
          </a:p>
          <a:p>
            <a:pPr marL="0" indent="0" algn="l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Right use of problem-solving tools</a:t>
            </a:r>
            <a:endParaRPr lang="en-US" sz="800" dirty="0"/>
          </a:p>
          <a:p>
            <a:pPr marL="0" indent="0" algn="l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Coaching by Coach per stage</a:t>
            </a:r>
            <a:endParaRPr lang="en-US" sz="800" dirty="0"/>
          </a:p>
          <a:p>
            <a:pPr marL="0" indent="0" algn="l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Best PPSR — monthly cash prize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112943" y="1491369"/>
            <a:ext cx="1570286" cy="2921794"/>
          </a:xfrm>
          <a:prstGeom prst="roundRect">
            <a:avLst>
              <a:gd name="adj" fmla="val 6066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7116514" y="1494941"/>
            <a:ext cx="1563142" cy="314325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7116514" y="1494941"/>
            <a:ext cx="1563142" cy="2868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519"/>
              </a:lnSpc>
              <a:buNone/>
            </a:pPr>
            <a:r>
              <a:rPr lang="en-US" sz="1013" b="1" kern="0" spc="5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FRIDAY</a:t>
            </a:r>
            <a:endParaRPr lang="en-US" sz="1013" dirty="0"/>
          </a:p>
        </p:txBody>
      </p:sp>
      <p:sp>
        <p:nvSpPr>
          <p:cNvPr id="48" name="Text 46"/>
          <p:cNvSpPr/>
          <p:nvPr/>
        </p:nvSpPr>
        <p:spPr>
          <a:xfrm>
            <a:off x="7199619" y="1898563"/>
            <a:ext cx="456526" cy="200025"/>
          </a:xfrm>
          <a:prstGeom prst="roundRect">
            <a:avLst>
              <a:gd name="adj" fmla="val 19048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FD23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7187110" y="1909279"/>
            <a:ext cx="48154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kern="0" spc="68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KAIZEN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783785" y="2173598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50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2250" dirty="0"/>
          </a:p>
        </p:txBody>
      </p:sp>
      <p:sp>
        <p:nvSpPr>
          <p:cNvPr id="51" name="Text 49"/>
          <p:cNvSpPr/>
          <p:nvPr/>
        </p:nvSpPr>
        <p:spPr>
          <a:xfrm>
            <a:off x="7116514" y="2459348"/>
            <a:ext cx="15631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84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Kaizen &amp; waste walk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216527" y="2641513"/>
            <a:ext cx="1363117" cy="7144"/>
          </a:xfrm>
          <a:prstGeom prst="rect">
            <a:avLst/>
          </a:prstGeom>
          <a:solidFill>
            <a:srgbClr val="60A5FA">
              <a:alpha val="14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7216527" y="2720094"/>
            <a:ext cx="1363117" cy="10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Kaizen Tree — collect all suggestions</a:t>
            </a:r>
            <a:endParaRPr lang="en-US" sz="800" dirty="0"/>
          </a:p>
          <a:p>
            <a:pPr marL="0" indent="0" algn="l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Review &amp; select kaizens</a:t>
            </a:r>
            <a:endParaRPr lang="en-US" sz="800" dirty="0"/>
          </a:p>
          <a:p>
            <a:pPr marL="0" indent="0" algn="l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CFT feasibility &amp; implementation</a:t>
            </a:r>
            <a:endParaRPr lang="en-US" sz="800" dirty="0"/>
          </a:p>
          <a:p>
            <a:pPr marL="0" indent="0" algn="l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Best Kaizen — monthly cash prize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57200" y="4539965"/>
            <a:ext cx="71438" cy="71438"/>
          </a:xfrm>
          <a:prstGeom prst="roundRect">
            <a:avLst>
              <a:gd name="adj" fmla="val 26666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57200" y="4516748"/>
            <a:ext cx="85267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DAILY THEME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1235757" y="4539965"/>
            <a:ext cx="71438" cy="71438"/>
          </a:xfrm>
          <a:prstGeom prst="roundRect">
            <a:avLst>
              <a:gd name="adj" fmla="val 26666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1235757" y="4516748"/>
            <a:ext cx="54779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FOCUS LEVER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777968" y="4516748"/>
            <a:ext cx="20615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37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 → Fri · Pune Plant · Shop Floor Management</a:t>
            </a:r>
            <a:endParaRPr lang="en-US" sz="619" dirty="0"/>
          </a:p>
        </p:txBody>
      </p:sp>
      <p:pic>
        <p:nvPicPr>
          <p:cNvPr id="5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60" name="Text 57"/>
          <p:cNvSpPr/>
          <p:nvPr/>
        </p:nvSpPr>
        <p:spPr>
          <a:xfrm>
            <a:off x="457200" y="4868466"/>
            <a:ext cx="763722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WEEKLY CADENCE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8077398" y="4868466"/>
            <a:ext cx="7848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 10 / 20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00050" y="1211535"/>
            <a:ext cx="457200" cy="0"/>
          </a:xfrm>
          <a:prstGeom prst="line">
            <a:avLst/>
          </a:prstGeom>
          <a:noFill/>
          <a:ln w="7144">
            <a:solidFill>
              <a:srgbClr val="F1F5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21494" y="3595204"/>
            <a:ext cx="3986213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21494" y="3823804"/>
            <a:ext cx="3986213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21494" y="4052404"/>
            <a:ext cx="3986213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036344" y="0"/>
            <a:ext cx="0" cy="5143500"/>
          </a:xfrm>
          <a:prstGeom prst="line">
            <a:avLst/>
          </a:prstGeom>
          <a:noFill/>
          <a:ln w="14288">
            <a:solidFill>
              <a:srgbClr val="3B82F6"/>
            </a:solidFill>
            <a:prstDash val="solid"/>
          </a:ln>
        </p:spPr>
      </p:sp>
      <p:pic>
        <p:nvPicPr>
          <p:cNvPr id="8" name="Image 0" descr="/tmp/h2p-fit-1785461418652-pflnf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3488" y="0"/>
            <a:ext cx="4100513" cy="51435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00050" y="274391"/>
            <a:ext cx="1011287" cy="212027"/>
          </a:xfrm>
          <a:prstGeom prst="roundRect">
            <a:avLst>
              <a:gd name="adj" fmla="val 17969"/>
            </a:avLst>
          </a:prstGeom>
          <a:solidFill>
            <a:srgbClr val="3B82F6">
              <a:alpha val="16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07219" y="328613"/>
            <a:ext cx="839837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MONDAY · SAFETY</a:t>
            </a:r>
            <a:endParaRPr lang="en-US" sz="619" dirty="0"/>
          </a:p>
        </p:txBody>
      </p:sp>
      <p:sp>
        <p:nvSpPr>
          <p:cNvPr id="12" name="Text 9"/>
          <p:cNvSpPr/>
          <p:nvPr/>
        </p:nvSpPr>
        <p:spPr>
          <a:xfrm>
            <a:off x="478631" y="33754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844" dirty="0"/>
          </a:p>
        </p:txBody>
      </p:sp>
      <p:sp>
        <p:nvSpPr>
          <p:cNvPr id="13" name="Text 10"/>
          <p:cNvSpPr/>
          <p:nvPr/>
        </p:nvSpPr>
        <p:spPr>
          <a:xfrm>
            <a:off x="1482775" y="305395"/>
            <a:ext cx="31463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b="1" kern="0" spc="142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— DAY 01 / 05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00050" y="575072"/>
            <a:ext cx="4229100" cy="56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kern="0" spc="-27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 Stewart Team — daily walks, weekly audits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00050" y="1322263"/>
            <a:ext cx="4229100" cy="526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dedicated Safety Stewart is assigned to every production line — Pump Lines 1-4, Actuator Lines 1-2, EMEGR Lines 1-2, Module Lines 1-2, PEGR Line, ETB, BPV, and EAM+GEN4+ — conducting daily walks and escalating unsafe acts and conditions in the SFM meeting.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03622" y="1905707"/>
            <a:ext cx="2064544" cy="492919"/>
          </a:xfrm>
          <a:prstGeom prst="roundRect">
            <a:avLst>
              <a:gd name="adj" fmla="val 11594"/>
            </a:avLst>
          </a:prstGeom>
          <a:solidFill>
            <a:srgbClr val="142844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07206" y="1995004"/>
            <a:ext cx="136780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475" b="1" kern="0" spc="-49" dirty="0">
                <a:solidFill>
                  <a:srgbClr val="60A5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54</a:t>
            </a:r>
            <a:endParaRPr lang="en-US" sz="2475" dirty="0"/>
          </a:p>
        </p:txBody>
      </p:sp>
      <p:sp>
        <p:nvSpPr>
          <p:cNvPr id="18" name="Text 15"/>
          <p:cNvSpPr/>
          <p:nvPr/>
        </p:nvSpPr>
        <p:spPr>
          <a:xfrm>
            <a:off x="1799145" y="2173598"/>
            <a:ext cx="57087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04"/>
              </a:lnSpc>
              <a:buNone/>
            </a:pPr>
            <a:r>
              <a:rPr lang="en-US" sz="619" kern="0" spc="5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OFI RAISED</a:t>
            </a:r>
            <a:endParaRPr lang="en-US" sz="619" dirty="0"/>
          </a:p>
        </p:txBody>
      </p:sp>
      <p:sp>
        <p:nvSpPr>
          <p:cNvPr id="19" name="Text 16"/>
          <p:cNvSpPr/>
          <p:nvPr/>
        </p:nvSpPr>
        <p:spPr>
          <a:xfrm>
            <a:off x="2561034" y="1905707"/>
            <a:ext cx="2064544" cy="492919"/>
          </a:xfrm>
          <a:prstGeom prst="roundRect">
            <a:avLst>
              <a:gd name="adj" fmla="val 11594"/>
            </a:avLst>
          </a:prstGeom>
          <a:solidFill>
            <a:srgbClr val="142844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664619" y="1995004"/>
            <a:ext cx="1341127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475" b="1" kern="0" spc="-49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51</a:t>
            </a:r>
            <a:endParaRPr lang="en-US" sz="2475" dirty="0"/>
          </a:p>
        </p:txBody>
      </p:sp>
      <p:sp>
        <p:nvSpPr>
          <p:cNvPr id="21" name="Text 18"/>
          <p:cNvSpPr/>
          <p:nvPr/>
        </p:nvSpPr>
        <p:spPr>
          <a:xfrm>
            <a:off x="3929081" y="2173598"/>
            <a:ext cx="59291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04"/>
              </a:lnSpc>
              <a:buNone/>
            </a:pPr>
            <a:r>
              <a:rPr lang="en-US" sz="619" kern="0" spc="5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OFI CLOSED</a:t>
            </a:r>
            <a:endParaRPr lang="en-US" sz="619" dirty="0"/>
          </a:p>
        </p:txBody>
      </p:sp>
      <p:sp>
        <p:nvSpPr>
          <p:cNvPr id="22" name="Text 19"/>
          <p:cNvSpPr/>
          <p:nvPr/>
        </p:nvSpPr>
        <p:spPr>
          <a:xfrm>
            <a:off x="403622" y="2491494"/>
            <a:ext cx="2064544" cy="492919"/>
          </a:xfrm>
          <a:prstGeom prst="roundRect">
            <a:avLst>
              <a:gd name="adj" fmla="val 11594"/>
            </a:avLst>
          </a:prstGeom>
          <a:solidFill>
            <a:srgbClr val="142844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507206" y="2580791"/>
            <a:ext cx="105214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475" b="1" kern="0" spc="-49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32</a:t>
            </a:r>
            <a:endParaRPr lang="en-US" sz="2475" dirty="0"/>
          </a:p>
        </p:txBody>
      </p:sp>
      <p:sp>
        <p:nvSpPr>
          <p:cNvPr id="24" name="Text 21"/>
          <p:cNvSpPr/>
          <p:nvPr/>
        </p:nvSpPr>
        <p:spPr>
          <a:xfrm>
            <a:off x="1415095" y="2759385"/>
            <a:ext cx="94948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04"/>
              </a:lnSpc>
              <a:buNone/>
            </a:pPr>
            <a:r>
              <a:rPr lang="en-US" sz="619" kern="0" spc="5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AFTER SFM</a:t>
            </a:r>
            <a:endParaRPr lang="en-US" sz="619" dirty="0"/>
          </a:p>
        </p:txBody>
      </p:sp>
      <p:sp>
        <p:nvSpPr>
          <p:cNvPr id="25" name="Text 22"/>
          <p:cNvSpPr/>
          <p:nvPr/>
        </p:nvSpPr>
        <p:spPr>
          <a:xfrm>
            <a:off x="2561034" y="2491494"/>
            <a:ext cx="2064544" cy="492919"/>
          </a:xfrm>
          <a:prstGeom prst="roundRect">
            <a:avLst>
              <a:gd name="adj" fmla="val 11594"/>
            </a:avLst>
          </a:prstGeom>
          <a:solidFill>
            <a:srgbClr val="142844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2664619" y="2580791"/>
            <a:ext cx="102546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475" b="1" kern="0" spc="-49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32</a:t>
            </a:r>
            <a:endParaRPr lang="en-US" sz="2475" dirty="0"/>
          </a:p>
        </p:txBody>
      </p:sp>
      <p:sp>
        <p:nvSpPr>
          <p:cNvPr id="27" name="Text 24"/>
          <p:cNvSpPr/>
          <p:nvPr/>
        </p:nvSpPr>
        <p:spPr>
          <a:xfrm>
            <a:off x="3539591" y="2759385"/>
            <a:ext cx="98240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04"/>
              </a:lnSpc>
              <a:buNone/>
            </a:pPr>
            <a:r>
              <a:rPr lang="en-US" sz="619" kern="0" spc="5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CLOSED AFTER SFM</a:t>
            </a:r>
            <a:endParaRPr lang="en-US" sz="619" dirty="0"/>
          </a:p>
        </p:txBody>
      </p:sp>
      <p:sp>
        <p:nvSpPr>
          <p:cNvPr id="28" name="Text 25"/>
          <p:cNvSpPr/>
          <p:nvPr/>
        </p:nvSpPr>
        <p:spPr>
          <a:xfrm>
            <a:off x="403622" y="3091569"/>
            <a:ext cx="4221956" cy="1289447"/>
          </a:xfrm>
          <a:prstGeom prst="roundRect">
            <a:avLst>
              <a:gd name="adj" fmla="val 5910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21494" y="3195154"/>
            <a:ext cx="3986213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74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r>
              <a:rPr lang="en-US" sz="800" b="1" kern="0" spc="74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ROLES &amp; FREQUENCY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21494" y="3416610"/>
            <a:ext cx="3590516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 walk at respective lines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148188" y="3396893"/>
            <a:ext cx="373346" cy="168021"/>
          </a:xfrm>
          <a:prstGeom prst="roundRect">
            <a:avLst>
              <a:gd name="adj" fmla="val 17007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FD23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4131255" y="3405894"/>
            <a:ext cx="4072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kern="0" spc="56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DAILY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21494" y="3645210"/>
            <a:ext cx="3590516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Escalation of unsafe act/condition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148188" y="3625493"/>
            <a:ext cx="373346" cy="168021"/>
          </a:xfrm>
          <a:prstGeom prst="roundRect">
            <a:avLst>
              <a:gd name="adj" fmla="val 17007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FD23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131255" y="3634494"/>
            <a:ext cx="4072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kern="0" spc="56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DAILY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21494" y="3873810"/>
            <a:ext cx="3506353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 meeting with Line OEs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060659" y="3854093"/>
            <a:ext cx="464241" cy="168021"/>
          </a:xfrm>
          <a:prstGeom prst="roundRect">
            <a:avLst>
              <a:gd name="adj" fmla="val 17007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FD23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4052008" y="3863094"/>
            <a:ext cx="48154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kern="0" spc="56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WEEKLY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21494" y="4102410"/>
            <a:ext cx="350635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 audits with Safety Officer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4060659" y="4082693"/>
            <a:ext cx="464241" cy="168021"/>
          </a:xfrm>
          <a:prstGeom prst="roundRect">
            <a:avLst>
              <a:gd name="adj" fmla="val 17007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FD23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4052008" y="4091694"/>
            <a:ext cx="48154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kern="0" spc="56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WEEKLY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557213" y="4477457"/>
            <a:ext cx="2571348" cy="127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PUNE PLANT · SAFETY, HEALTH &amp; ENVIRONMENT SUMMARY</a:t>
            </a:r>
            <a:endParaRPr lang="en-US" sz="619" dirty="0"/>
          </a:p>
        </p:txBody>
      </p:sp>
      <p:sp>
        <p:nvSpPr>
          <p:cNvPr id="43" name="Text 40"/>
          <p:cNvSpPr/>
          <p:nvPr/>
        </p:nvSpPr>
        <p:spPr>
          <a:xfrm>
            <a:off x="400050" y="447924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</a:t>
            </a:r>
            <a:endParaRPr lang="en-US" sz="984" dirty="0"/>
          </a:p>
        </p:txBody>
      </p:sp>
      <p:sp>
        <p:nvSpPr>
          <p:cNvPr id="44" name="Text 41"/>
          <p:cNvSpPr/>
          <p:nvPr/>
        </p:nvSpPr>
        <p:spPr>
          <a:xfrm>
            <a:off x="400050" y="4632722"/>
            <a:ext cx="354955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MONDAY · SAFETY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755005" y="4632722"/>
            <a:ext cx="215205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 11 / 20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296783" y="4782741"/>
            <a:ext cx="1672196" cy="200025"/>
          </a:xfrm>
          <a:prstGeom prst="roundRect">
            <a:avLst>
              <a:gd name="adj" fmla="val 14286"/>
            </a:avLst>
          </a:prstGeom>
          <a:solidFill>
            <a:srgbClr val="0E1116">
              <a:alpha val="60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7293211" y="4779169"/>
            <a:ext cx="1679339" cy="318211"/>
          </a:xfrm>
          <a:prstGeom prst="rect">
            <a:avLst/>
          </a:prstGeom>
          <a:noFill/>
          <a:ln/>
        </p:spPr>
        <p:txBody>
          <a:bodyPr wrap="square" lIns="71438" tIns="42863" rIns="71438" bIns="42863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79" dirty="0">
                <a:solidFill>
                  <a:srgbClr val="FFFFFF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 STEWART TEAM · PUNE PLANT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00050" y="1197248"/>
            <a:ext cx="457200" cy="0"/>
          </a:xfrm>
          <a:prstGeom prst="line">
            <a:avLst/>
          </a:prstGeom>
          <a:noFill/>
          <a:ln w="7144">
            <a:solidFill>
              <a:srgbClr val="F1F5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9144" y="0"/>
            <a:ext cx="0" cy="5143500"/>
          </a:xfrm>
          <a:prstGeom prst="line">
            <a:avLst/>
          </a:prstGeom>
          <a:noFill/>
          <a:ln w="14288">
            <a:solidFill>
              <a:srgbClr val="3B82F6"/>
            </a:solidFill>
            <a:prstDash val="solid"/>
          </a:ln>
        </p:spPr>
      </p:sp>
      <p:pic>
        <p:nvPicPr>
          <p:cNvPr id="5" name="Image 0" descr="/tmp/h2p-fit-1785461419856-e0sky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6288" y="0"/>
            <a:ext cx="4557713" cy="5143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00050" y="274391"/>
            <a:ext cx="844860" cy="212027"/>
          </a:xfrm>
          <a:prstGeom prst="roundRect">
            <a:avLst>
              <a:gd name="adj" fmla="val 17969"/>
            </a:avLst>
          </a:prstGeom>
          <a:solidFill>
            <a:srgbClr val="3B82F6">
              <a:alpha val="16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07219" y="328613"/>
            <a:ext cx="673410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60A5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TUESDAY · 5S</a:t>
            </a:r>
            <a:endParaRPr lang="en-US" sz="619" dirty="0"/>
          </a:p>
        </p:txBody>
      </p:sp>
      <p:sp>
        <p:nvSpPr>
          <p:cNvPr id="9" name="Text 6"/>
          <p:cNvSpPr/>
          <p:nvPr/>
        </p:nvSpPr>
        <p:spPr>
          <a:xfrm>
            <a:off x="478631" y="33754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844" dirty="0"/>
          </a:p>
        </p:txBody>
      </p:sp>
      <p:sp>
        <p:nvSpPr>
          <p:cNvPr id="10" name="Text 7"/>
          <p:cNvSpPr/>
          <p:nvPr/>
        </p:nvSpPr>
        <p:spPr>
          <a:xfrm>
            <a:off x="1316348" y="305395"/>
            <a:ext cx="285560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b="1" kern="0" spc="142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— DAY 02 / 05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00050" y="575072"/>
            <a:ext cx="3771900" cy="56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kern="0" spc="-27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5S zones, leaders, and a 12-question audit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00050" y="1307976"/>
            <a:ext cx="3771900" cy="526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Pune plant is divided into 19 numbered 5S zones, each with a named Zonal leader drawn from PM, SAP, IT, BE, Sales, Engineering, HR, Purchase, FICO, and Front Office — making 5S a plant-wide discipline, not just a shop-floor one.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03622" y="1891419"/>
            <a:ext cx="3764756" cy="910828"/>
          </a:xfrm>
          <a:prstGeom prst="roundRect">
            <a:avLst>
              <a:gd name="adj" fmla="val 8366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50081" y="2002148"/>
            <a:ext cx="955225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74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SCORE CRITERIA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21494" y="201107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44" dirty="0"/>
          </a:p>
        </p:txBody>
      </p:sp>
      <p:sp>
        <p:nvSpPr>
          <p:cNvPr id="16" name="Text 13"/>
          <p:cNvSpPr/>
          <p:nvPr/>
        </p:nvSpPr>
        <p:spPr>
          <a:xfrm>
            <a:off x="521494" y="2184313"/>
            <a:ext cx="142875" cy="142875"/>
          </a:xfrm>
          <a:prstGeom prst="roundRect">
            <a:avLst>
              <a:gd name="adj" fmla="val 26667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21494" y="2184313"/>
            <a:ext cx="1714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A162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21519" y="2184313"/>
            <a:ext cx="1500188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Available and ready for assessment</a:t>
            </a:r>
            <a:endParaRPr lang="en-US" sz="675" dirty="0"/>
          </a:p>
        </p:txBody>
      </p:sp>
      <p:sp>
        <p:nvSpPr>
          <p:cNvPr id="19" name="Text 16"/>
          <p:cNvSpPr/>
          <p:nvPr/>
        </p:nvSpPr>
        <p:spPr>
          <a:xfrm>
            <a:off x="2350294" y="2184313"/>
            <a:ext cx="142875" cy="142875"/>
          </a:xfrm>
          <a:prstGeom prst="roundRect">
            <a:avLst>
              <a:gd name="adj" fmla="val 26667"/>
            </a:avLst>
          </a:prstGeom>
          <a:solidFill>
            <a:srgbClr val="4ADE80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350294" y="2184313"/>
            <a:ext cx="1714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2550319" y="2184313"/>
            <a:ext cx="1500188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Available but not accessible</a:t>
            </a:r>
            <a:endParaRPr lang="en-US" sz="675" dirty="0"/>
          </a:p>
        </p:txBody>
      </p:sp>
      <p:sp>
        <p:nvSpPr>
          <p:cNvPr id="22" name="Text 19"/>
          <p:cNvSpPr/>
          <p:nvPr/>
        </p:nvSpPr>
        <p:spPr>
          <a:xfrm>
            <a:off x="521494" y="2370051"/>
            <a:ext cx="142875" cy="142875"/>
          </a:xfrm>
          <a:prstGeom prst="roundRect">
            <a:avLst>
              <a:gd name="adj" fmla="val 26667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521494" y="2370051"/>
            <a:ext cx="1714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A162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721519" y="2370051"/>
            <a:ext cx="1500188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More than three observations</a:t>
            </a:r>
            <a:endParaRPr lang="en-US" sz="675" dirty="0"/>
          </a:p>
        </p:txBody>
      </p:sp>
      <p:sp>
        <p:nvSpPr>
          <p:cNvPr id="25" name="Text 22"/>
          <p:cNvSpPr/>
          <p:nvPr/>
        </p:nvSpPr>
        <p:spPr>
          <a:xfrm>
            <a:off x="2350294" y="2370051"/>
            <a:ext cx="142875" cy="142875"/>
          </a:xfrm>
          <a:prstGeom prst="roundRect">
            <a:avLst>
              <a:gd name="adj" fmla="val 26667"/>
            </a:avLst>
          </a:prstGeom>
          <a:solidFill>
            <a:srgbClr val="FB92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2350294" y="2370051"/>
            <a:ext cx="1714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A162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2550319" y="2370051"/>
            <a:ext cx="1500188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More than five observations</a:t>
            </a:r>
            <a:endParaRPr lang="en-US" sz="675" dirty="0"/>
          </a:p>
        </p:txBody>
      </p:sp>
      <p:sp>
        <p:nvSpPr>
          <p:cNvPr id="28" name="Text 25"/>
          <p:cNvSpPr/>
          <p:nvPr/>
        </p:nvSpPr>
        <p:spPr>
          <a:xfrm>
            <a:off x="521494" y="2555788"/>
            <a:ext cx="142875" cy="142875"/>
          </a:xfrm>
          <a:prstGeom prst="roundRect">
            <a:avLst>
              <a:gd name="adj" fmla="val 26667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21494" y="2555788"/>
            <a:ext cx="1714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21519" y="2555788"/>
            <a:ext cx="15001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available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03622" y="2909404"/>
            <a:ext cx="3764756" cy="1025128"/>
          </a:xfrm>
          <a:prstGeom prst="roundRect">
            <a:avLst>
              <a:gd name="adj" fmla="val 7433"/>
            </a:avLst>
          </a:prstGeom>
          <a:solidFill>
            <a:srgbClr val="142844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650081" y="3020132"/>
            <a:ext cx="1309706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74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KEY AUDIT QUESTIONS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21494" y="302906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?</a:t>
            </a:r>
            <a:endParaRPr lang="en-US" sz="844" dirty="0"/>
          </a:p>
        </p:txBody>
      </p:sp>
      <p:sp>
        <p:nvSpPr>
          <p:cNvPr id="34" name="Text 31"/>
          <p:cNvSpPr/>
          <p:nvPr/>
        </p:nvSpPr>
        <p:spPr>
          <a:xfrm>
            <a:off x="521494" y="3188010"/>
            <a:ext cx="3529013" cy="72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13"/>
              </a:lnSpc>
              <a:spcAft>
                <a:spcPts val="338"/>
              </a:spcAft>
              <a:buSzPct val="100000"/>
              <a:buChar char="•"/>
            </a:pPr>
            <a:r>
              <a:rPr lang="en-US" sz="800" b="1" kern="0" spc="25" dirty="0">
                <a:solidFill>
                  <a:srgbClr val="FBBF24"/>
                </a:solidFill>
                <a:highlight>
                  <a:srgbClr val="FBBF24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Q1</a:t>
            </a:r>
            <a:endParaRPr lang="en-US" sz="800" dirty="0"/>
          </a:p>
          <a:p>
            <a:pPr marL="0" indent="0" algn="l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Updated 5S standard available at the line?</a:t>
            </a:r>
            <a:endParaRPr lang="en-US" sz="800" dirty="0"/>
          </a:p>
          <a:p>
            <a:pPr marL="342900" indent="-342900" algn="l">
              <a:lnSpc>
                <a:spcPts val="1013"/>
              </a:lnSpc>
              <a:spcAft>
                <a:spcPts val="338"/>
              </a:spcAft>
              <a:buSzPct val="100000"/>
              <a:buChar char="•"/>
            </a:pPr>
            <a:r>
              <a:rPr lang="en-US" sz="800" b="1" kern="0" spc="25" dirty="0">
                <a:solidFill>
                  <a:srgbClr val="FBBF24"/>
                </a:solidFill>
                <a:highlight>
                  <a:srgbClr val="FBBF24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Q4</a:t>
            </a:r>
            <a:endParaRPr lang="en-US" sz="800" dirty="0"/>
          </a:p>
          <a:p>
            <a:pPr marL="0" indent="0" algn="l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place for everything &amp; everything in place?</a:t>
            </a:r>
            <a:endParaRPr lang="en-US" sz="800" dirty="0"/>
          </a:p>
          <a:p>
            <a:pPr marL="342900" indent="-342900" algn="l">
              <a:lnSpc>
                <a:spcPts val="1013"/>
              </a:lnSpc>
              <a:spcAft>
                <a:spcPts val="338"/>
              </a:spcAft>
              <a:buSzPct val="100000"/>
              <a:buChar char="•"/>
            </a:pPr>
            <a:r>
              <a:rPr lang="en-US" sz="800" b="1" kern="0" spc="25" dirty="0">
                <a:solidFill>
                  <a:srgbClr val="FBBF24"/>
                </a:solidFill>
                <a:highlight>
                  <a:srgbClr val="FBBF24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Q5–7</a:t>
            </a:r>
            <a:endParaRPr lang="en-US" sz="800" dirty="0"/>
          </a:p>
          <a:p>
            <a:pPr marL="0" indent="0" algn="l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Raw material (blue), FG (green), empty bins (orange) floor markings?</a:t>
            </a:r>
            <a:endParaRPr lang="en-US" sz="800" dirty="0"/>
          </a:p>
          <a:p>
            <a:pPr marL="342900" indent="-342900" algn="l">
              <a:lnSpc>
                <a:spcPts val="1013"/>
              </a:lnSpc>
              <a:spcAft>
                <a:spcPts val="338"/>
              </a:spcAft>
              <a:buSzPct val="100000"/>
              <a:buChar char="•"/>
            </a:pPr>
            <a:r>
              <a:rPr lang="en-US" sz="800" b="1" kern="0" spc="25" dirty="0">
                <a:solidFill>
                  <a:srgbClr val="FBBF24"/>
                </a:solidFill>
                <a:highlight>
                  <a:srgbClr val="FBBF24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Q9</a:t>
            </a:r>
            <a:endParaRPr lang="en-US" sz="800" dirty="0"/>
          </a:p>
          <a:p>
            <a:pPr marL="0" indent="0" algn="l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Scrap &amp; dustbins in red marking or red bins?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57213" y="4045260"/>
            <a:ext cx="2712058" cy="139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MONTHLY RECOGNITION — BEST 5S ZONE OF THE MONTH TROPHY.</a:t>
            </a:r>
            <a:endParaRPr lang="en-US" sz="619" dirty="0"/>
          </a:p>
        </p:txBody>
      </p:sp>
      <p:sp>
        <p:nvSpPr>
          <p:cNvPr id="36" name="Text 33"/>
          <p:cNvSpPr/>
          <p:nvPr/>
        </p:nvSpPr>
        <p:spPr>
          <a:xfrm>
            <a:off x="400050" y="4047046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984" dirty="0"/>
          </a:p>
        </p:txBody>
      </p:sp>
      <p:sp>
        <p:nvSpPr>
          <p:cNvPr id="37" name="Text 34"/>
          <p:cNvSpPr/>
          <p:nvPr/>
        </p:nvSpPr>
        <p:spPr>
          <a:xfrm>
            <a:off x="400050" y="4691658"/>
            <a:ext cx="376944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TUESDAY · 5S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776994" y="4632722"/>
            <a:ext cx="215205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 12 / 20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7418450" y="4782741"/>
            <a:ext cx="1550529" cy="200025"/>
          </a:xfrm>
          <a:prstGeom prst="roundRect">
            <a:avLst>
              <a:gd name="adj" fmla="val 14286"/>
            </a:avLst>
          </a:prstGeom>
          <a:solidFill>
            <a:srgbClr val="0E1116">
              <a:alpha val="60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7414878" y="4779169"/>
            <a:ext cx="1557672" cy="318211"/>
          </a:xfrm>
          <a:prstGeom prst="rect">
            <a:avLst/>
          </a:prstGeom>
          <a:noFill/>
          <a:ln/>
        </p:spPr>
        <p:txBody>
          <a:bodyPr wrap="square" lIns="71438" tIns="42863" rIns="71438" bIns="42863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79" dirty="0">
                <a:solidFill>
                  <a:srgbClr val="FFFFFF">
                    <a:alpha val="7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5S / EHS OBSERVATION TRACKING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00050" y="1197248"/>
            <a:ext cx="457200" cy="0"/>
          </a:xfrm>
          <a:prstGeom prst="line">
            <a:avLst/>
          </a:prstGeom>
          <a:noFill/>
          <a:ln w="7144">
            <a:solidFill>
              <a:srgbClr val="F1F5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0050" y="1919994"/>
            <a:ext cx="3771900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68378" y="1916423"/>
            <a:ext cx="0" cy="567928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0050" y="2480779"/>
            <a:ext cx="3771900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0766" y="1916423"/>
            <a:ext cx="0" cy="567928"/>
          </a:xfrm>
          <a:prstGeom prst="line">
            <a:avLst/>
          </a:prstGeom>
          <a:noFill/>
          <a:ln w="21431">
            <a:solidFill>
              <a:srgbClr val="FBBF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0050" y="2559360"/>
            <a:ext cx="3771900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8378" y="2555788"/>
            <a:ext cx="0" cy="439341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0050" y="2991557"/>
            <a:ext cx="3771900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0766" y="2555788"/>
            <a:ext cx="0" cy="439341"/>
          </a:xfrm>
          <a:prstGeom prst="line">
            <a:avLst/>
          </a:prstGeom>
          <a:noFill/>
          <a:ln w="21431">
            <a:solidFill>
              <a:srgbClr val="FBBF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0050" y="3070138"/>
            <a:ext cx="3771900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68378" y="3066566"/>
            <a:ext cx="0" cy="567928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0050" y="3630923"/>
            <a:ext cx="3771900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0766" y="3066566"/>
            <a:ext cx="0" cy="567928"/>
          </a:xfrm>
          <a:prstGeom prst="line">
            <a:avLst/>
          </a:prstGeom>
          <a:noFill/>
          <a:ln w="21431">
            <a:solidFill>
              <a:srgbClr val="FBBF2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0050" y="3709504"/>
            <a:ext cx="3771900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8378" y="3705932"/>
            <a:ext cx="0" cy="567928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0050" y="4270288"/>
            <a:ext cx="3771900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0766" y="3705932"/>
            <a:ext cx="0" cy="567928"/>
          </a:xfrm>
          <a:prstGeom prst="line">
            <a:avLst/>
          </a:prstGeom>
          <a:noFill/>
          <a:ln w="21431">
            <a:solidFill>
              <a:srgbClr val="FBBF2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9144" y="0"/>
            <a:ext cx="0" cy="5143500"/>
          </a:xfrm>
          <a:prstGeom prst="line">
            <a:avLst/>
          </a:prstGeom>
          <a:noFill/>
          <a:ln w="14288">
            <a:solidFill>
              <a:srgbClr val="3B82F6"/>
            </a:solidFill>
            <a:prstDash val="solid"/>
          </a:ln>
        </p:spPr>
      </p:sp>
      <p:pic>
        <p:nvPicPr>
          <p:cNvPr id="21" name="Image 0" descr="/tmp/h2p-fit-1785461424900-i5pr2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6288" y="0"/>
            <a:ext cx="4557713" cy="51435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00050" y="274391"/>
            <a:ext cx="1204503" cy="212027"/>
          </a:xfrm>
          <a:prstGeom prst="roundRect">
            <a:avLst>
              <a:gd name="adj" fmla="val 17969"/>
            </a:avLst>
          </a:prstGeom>
          <a:solidFill>
            <a:srgbClr val="3B82F6">
              <a:alpha val="16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07219" y="328613"/>
            <a:ext cx="1033053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WEDNESDAY · QUALITY</a:t>
            </a:r>
            <a:endParaRPr lang="en-US" sz="619" dirty="0"/>
          </a:p>
        </p:txBody>
      </p:sp>
      <p:sp>
        <p:nvSpPr>
          <p:cNvPr id="25" name="Text 22"/>
          <p:cNvSpPr/>
          <p:nvPr/>
        </p:nvSpPr>
        <p:spPr>
          <a:xfrm>
            <a:off x="478631" y="33754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44" dirty="0"/>
          </a:p>
        </p:txBody>
      </p:sp>
      <p:sp>
        <p:nvSpPr>
          <p:cNvPr id="26" name="Text 23"/>
          <p:cNvSpPr/>
          <p:nvPr/>
        </p:nvSpPr>
        <p:spPr>
          <a:xfrm>
            <a:off x="1675991" y="305395"/>
            <a:ext cx="249595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b="1" kern="0" spc="142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— DAY 03 / 05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00050" y="575072"/>
            <a:ext cx="3771900" cy="56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kern="0" spc="-27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Verification, detection, and documentation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400050" y="1307976"/>
            <a:ext cx="3771900" cy="526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Wednesday shifts the focus to quality at the source — verifying NC (non-conforming) part handling, supermarket trolley discipline, part-mix-up detection methods, line documentation, and WIP control to keep flow clean and capacity honored.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00050" y="1916423"/>
            <a:ext cx="3771900" cy="567928"/>
          </a:xfrm>
          <a:prstGeom prst="roundRect">
            <a:avLst>
              <a:gd name="adj" fmla="val 10063"/>
            </a:avLst>
          </a:prstGeom>
          <a:solidFill>
            <a:srgbClr val="1428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92919" y="199500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31" name="Text 28"/>
          <p:cNvSpPr/>
          <p:nvPr/>
        </p:nvSpPr>
        <p:spPr>
          <a:xfrm>
            <a:off x="778669" y="1995004"/>
            <a:ext cx="3300413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NC part handling on line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778669" y="2148594"/>
            <a:ext cx="33004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Verification of how non-conforming parts are segregated, labelled, and routed at each station.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00050" y="2555788"/>
            <a:ext cx="3771900" cy="439341"/>
          </a:xfrm>
          <a:prstGeom prst="roundRect">
            <a:avLst>
              <a:gd name="adj" fmla="val 13008"/>
            </a:avLst>
          </a:prstGeom>
          <a:solidFill>
            <a:srgbClr val="1428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492919" y="263436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35" name="Text 32"/>
          <p:cNvSpPr/>
          <p:nvPr/>
        </p:nvSpPr>
        <p:spPr>
          <a:xfrm>
            <a:off x="778669" y="2634369"/>
            <a:ext cx="3410140" cy="12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Supermarket trolley &amp; parts identification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778669" y="2787960"/>
            <a:ext cx="330041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Verify trolley discipline, parts identification labels, and replenishment triggers.</a:t>
            </a:r>
            <a:endParaRPr lang="en-US" sz="675" dirty="0"/>
          </a:p>
        </p:txBody>
      </p:sp>
      <p:sp>
        <p:nvSpPr>
          <p:cNvPr id="37" name="Text 34"/>
          <p:cNvSpPr/>
          <p:nvPr/>
        </p:nvSpPr>
        <p:spPr>
          <a:xfrm>
            <a:off x="400050" y="3066566"/>
            <a:ext cx="3771900" cy="567928"/>
          </a:xfrm>
          <a:prstGeom prst="roundRect">
            <a:avLst>
              <a:gd name="adj" fmla="val 10063"/>
            </a:avLst>
          </a:prstGeom>
          <a:solidFill>
            <a:srgbClr val="1428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492919" y="314514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39" name="Text 36"/>
          <p:cNvSpPr/>
          <p:nvPr/>
        </p:nvSpPr>
        <p:spPr>
          <a:xfrm>
            <a:off x="778669" y="3145148"/>
            <a:ext cx="3410140" cy="12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Part mix-up detection method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778669" y="3298738"/>
            <a:ext cx="33004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Verify the poka-yoke or detection method that prevents wrong-part / wrong-operation mix-ups.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00050" y="3705932"/>
            <a:ext cx="3771900" cy="567928"/>
          </a:xfrm>
          <a:prstGeom prst="roundRect">
            <a:avLst>
              <a:gd name="adj" fmla="val 10063"/>
            </a:avLst>
          </a:prstGeom>
          <a:solidFill>
            <a:srgbClr val="1428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492919" y="378451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43" name="Text 40"/>
          <p:cNvSpPr/>
          <p:nvPr/>
        </p:nvSpPr>
        <p:spPr>
          <a:xfrm>
            <a:off x="778669" y="3784513"/>
            <a:ext cx="3410140" cy="12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Line documentation &amp; WIP control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778669" y="3938104"/>
            <a:ext cx="33004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Verify control plans, job element sheets, and that WIP does not exceed defined capacity.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360170" y="4431023"/>
            <a:ext cx="94071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KPIS TOUCHED: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1123690" y="4391732"/>
            <a:ext cx="1473957" cy="196453"/>
          </a:xfrm>
          <a:prstGeom prst="roundRect">
            <a:avLst>
              <a:gd name="adj" fmla="val 19394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FD23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1334430" y="4438166"/>
            <a:ext cx="2837520" cy="139654"/>
          </a:xfrm>
          <a:prstGeom prst="rect">
            <a:avLst/>
          </a:prstGeom>
          <a:noFill/>
          <a:ln/>
        </p:spPr>
        <p:txBody>
          <a:bodyPr wrap="none" lIns="78581" tIns="35719" rIns="78581" bIns="35719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74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· DELIVERY · COST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1205843" y="4447096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844" dirty="0"/>
          </a:p>
        </p:txBody>
      </p:sp>
      <p:sp>
        <p:nvSpPr>
          <p:cNvPr id="49" name="Text 46"/>
          <p:cNvSpPr/>
          <p:nvPr/>
        </p:nvSpPr>
        <p:spPr>
          <a:xfrm>
            <a:off x="400050" y="4691658"/>
            <a:ext cx="515131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WEDNESDAY · QUALITY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915181" y="4632722"/>
            <a:ext cx="215205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 13 / 20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7308391" y="4782741"/>
            <a:ext cx="1660587" cy="200025"/>
          </a:xfrm>
          <a:prstGeom prst="roundRect">
            <a:avLst>
              <a:gd name="adj" fmla="val 14286"/>
            </a:avLst>
          </a:prstGeom>
          <a:solidFill>
            <a:srgbClr val="0E1116">
              <a:alpha val="60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7304819" y="4779169"/>
            <a:ext cx="1667731" cy="318211"/>
          </a:xfrm>
          <a:prstGeom prst="rect">
            <a:avLst/>
          </a:prstGeom>
          <a:noFill/>
          <a:ln/>
        </p:spPr>
        <p:txBody>
          <a:bodyPr wrap="square" lIns="71438" tIns="42863" rIns="71438" bIns="42863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79" dirty="0">
                <a:solidFill>
                  <a:srgbClr val="FFFFFF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VERIFICATION · SHOP FLOOR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0" y="-857250"/>
            <a:ext cx="3429000" cy="34290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6572250" y="-857250"/>
            <a:ext cx="3429000" cy="3429000"/>
          </a:xfrm>
          <a:prstGeom prst="ellipse">
            <a:avLst/>
          </a:prstGeom>
          <a:solidFill>
            <a:srgbClr val="3B82F6">
              <a:alpha val="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571500" y="3286125"/>
            <a:ext cx="3000375" cy="3000375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-571500" y="3286125"/>
            <a:ext cx="3000375" cy="3000375"/>
          </a:xfrm>
          <a:prstGeom prst="ellipse">
            <a:avLst/>
          </a:prstGeom>
          <a:solidFill>
            <a:srgbClr val="FBBF24">
              <a:alpha val="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2"/>
          <p:cNvSpPr/>
          <p:nvPr/>
        </p:nvSpPr>
        <p:spPr>
          <a:xfrm>
            <a:off x="457200" y="426839"/>
            <a:ext cx="300038" cy="21431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3"/>
          <p:cNvSpPr/>
          <p:nvPr/>
        </p:nvSpPr>
        <p:spPr>
          <a:xfrm>
            <a:off x="857250" y="378619"/>
            <a:ext cx="271621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2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SHOP FLOOR MANAGEMENT · SECTION DIVIDER</a:t>
            </a:r>
            <a:endParaRPr lang="en-US" sz="800" dirty="0"/>
          </a:p>
        </p:txBody>
      </p:sp>
      <p:sp>
        <p:nvSpPr>
          <p:cNvPr id="11" name="Text 4"/>
          <p:cNvSpPr/>
          <p:nvPr/>
        </p:nvSpPr>
        <p:spPr>
          <a:xfrm>
            <a:off x="7737150" y="331541"/>
            <a:ext cx="972510" cy="212027"/>
          </a:xfrm>
          <a:prstGeom prst="roundRect">
            <a:avLst>
              <a:gd name="adj" fmla="val 17969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5"/>
          <p:cNvSpPr/>
          <p:nvPr/>
        </p:nvSpPr>
        <p:spPr>
          <a:xfrm>
            <a:off x="7760010" y="342900"/>
            <a:ext cx="92679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04 OF 05</a:t>
            </a:r>
            <a:endParaRPr lang="en-US" sz="800" dirty="0"/>
          </a:p>
        </p:txBody>
      </p:sp>
      <p:sp>
        <p:nvSpPr>
          <p:cNvPr id="13" name="Text 6"/>
          <p:cNvSpPr/>
          <p:nvPr/>
        </p:nvSpPr>
        <p:spPr>
          <a:xfrm>
            <a:off x="514350" y="2043113"/>
            <a:ext cx="3070384" cy="1573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75"/>
              </a:lnSpc>
              <a:buNone/>
            </a:pPr>
            <a:r>
              <a:rPr lang="en-US" sz="13500" b="1" kern="0" spc="-540" dirty="0">
                <a:solidFill>
                  <a:srgbClr val="FFFFFF">
                    <a:alpha val="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3500" dirty="0"/>
          </a:p>
        </p:txBody>
      </p:sp>
      <p:sp>
        <p:nvSpPr>
          <p:cNvPr id="14" name="Text 7"/>
          <p:cNvSpPr/>
          <p:nvPr/>
        </p:nvSpPr>
        <p:spPr>
          <a:xfrm>
            <a:off x="457200" y="1985963"/>
            <a:ext cx="3070384" cy="1573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75"/>
              </a:lnSpc>
              <a:buNone/>
            </a:pPr>
            <a:r>
              <a:rPr lang="en-US" sz="13500" b="1" kern="0" spc="-540" dirty="0">
                <a:solidFill>
                  <a:srgbClr val="3B82F6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35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9090" y="1714500"/>
            <a:ext cx="7144" cy="200025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3069134" y="1691060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69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969" dirty="0"/>
          </a:p>
        </p:txBody>
      </p:sp>
      <p:sp>
        <p:nvSpPr>
          <p:cNvPr id="17" name="Text 9"/>
          <p:cNvSpPr/>
          <p:nvPr/>
        </p:nvSpPr>
        <p:spPr>
          <a:xfrm>
            <a:off x="3354884" y="1721421"/>
            <a:ext cx="41433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117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IMPROVE VIA PROBLEM SOLVING</a:t>
            </a:r>
            <a:endParaRPr lang="en-US" sz="800" dirty="0"/>
          </a:p>
        </p:txBody>
      </p:sp>
      <p:sp>
        <p:nvSpPr>
          <p:cNvPr id="18" name="Text 10"/>
          <p:cNvSpPr/>
          <p:nvPr/>
        </p:nvSpPr>
        <p:spPr>
          <a:xfrm>
            <a:off x="3069134" y="2019672"/>
            <a:ext cx="5669280" cy="51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kern="0" spc="-72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Improve</a:t>
            </a:r>
            <a:endParaRPr lang="en-US" sz="3600" dirty="0"/>
          </a:p>
        </p:txBody>
      </p:sp>
      <p:sp>
        <p:nvSpPr>
          <p:cNvPr id="19" name="Shape 11"/>
          <p:cNvSpPr/>
          <p:nvPr/>
        </p:nvSpPr>
        <p:spPr>
          <a:xfrm>
            <a:off x="3069134" y="2638946"/>
            <a:ext cx="457200" cy="0"/>
          </a:xfrm>
          <a:prstGeom prst="line">
            <a:avLst/>
          </a:prstGeom>
          <a:noFill/>
          <a:ln w="7144">
            <a:solidFill>
              <a:srgbClr val="F1F5F9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3069134" y="2778249"/>
            <a:ext cx="4143375" cy="1036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Improve via structured problem solving. Thursday and Friday turn analysis into permanent improvements — PPSR projects eliminate root causes, and Kaizen turns every operator into an improver.</a:t>
            </a:r>
            <a:endParaRPr lang="en-US" sz="1350" dirty="0"/>
          </a:p>
        </p:txBody>
      </p:sp>
      <p:sp>
        <p:nvSpPr>
          <p:cNvPr id="21" name="Text 13"/>
          <p:cNvSpPr/>
          <p:nvPr/>
        </p:nvSpPr>
        <p:spPr>
          <a:xfrm>
            <a:off x="7748089" y="4430611"/>
            <a:ext cx="961571" cy="297066"/>
          </a:xfrm>
          <a:prstGeom prst="roundRect">
            <a:avLst>
              <a:gd name="adj" fmla="val 3203152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4"/>
          <p:cNvSpPr/>
          <p:nvPr/>
        </p:nvSpPr>
        <p:spPr>
          <a:xfrm>
            <a:off x="7899536" y="4514850"/>
            <a:ext cx="65867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kern="0" spc="81" dirty="0">
                <a:solidFill>
                  <a:srgbClr val="0A16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CONTINUE</a:t>
            </a:r>
            <a:endParaRPr lang="en-US" sz="800" dirty="0"/>
          </a:p>
        </p:txBody>
      </p:sp>
      <p:sp>
        <p:nvSpPr>
          <p:cNvPr id="23" name="Text 15"/>
          <p:cNvSpPr/>
          <p:nvPr/>
        </p:nvSpPr>
        <p:spPr>
          <a:xfrm>
            <a:off x="8429625" y="451485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A162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24" name="Text 16"/>
          <p:cNvSpPr/>
          <p:nvPr/>
        </p:nvSpPr>
        <p:spPr>
          <a:xfrm>
            <a:off x="457200" y="4607719"/>
            <a:ext cx="5513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68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CHAPTERS</a:t>
            </a:r>
            <a:endParaRPr lang="en-US" sz="600" dirty="0"/>
          </a:p>
        </p:txBody>
      </p:sp>
      <p:sp>
        <p:nvSpPr>
          <p:cNvPr id="25" name="Text 17"/>
          <p:cNvSpPr/>
          <p:nvPr/>
        </p:nvSpPr>
        <p:spPr>
          <a:xfrm>
            <a:off x="918418" y="4647009"/>
            <a:ext cx="157163" cy="28575"/>
          </a:xfrm>
          <a:prstGeom prst="roundRect">
            <a:avLst>
              <a:gd name="adj" fmla="val 66667"/>
            </a:avLst>
          </a:prstGeom>
          <a:solidFill>
            <a:srgbClr val="64748B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18"/>
          <p:cNvSpPr/>
          <p:nvPr/>
        </p:nvSpPr>
        <p:spPr>
          <a:xfrm>
            <a:off x="1118443" y="4647009"/>
            <a:ext cx="157163" cy="28575"/>
          </a:xfrm>
          <a:prstGeom prst="roundRect">
            <a:avLst>
              <a:gd name="adj" fmla="val 66667"/>
            </a:avLst>
          </a:prstGeom>
          <a:solidFill>
            <a:srgbClr val="64748B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19"/>
          <p:cNvSpPr/>
          <p:nvPr/>
        </p:nvSpPr>
        <p:spPr>
          <a:xfrm>
            <a:off x="1318468" y="4647009"/>
            <a:ext cx="157163" cy="28575"/>
          </a:xfrm>
          <a:prstGeom prst="roundRect">
            <a:avLst>
              <a:gd name="adj" fmla="val 66667"/>
            </a:avLst>
          </a:prstGeom>
          <a:solidFill>
            <a:srgbClr val="64748B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0"/>
          <p:cNvSpPr/>
          <p:nvPr/>
        </p:nvSpPr>
        <p:spPr>
          <a:xfrm>
            <a:off x="1518493" y="4647009"/>
            <a:ext cx="157163" cy="28575"/>
          </a:xfrm>
          <a:prstGeom prst="roundRect">
            <a:avLst>
              <a:gd name="adj" fmla="val 66667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1"/>
          <p:cNvSpPr/>
          <p:nvPr/>
        </p:nvSpPr>
        <p:spPr>
          <a:xfrm>
            <a:off x="1718518" y="4647009"/>
            <a:ext cx="157163" cy="28575"/>
          </a:xfrm>
          <a:prstGeom prst="roundRect">
            <a:avLst>
              <a:gd name="adj" fmla="val 66667"/>
            </a:avLst>
          </a:prstGeom>
          <a:solidFill>
            <a:srgbClr val="64748B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2"/>
          <p:cNvSpPr/>
          <p:nvPr/>
        </p:nvSpPr>
        <p:spPr>
          <a:xfrm>
            <a:off x="1930671" y="4607719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kern="0" spc="68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05</a:t>
            </a:r>
            <a:endParaRPr lang="en-US" sz="800" dirty="0"/>
          </a:p>
        </p:txBody>
      </p:sp>
      <p:sp>
        <p:nvSpPr>
          <p:cNvPr id="31" name="Text 23"/>
          <p:cNvSpPr/>
          <p:nvPr/>
        </p:nvSpPr>
        <p:spPr>
          <a:xfrm>
            <a:off x="457200" y="4868466"/>
            <a:ext cx="78837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04 — IMPROVE</a:t>
            </a:r>
            <a:endParaRPr lang="en-US" sz="800" dirty="0"/>
          </a:p>
        </p:txBody>
      </p:sp>
      <p:sp>
        <p:nvSpPr>
          <p:cNvPr id="32" name="Text 24"/>
          <p:cNvSpPr/>
          <p:nvPr/>
        </p:nvSpPr>
        <p:spPr>
          <a:xfrm>
            <a:off x="8355285" y="4868466"/>
            <a:ext cx="476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 / 20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77190" y="274391"/>
            <a:ext cx="1055444" cy="212027"/>
          </a:xfrm>
          <a:prstGeom prst="roundRect">
            <a:avLst>
              <a:gd name="adj" fmla="val 17969"/>
            </a:avLst>
          </a:prstGeom>
          <a:solidFill>
            <a:srgbClr val="3B82F6">
              <a:alpha val="16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607219" y="328613"/>
            <a:ext cx="723974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THURSDAY · PPSR</a:t>
            </a:r>
            <a:endParaRPr lang="en-US" sz="619" dirty="0"/>
          </a:p>
        </p:txBody>
      </p:sp>
      <p:sp>
        <p:nvSpPr>
          <p:cNvPr id="6" name="Text 2"/>
          <p:cNvSpPr/>
          <p:nvPr/>
        </p:nvSpPr>
        <p:spPr>
          <a:xfrm>
            <a:off x="478631" y="33754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844" dirty="0"/>
          </a:p>
        </p:txBody>
      </p:sp>
      <p:sp>
        <p:nvSpPr>
          <p:cNvPr id="7" name="Text 3"/>
          <p:cNvSpPr/>
          <p:nvPr/>
        </p:nvSpPr>
        <p:spPr>
          <a:xfrm>
            <a:off x="400050" y="603647"/>
            <a:ext cx="465201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kern="0" spc="-18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PPSR — Practical Problem Solving Reports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400050" y="977243"/>
            <a:ext cx="457200" cy="0"/>
          </a:xfrm>
          <a:prstGeom prst="line">
            <a:avLst/>
          </a:prstGeom>
          <a:noFill/>
          <a:ln w="7144">
            <a:solidFill>
              <a:srgbClr val="F1F5F9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00050" y="1116546"/>
            <a:ext cx="4229100" cy="526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Thursday, the SFM team reviews live PPSRs. Each PPSR leader presents their project, the coach walks through every stage of the problem-solving tool, and the best PPSRs are selected for external competition and monthly recognition.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400050" y="1724992"/>
            <a:ext cx="1894523" cy="4154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150" b="1" kern="0" spc="-63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133</a:t>
            </a:r>
            <a:endParaRPr lang="en-US" sz="3150" dirty="0"/>
          </a:p>
        </p:txBody>
      </p:sp>
      <p:sp>
        <p:nvSpPr>
          <p:cNvPr id="11" name="Text 7"/>
          <p:cNvSpPr/>
          <p:nvPr/>
        </p:nvSpPr>
        <p:spPr>
          <a:xfrm>
            <a:off x="400050" y="2167905"/>
            <a:ext cx="14793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PPSRS CLOSED IN 2024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698427" y="1810717"/>
            <a:ext cx="1948672" cy="3297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475" b="1" kern="0" spc="-49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₹7.55 Cr</a:t>
            </a:r>
            <a:endParaRPr lang="en-US" sz="2475" dirty="0"/>
          </a:p>
        </p:txBody>
      </p:sp>
      <p:sp>
        <p:nvSpPr>
          <p:cNvPr id="13" name="Text 9"/>
          <p:cNvSpPr/>
          <p:nvPr/>
        </p:nvSpPr>
        <p:spPr>
          <a:xfrm>
            <a:off x="1698427" y="2167905"/>
            <a:ext cx="1644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62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SCRAP-COST AVOIDANCE (INR)</a:t>
            </a:r>
            <a:endParaRPr lang="en-US" sz="619" dirty="0"/>
          </a:p>
        </p:txBody>
      </p:sp>
      <p:sp>
        <p:nvSpPr>
          <p:cNvPr id="14" name="Text 10"/>
          <p:cNvSpPr/>
          <p:nvPr/>
        </p:nvSpPr>
        <p:spPr>
          <a:xfrm>
            <a:off x="3335127" y="1810717"/>
            <a:ext cx="1656350" cy="3297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475" b="1" kern="0" spc="-49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€8.21 L</a:t>
            </a:r>
            <a:endParaRPr lang="en-US" sz="2475" dirty="0"/>
          </a:p>
        </p:txBody>
      </p:sp>
      <p:sp>
        <p:nvSpPr>
          <p:cNvPr id="15" name="Text 11"/>
          <p:cNvSpPr/>
          <p:nvPr/>
        </p:nvSpPr>
        <p:spPr>
          <a:xfrm>
            <a:off x="3335127" y="2167905"/>
            <a:ext cx="139754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62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SCRAP-COST AVOIDANCE (EUR)</a:t>
            </a:r>
            <a:endParaRPr lang="en-US" sz="619" dirty="0"/>
          </a:p>
        </p:txBody>
      </p:sp>
      <p:sp>
        <p:nvSpPr>
          <p:cNvPr id="16" name="Text 12"/>
          <p:cNvSpPr/>
          <p:nvPr/>
        </p:nvSpPr>
        <p:spPr>
          <a:xfrm>
            <a:off x="403622" y="2417936"/>
            <a:ext cx="4221956" cy="610791"/>
          </a:xfrm>
          <a:prstGeom prst="roundRect">
            <a:avLst>
              <a:gd name="adj" fmla="val 18713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521494" y="2521521"/>
            <a:ext cx="32894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62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PPSR LIFECYCLE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3825255" y="2526878"/>
            <a:ext cx="68245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56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WEEKLY CADENCE</a:t>
            </a:r>
            <a:endParaRPr lang="en-US" sz="600" dirty="0"/>
          </a:p>
        </p:txBody>
      </p:sp>
      <p:sp>
        <p:nvSpPr>
          <p:cNvPr id="19" name="Text 15"/>
          <p:cNvSpPr/>
          <p:nvPr/>
        </p:nvSpPr>
        <p:spPr>
          <a:xfrm>
            <a:off x="521494" y="2698028"/>
            <a:ext cx="554645" cy="239916"/>
          </a:xfrm>
          <a:prstGeom prst="roundRect">
            <a:avLst>
              <a:gd name="adj" fmla="val 15881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520879" y="2710830"/>
            <a:ext cx="55587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kern="0" spc="5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PRESENT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1133289" y="275369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22" name="Text 18"/>
          <p:cNvSpPr/>
          <p:nvPr/>
        </p:nvSpPr>
        <p:spPr>
          <a:xfrm>
            <a:off x="1319026" y="2698028"/>
            <a:ext cx="458651" cy="239916"/>
          </a:xfrm>
          <a:prstGeom prst="roundRect">
            <a:avLst>
              <a:gd name="adj" fmla="val 15881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1319026" y="2710830"/>
            <a:ext cx="45865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kern="0" spc="5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COACH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1834828" y="275369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25" name="Text 21"/>
          <p:cNvSpPr/>
          <p:nvPr/>
        </p:nvSpPr>
        <p:spPr>
          <a:xfrm>
            <a:off x="2020565" y="2698028"/>
            <a:ext cx="621506" cy="239916"/>
          </a:xfrm>
          <a:prstGeom prst="roundRect">
            <a:avLst>
              <a:gd name="adj" fmla="val 15881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2016216" y="2710830"/>
            <a:ext cx="63020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kern="0" spc="5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COMPLETE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2699221" y="275369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28" name="Text 24"/>
          <p:cNvSpPr/>
          <p:nvPr/>
        </p:nvSpPr>
        <p:spPr>
          <a:xfrm>
            <a:off x="2884959" y="2698028"/>
            <a:ext cx="659011" cy="239916"/>
          </a:xfrm>
          <a:prstGeom prst="roundRect">
            <a:avLst>
              <a:gd name="adj" fmla="val 15881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2862197" y="2710830"/>
            <a:ext cx="70453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kern="0" spc="5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RECOGNIZE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400050" y="4741664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1125" dirty="0"/>
          </a:p>
        </p:txBody>
      </p:sp>
      <p:sp>
        <p:nvSpPr>
          <p:cNvPr id="31" name="Text 27"/>
          <p:cNvSpPr/>
          <p:nvPr/>
        </p:nvSpPr>
        <p:spPr>
          <a:xfrm>
            <a:off x="571500" y="4739878"/>
            <a:ext cx="4057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Best PPSR of the Month — Appreciation Certificate &amp; Cash Prize.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5036344" y="0"/>
            <a:ext cx="0" cy="5143500"/>
          </a:xfrm>
          <a:prstGeom prst="line">
            <a:avLst/>
          </a:prstGeom>
          <a:noFill/>
          <a:ln w="14288">
            <a:solidFill>
              <a:srgbClr val="3B82F6"/>
            </a:solidFill>
            <a:prstDash val="solid"/>
          </a:ln>
        </p:spPr>
      </p:sp>
      <p:pic>
        <p:nvPicPr>
          <p:cNvPr id="33" name="Image 2" descr="/tmp/h2p-fit-1785461420382-ghzvd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3488" y="0"/>
            <a:ext cx="4100513" cy="5143500"/>
          </a:xfrm>
          <a:prstGeom prst="rect">
            <a:avLst/>
          </a:prstGeom>
        </p:spPr>
      </p:pic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3488" y="0"/>
            <a:ext cx="4100513" cy="514350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8076701" y="4799957"/>
            <a:ext cx="947284" cy="212027"/>
          </a:xfrm>
          <a:prstGeom prst="roundRect">
            <a:avLst>
              <a:gd name="adj" fmla="val 17969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0"/>
          <p:cNvSpPr/>
          <p:nvPr/>
        </p:nvSpPr>
        <p:spPr>
          <a:xfrm>
            <a:off x="8099561" y="4811316"/>
            <a:ext cx="90156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BEST PPSR · 2024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457200" y="4868466"/>
            <a:ext cx="78837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THURSDAY · PPSR</a:t>
            </a:r>
            <a:endParaRPr lang="en-US" sz="800" dirty="0"/>
          </a:p>
        </p:txBody>
      </p:sp>
      <p:sp>
        <p:nvSpPr>
          <p:cNvPr id="38" name="Text 32"/>
          <p:cNvSpPr/>
          <p:nvPr/>
        </p:nvSpPr>
        <p:spPr>
          <a:xfrm>
            <a:off x="8355285" y="4868466"/>
            <a:ext cx="476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 / 20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17241"/>
            <a:ext cx="943645" cy="212027"/>
          </a:xfrm>
          <a:prstGeom prst="roundRect">
            <a:avLst>
              <a:gd name="adj" fmla="val 17969"/>
            </a:avLst>
          </a:prstGeom>
          <a:solidFill>
            <a:srgbClr val="3B82F6">
              <a:alpha val="16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664369" y="271463"/>
            <a:ext cx="772195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FRIDAY · KAIZEN</a:t>
            </a:r>
            <a:endParaRPr lang="en-US" sz="619" dirty="0"/>
          </a:p>
        </p:txBody>
      </p:sp>
      <p:sp>
        <p:nvSpPr>
          <p:cNvPr id="6" name="Text 2"/>
          <p:cNvSpPr/>
          <p:nvPr/>
        </p:nvSpPr>
        <p:spPr>
          <a:xfrm>
            <a:off x="535781" y="28039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844" dirty="0"/>
          </a:p>
        </p:txBody>
      </p:sp>
      <p:sp>
        <p:nvSpPr>
          <p:cNvPr id="7" name="Text 3"/>
          <p:cNvSpPr/>
          <p:nvPr/>
        </p:nvSpPr>
        <p:spPr>
          <a:xfrm>
            <a:off x="1472282" y="264319"/>
            <a:ext cx="721451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DAILY SFM CALENDAR · DAY 5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457200" y="489347"/>
            <a:ext cx="863600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kern="0" spc="-18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Kaizen Tree — 441 ideas, ₹11.74 L saved in 2024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457200" y="809365"/>
            <a:ext cx="6429375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Friday, the SFM team visits the Kaizen Tree, collects every suggestion, reviews each one, and assigns the implementable ideas to a designated owner. The Cross-Functional Team then evaluates effectiveness across PQCDSM.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460772" y="1208522"/>
            <a:ext cx="2626221" cy="2093119"/>
          </a:xfrm>
          <a:prstGeom prst="roundRect">
            <a:avLst>
              <a:gd name="adj" fmla="val 5461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92931" y="1340681"/>
            <a:ext cx="20392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62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KAIZEN PROCESS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2607462" y="1346039"/>
            <a:ext cx="38633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45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STEPS</a:t>
            </a:r>
            <a:endParaRPr lang="en-US" sz="600" dirty="0"/>
          </a:p>
        </p:txBody>
      </p:sp>
      <p:sp>
        <p:nvSpPr>
          <p:cNvPr id="13" name="Shape 9"/>
          <p:cNvSpPr/>
          <p:nvPr/>
        </p:nvSpPr>
        <p:spPr>
          <a:xfrm>
            <a:off x="592931" y="1744303"/>
            <a:ext cx="2361902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dash"/>
          </a:ln>
        </p:spPr>
      </p:sp>
      <p:sp>
        <p:nvSpPr>
          <p:cNvPr id="14" name="Text 10"/>
          <p:cNvSpPr/>
          <p:nvPr/>
        </p:nvSpPr>
        <p:spPr>
          <a:xfrm>
            <a:off x="592931" y="1572853"/>
            <a:ext cx="205740" cy="125016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792956" y="1572853"/>
            <a:ext cx="2161877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Pick up a blank form from the bin.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592931" y="1962187"/>
            <a:ext cx="2361902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dash"/>
          </a:ln>
        </p:spPr>
      </p:sp>
      <p:sp>
        <p:nvSpPr>
          <p:cNvPr id="17" name="Text 13"/>
          <p:cNvSpPr/>
          <p:nvPr/>
        </p:nvSpPr>
        <p:spPr>
          <a:xfrm>
            <a:off x="592931" y="1790737"/>
            <a:ext cx="205740" cy="125016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792956" y="1790737"/>
            <a:ext cx="2161877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Fill in the kaizen details, hang on tree.</a:t>
            </a:r>
            <a:endParaRPr lang="en-US" sz="675" dirty="0"/>
          </a:p>
        </p:txBody>
      </p:sp>
      <p:sp>
        <p:nvSpPr>
          <p:cNvPr id="19" name="Shape 15"/>
          <p:cNvSpPr/>
          <p:nvPr/>
        </p:nvSpPr>
        <p:spPr>
          <a:xfrm>
            <a:off x="592931" y="2180072"/>
            <a:ext cx="2361902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dash"/>
          </a:ln>
        </p:spPr>
      </p:sp>
      <p:sp>
        <p:nvSpPr>
          <p:cNvPr id="20" name="Text 16"/>
          <p:cNvSpPr/>
          <p:nvPr/>
        </p:nvSpPr>
        <p:spPr>
          <a:xfrm>
            <a:off x="592931" y="2008622"/>
            <a:ext cx="205740" cy="125016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792956" y="2008622"/>
            <a:ext cx="2161877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Reviewed weekly by SFM team — assigned.</a:t>
            </a:r>
            <a:endParaRPr lang="en-US" sz="675" dirty="0"/>
          </a:p>
        </p:txBody>
      </p:sp>
      <p:sp>
        <p:nvSpPr>
          <p:cNvPr id="22" name="Shape 18"/>
          <p:cNvSpPr/>
          <p:nvPr/>
        </p:nvSpPr>
        <p:spPr>
          <a:xfrm>
            <a:off x="592931" y="2397956"/>
            <a:ext cx="2361902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dash"/>
          </a:ln>
        </p:spPr>
      </p:sp>
      <p:sp>
        <p:nvSpPr>
          <p:cNvPr id="23" name="Text 19"/>
          <p:cNvSpPr/>
          <p:nvPr/>
        </p:nvSpPr>
        <p:spPr>
          <a:xfrm>
            <a:off x="592931" y="2226506"/>
            <a:ext cx="205740" cy="125016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792956" y="2226506"/>
            <a:ext cx="2161877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Placed in Rejected or Implemented box.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592931" y="2444390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792956" y="2444390"/>
            <a:ext cx="2161877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Implemented ideas awarded gift coupon at All-Hands.</a:t>
            </a:r>
            <a:endParaRPr lang="en-US" sz="675" dirty="0"/>
          </a:p>
        </p:txBody>
      </p:sp>
      <p:sp>
        <p:nvSpPr>
          <p:cNvPr id="27" name="Shape 23"/>
          <p:cNvSpPr/>
          <p:nvPr/>
        </p:nvSpPr>
        <p:spPr>
          <a:xfrm>
            <a:off x="592931" y="2987315"/>
            <a:ext cx="2361902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92931" y="306589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984" dirty="0"/>
          </a:p>
        </p:txBody>
      </p:sp>
      <p:sp>
        <p:nvSpPr>
          <p:cNvPr id="29" name="Text 25"/>
          <p:cNvSpPr/>
          <p:nvPr/>
        </p:nvSpPr>
        <p:spPr>
          <a:xfrm>
            <a:off x="735806" y="3062325"/>
            <a:ext cx="2219027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45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CFT REVIEW · PQCDSM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3208437" y="1208522"/>
            <a:ext cx="2955503" cy="2093119"/>
          </a:xfrm>
          <a:prstGeom prst="roundRect">
            <a:avLst>
              <a:gd name="adj" fmla="val 5461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3340596" y="1340681"/>
            <a:ext cx="269118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62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KAIZEN — AIR FLOW NOISE REDUCTION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3340596" y="1487128"/>
            <a:ext cx="2800913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MF2-EMEGR 2 · Station 20 · Team: Nilam Dhuri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3321808" y="1665079"/>
            <a:ext cx="507278" cy="212027"/>
          </a:xfrm>
          <a:prstGeom prst="roundRect">
            <a:avLst>
              <a:gd name="adj" fmla="val 17969"/>
            </a:avLst>
          </a:prstGeom>
          <a:solidFill>
            <a:srgbClr val="3B82F6">
              <a:alpha val="16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3334675" y="1676437"/>
            <a:ext cx="48154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BEFORE</a:t>
            </a:r>
            <a:endParaRPr lang="en-US" sz="800" dirty="0"/>
          </a:p>
        </p:txBody>
      </p:sp>
      <p:pic>
        <p:nvPicPr>
          <p:cNvPr id="35" name="Image 2" descr="/tmp/h2p-fit-1785461426160-e4lqy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0596" y="1908609"/>
            <a:ext cx="1309874" cy="1071563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4705820" y="1665079"/>
            <a:ext cx="434344" cy="212027"/>
          </a:xfrm>
          <a:prstGeom prst="roundRect">
            <a:avLst>
              <a:gd name="adj" fmla="val 17969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2"/>
          <p:cNvSpPr/>
          <p:nvPr/>
        </p:nvSpPr>
        <p:spPr>
          <a:xfrm>
            <a:off x="4719386" y="1676437"/>
            <a:ext cx="40721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AFTER</a:t>
            </a:r>
            <a:endParaRPr lang="en-US" sz="800" dirty="0"/>
          </a:p>
        </p:txBody>
      </p:sp>
      <p:pic>
        <p:nvPicPr>
          <p:cNvPr id="38" name="Image 3" descr="/tmp/h2p-fit-1785461426432-wa0nc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1907" y="1908609"/>
            <a:ext cx="1309874" cy="1071563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3340596" y="306053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↘</a:t>
            </a:r>
            <a:endParaRPr lang="en-US" sz="984" dirty="0"/>
          </a:p>
        </p:txBody>
      </p:sp>
      <p:sp>
        <p:nvSpPr>
          <p:cNvPr id="40" name="Text 34"/>
          <p:cNvSpPr/>
          <p:nvPr/>
        </p:nvSpPr>
        <p:spPr>
          <a:xfrm>
            <a:off x="3483471" y="3051609"/>
            <a:ext cx="254831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Noise reduced 109 dB → 75 dB</a:t>
            </a:r>
            <a:endParaRPr lang="en-US" sz="800" dirty="0"/>
          </a:p>
        </p:txBody>
      </p:sp>
      <p:sp>
        <p:nvSpPr>
          <p:cNvPr id="41" name="Text 35"/>
          <p:cNvSpPr/>
          <p:nvPr/>
        </p:nvSpPr>
        <p:spPr>
          <a:xfrm>
            <a:off x="6285384" y="1208522"/>
            <a:ext cx="2397844" cy="2093119"/>
          </a:xfrm>
          <a:prstGeom prst="roundRect">
            <a:avLst>
              <a:gd name="adj" fmla="val 5461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6"/>
          <p:cNvSpPr/>
          <p:nvPr/>
        </p:nvSpPr>
        <p:spPr>
          <a:xfrm>
            <a:off x="6417543" y="1340681"/>
            <a:ext cx="14625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62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KPI IMPACT</a:t>
            </a:r>
            <a:endParaRPr lang="en-US" sz="800" dirty="0"/>
          </a:p>
        </p:txBody>
      </p:sp>
      <p:sp>
        <p:nvSpPr>
          <p:cNvPr id="43" name="Text 37"/>
          <p:cNvSpPr/>
          <p:nvPr/>
        </p:nvSpPr>
        <p:spPr>
          <a:xfrm>
            <a:off x="7894402" y="1346039"/>
            <a:ext cx="65666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45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BEFORE VS AFTER</a:t>
            </a:r>
            <a:endParaRPr lang="en-US" sz="600" dirty="0"/>
          </a:p>
        </p:txBody>
      </p:sp>
      <p:sp>
        <p:nvSpPr>
          <p:cNvPr id="44" name="Text 38"/>
          <p:cNvSpPr/>
          <p:nvPr/>
        </p:nvSpPr>
        <p:spPr>
          <a:xfrm>
            <a:off x="6399894" y="1519275"/>
            <a:ext cx="476537" cy="200025"/>
          </a:xfrm>
          <a:prstGeom prst="roundRect">
            <a:avLst>
              <a:gd name="adj" fmla="val 19048"/>
            </a:avLst>
          </a:prstGeom>
          <a:solidFill>
            <a:srgbClr val="3B82F6">
              <a:alpha val="16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9"/>
          <p:cNvSpPr/>
          <p:nvPr/>
        </p:nvSpPr>
        <p:spPr>
          <a:xfrm>
            <a:off x="6397391" y="1529990"/>
            <a:ext cx="48154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45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BEFORE</a:t>
            </a:r>
            <a:endParaRPr lang="en-US" sz="800" dirty="0"/>
          </a:p>
        </p:txBody>
      </p:sp>
      <p:sp>
        <p:nvSpPr>
          <p:cNvPr id="46" name="Text 40"/>
          <p:cNvSpPr/>
          <p:nvPr/>
        </p:nvSpPr>
        <p:spPr>
          <a:xfrm>
            <a:off x="6417543" y="1765734"/>
            <a:ext cx="137773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800" b="1" kern="0" spc="45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</a:t>
            </a:r>
            <a:endParaRPr lang="en-US" sz="800" dirty="0"/>
          </a:p>
        </p:txBody>
      </p:sp>
      <p:sp>
        <p:nvSpPr>
          <p:cNvPr id="47" name="Text 41"/>
          <p:cNvSpPr/>
          <p:nvPr/>
        </p:nvSpPr>
        <p:spPr>
          <a:xfrm>
            <a:off x="6417543" y="1880034"/>
            <a:ext cx="93287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619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Heavy noise — 109 dB</a:t>
            </a:r>
            <a:endParaRPr lang="en-US" sz="619" dirty="0"/>
          </a:p>
        </p:txBody>
      </p:sp>
      <p:sp>
        <p:nvSpPr>
          <p:cNvPr id="48" name="Text 42"/>
          <p:cNvSpPr/>
          <p:nvPr/>
        </p:nvSpPr>
        <p:spPr>
          <a:xfrm>
            <a:off x="6417543" y="1989981"/>
            <a:ext cx="756139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619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 ear-plug use</a:t>
            </a:r>
            <a:endParaRPr lang="en-US" sz="619" dirty="0"/>
          </a:p>
        </p:txBody>
      </p:sp>
      <p:sp>
        <p:nvSpPr>
          <p:cNvPr id="49" name="Text 43"/>
          <p:cNvSpPr/>
          <p:nvPr/>
        </p:nvSpPr>
        <p:spPr>
          <a:xfrm>
            <a:off x="6417543" y="2157078"/>
            <a:ext cx="137773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800" b="1" kern="0" spc="45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MORALE</a:t>
            </a:r>
            <a:endParaRPr lang="en-US" sz="800" dirty="0"/>
          </a:p>
        </p:txBody>
      </p:sp>
      <p:sp>
        <p:nvSpPr>
          <p:cNvPr id="50" name="Text 44"/>
          <p:cNvSpPr/>
          <p:nvPr/>
        </p:nvSpPr>
        <p:spPr>
          <a:xfrm>
            <a:off x="6417543" y="2271378"/>
            <a:ext cx="915103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619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Excess noise each cycle</a:t>
            </a:r>
            <a:endParaRPr lang="en-US" sz="619" dirty="0"/>
          </a:p>
        </p:txBody>
      </p:sp>
      <p:sp>
        <p:nvSpPr>
          <p:cNvPr id="51" name="Text 45"/>
          <p:cNvSpPr/>
          <p:nvPr/>
        </p:nvSpPr>
        <p:spPr>
          <a:xfrm>
            <a:off x="7504826" y="1519275"/>
            <a:ext cx="410355" cy="200025"/>
          </a:xfrm>
          <a:prstGeom prst="roundRect">
            <a:avLst>
              <a:gd name="adj" fmla="val 19048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6"/>
          <p:cNvSpPr/>
          <p:nvPr/>
        </p:nvSpPr>
        <p:spPr>
          <a:xfrm>
            <a:off x="7506397" y="1529990"/>
            <a:ext cx="40721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45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AFTER</a:t>
            </a:r>
            <a:endParaRPr lang="en-US" sz="800" dirty="0"/>
          </a:p>
        </p:txBody>
      </p:sp>
      <p:sp>
        <p:nvSpPr>
          <p:cNvPr id="53" name="Text 47"/>
          <p:cNvSpPr/>
          <p:nvPr/>
        </p:nvSpPr>
        <p:spPr>
          <a:xfrm>
            <a:off x="7520025" y="1765734"/>
            <a:ext cx="103104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800" b="1" kern="0" spc="45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</a:t>
            </a:r>
            <a:endParaRPr lang="en-US" sz="800" dirty="0"/>
          </a:p>
        </p:txBody>
      </p:sp>
      <p:sp>
        <p:nvSpPr>
          <p:cNvPr id="54" name="Text 48"/>
          <p:cNvSpPr/>
          <p:nvPr/>
        </p:nvSpPr>
        <p:spPr>
          <a:xfrm>
            <a:off x="7520025" y="1880034"/>
            <a:ext cx="98795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619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Reduced noise — 75 dB</a:t>
            </a:r>
            <a:endParaRPr lang="en-US" sz="619" dirty="0"/>
          </a:p>
        </p:txBody>
      </p:sp>
      <p:sp>
        <p:nvSpPr>
          <p:cNvPr id="55" name="Text 49"/>
          <p:cNvSpPr/>
          <p:nvPr/>
        </p:nvSpPr>
        <p:spPr>
          <a:xfrm>
            <a:off x="7520025" y="1989981"/>
            <a:ext cx="772492" cy="139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619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Ear-plug eliminated</a:t>
            </a:r>
            <a:endParaRPr lang="en-US" sz="619" dirty="0"/>
          </a:p>
        </p:txBody>
      </p:sp>
      <p:sp>
        <p:nvSpPr>
          <p:cNvPr id="56" name="Text 50"/>
          <p:cNvSpPr/>
          <p:nvPr/>
        </p:nvSpPr>
        <p:spPr>
          <a:xfrm>
            <a:off x="7520025" y="2157078"/>
            <a:ext cx="103104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800" b="1" kern="0" spc="45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MORALE</a:t>
            </a:r>
            <a:endParaRPr lang="en-US" sz="800" dirty="0"/>
          </a:p>
        </p:txBody>
      </p:sp>
      <p:sp>
        <p:nvSpPr>
          <p:cNvPr id="57" name="Text 51"/>
          <p:cNvSpPr/>
          <p:nvPr/>
        </p:nvSpPr>
        <p:spPr>
          <a:xfrm>
            <a:off x="7520025" y="2271378"/>
            <a:ext cx="961573" cy="293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Improved operator working condition</a:t>
            </a:r>
            <a:endParaRPr lang="en-US" sz="800" dirty="0"/>
          </a:p>
        </p:txBody>
      </p:sp>
      <p:sp>
        <p:nvSpPr>
          <p:cNvPr id="58" name="Shape 52"/>
          <p:cNvSpPr/>
          <p:nvPr/>
        </p:nvSpPr>
        <p:spPr>
          <a:xfrm>
            <a:off x="6417543" y="2987315"/>
            <a:ext cx="2133526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59" name="Text 53"/>
          <p:cNvSpPr/>
          <p:nvPr/>
        </p:nvSpPr>
        <p:spPr>
          <a:xfrm>
            <a:off x="6417543" y="306589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60" name="Text 54"/>
          <p:cNvSpPr/>
          <p:nvPr/>
        </p:nvSpPr>
        <p:spPr>
          <a:xfrm>
            <a:off x="6560418" y="3062325"/>
            <a:ext cx="199065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45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IMPLEMENTED &amp; SUSTAINED</a:t>
            </a:r>
            <a:endParaRPr lang="en-US" sz="800" dirty="0"/>
          </a:p>
        </p:txBody>
      </p:sp>
      <p:sp>
        <p:nvSpPr>
          <p:cNvPr id="61" name="Text 55"/>
          <p:cNvSpPr/>
          <p:nvPr/>
        </p:nvSpPr>
        <p:spPr>
          <a:xfrm>
            <a:off x="460772" y="3408797"/>
            <a:ext cx="8222456" cy="567928"/>
          </a:xfrm>
          <a:prstGeom prst="roundRect">
            <a:avLst>
              <a:gd name="adj" fmla="val 20126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6"/>
          <p:cNvSpPr/>
          <p:nvPr/>
        </p:nvSpPr>
        <p:spPr>
          <a:xfrm>
            <a:off x="1767743" y="3498093"/>
            <a:ext cx="477024" cy="2440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kern="0" spc="-27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441</a:t>
            </a:r>
            <a:endParaRPr lang="en-US" sz="1350" dirty="0"/>
          </a:p>
        </p:txBody>
      </p:sp>
      <p:sp>
        <p:nvSpPr>
          <p:cNvPr id="63" name="Text 57"/>
          <p:cNvSpPr/>
          <p:nvPr/>
        </p:nvSpPr>
        <p:spPr>
          <a:xfrm>
            <a:off x="1240097" y="3769556"/>
            <a:ext cx="1353544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KAIZENS IMPLEMENTED (2024)</a:t>
            </a:r>
            <a:endParaRPr lang="en-US" sz="619" dirty="0"/>
          </a:p>
        </p:txBody>
      </p:sp>
      <p:sp>
        <p:nvSpPr>
          <p:cNvPr id="64" name="Text 58"/>
          <p:cNvSpPr/>
          <p:nvPr/>
        </p:nvSpPr>
        <p:spPr>
          <a:xfrm>
            <a:off x="3240807" y="3498093"/>
            <a:ext cx="7144" cy="389334"/>
          </a:xfrm>
          <a:prstGeom prst="rect">
            <a:avLst/>
          </a:prstGeom>
          <a:solidFill>
            <a:srgbClr val="60A5FA">
              <a:alpha val="2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59"/>
          <p:cNvSpPr/>
          <p:nvPr/>
        </p:nvSpPr>
        <p:spPr>
          <a:xfrm>
            <a:off x="4041519" y="3498093"/>
            <a:ext cx="1211157" cy="2440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kern="0" spc="-27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₹11,74,000</a:t>
            </a:r>
            <a:endParaRPr lang="en-US" sz="1350" dirty="0"/>
          </a:p>
        </p:txBody>
      </p:sp>
      <p:sp>
        <p:nvSpPr>
          <p:cNvPr id="66" name="Text 60"/>
          <p:cNvSpPr/>
          <p:nvPr/>
        </p:nvSpPr>
        <p:spPr>
          <a:xfrm>
            <a:off x="4267651" y="3769556"/>
            <a:ext cx="60847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SAVED (INR)</a:t>
            </a:r>
            <a:endParaRPr lang="en-US" sz="619" dirty="0"/>
          </a:p>
        </p:txBody>
      </p:sp>
      <p:sp>
        <p:nvSpPr>
          <p:cNvPr id="67" name="Text 61"/>
          <p:cNvSpPr/>
          <p:nvPr/>
        </p:nvSpPr>
        <p:spPr>
          <a:xfrm>
            <a:off x="5895938" y="3498093"/>
            <a:ext cx="7144" cy="389334"/>
          </a:xfrm>
          <a:prstGeom prst="rect">
            <a:avLst/>
          </a:prstGeom>
          <a:solidFill>
            <a:srgbClr val="60A5FA">
              <a:alpha val="2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62"/>
          <p:cNvSpPr/>
          <p:nvPr/>
        </p:nvSpPr>
        <p:spPr>
          <a:xfrm>
            <a:off x="7019739" y="3498093"/>
            <a:ext cx="663476" cy="2440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kern="0" spc="-27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endParaRPr lang="en-US" sz="1350" dirty="0"/>
          </a:p>
        </p:txBody>
      </p:sp>
      <p:sp>
        <p:nvSpPr>
          <p:cNvPr id="69" name="Text 63"/>
          <p:cNvSpPr/>
          <p:nvPr/>
        </p:nvSpPr>
        <p:spPr>
          <a:xfrm>
            <a:off x="6384968" y="3769556"/>
            <a:ext cx="1684215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BE ASSESSMENT SCORE 2023 &amp; 2024</a:t>
            </a:r>
            <a:endParaRPr lang="en-US" sz="619" dirty="0"/>
          </a:p>
        </p:txBody>
      </p:sp>
      <p:sp>
        <p:nvSpPr>
          <p:cNvPr id="70" name="Text 64"/>
          <p:cNvSpPr/>
          <p:nvPr/>
        </p:nvSpPr>
        <p:spPr>
          <a:xfrm>
            <a:off x="457200" y="4868466"/>
            <a:ext cx="78837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FRIDAY · KAIZEN</a:t>
            </a:r>
            <a:endParaRPr lang="en-US" sz="800" dirty="0"/>
          </a:p>
        </p:txBody>
      </p:sp>
      <p:sp>
        <p:nvSpPr>
          <p:cNvPr id="71" name="Text 65"/>
          <p:cNvSpPr/>
          <p:nvPr/>
        </p:nvSpPr>
        <p:spPr>
          <a:xfrm>
            <a:off x="8355285" y="4868466"/>
            <a:ext cx="476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 / 20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0" y="-857250"/>
            <a:ext cx="3429000" cy="34290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6572250" y="-857250"/>
            <a:ext cx="3429000" cy="3429000"/>
          </a:xfrm>
          <a:prstGeom prst="ellipse">
            <a:avLst/>
          </a:prstGeom>
          <a:solidFill>
            <a:srgbClr val="3B82F6">
              <a:alpha val="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571500" y="3286125"/>
            <a:ext cx="3000375" cy="3000375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-571500" y="3286125"/>
            <a:ext cx="3000375" cy="3000375"/>
          </a:xfrm>
          <a:prstGeom prst="ellipse">
            <a:avLst/>
          </a:prstGeom>
          <a:solidFill>
            <a:srgbClr val="FBBF24">
              <a:alpha val="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2"/>
          <p:cNvSpPr/>
          <p:nvPr/>
        </p:nvSpPr>
        <p:spPr>
          <a:xfrm>
            <a:off x="457200" y="426839"/>
            <a:ext cx="300038" cy="21431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3"/>
          <p:cNvSpPr/>
          <p:nvPr/>
        </p:nvSpPr>
        <p:spPr>
          <a:xfrm>
            <a:off x="857250" y="378619"/>
            <a:ext cx="271621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2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SHOP FLOOR MANAGEMENT · SECTION DIVIDER</a:t>
            </a:r>
            <a:endParaRPr lang="en-US" sz="800" dirty="0"/>
          </a:p>
        </p:txBody>
      </p:sp>
      <p:sp>
        <p:nvSpPr>
          <p:cNvPr id="11" name="Text 4"/>
          <p:cNvSpPr/>
          <p:nvPr/>
        </p:nvSpPr>
        <p:spPr>
          <a:xfrm>
            <a:off x="7737150" y="331541"/>
            <a:ext cx="972510" cy="212027"/>
          </a:xfrm>
          <a:prstGeom prst="roundRect">
            <a:avLst>
              <a:gd name="adj" fmla="val 17969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5"/>
          <p:cNvSpPr/>
          <p:nvPr/>
        </p:nvSpPr>
        <p:spPr>
          <a:xfrm>
            <a:off x="7760010" y="342900"/>
            <a:ext cx="92679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05 OF 05</a:t>
            </a:r>
            <a:endParaRPr lang="en-US" sz="800" dirty="0"/>
          </a:p>
        </p:txBody>
      </p:sp>
      <p:sp>
        <p:nvSpPr>
          <p:cNvPr id="13" name="Text 6"/>
          <p:cNvSpPr/>
          <p:nvPr/>
        </p:nvSpPr>
        <p:spPr>
          <a:xfrm>
            <a:off x="514350" y="2043113"/>
            <a:ext cx="3070384" cy="1573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75"/>
              </a:lnSpc>
              <a:buNone/>
            </a:pPr>
            <a:r>
              <a:rPr lang="en-US" sz="13500" b="1" kern="0" spc="-540" dirty="0">
                <a:solidFill>
                  <a:srgbClr val="FFFFFF">
                    <a:alpha val="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13500" dirty="0"/>
          </a:p>
        </p:txBody>
      </p:sp>
      <p:sp>
        <p:nvSpPr>
          <p:cNvPr id="14" name="Text 7"/>
          <p:cNvSpPr/>
          <p:nvPr/>
        </p:nvSpPr>
        <p:spPr>
          <a:xfrm>
            <a:off x="457200" y="1985963"/>
            <a:ext cx="3070384" cy="1573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75"/>
              </a:lnSpc>
              <a:buNone/>
            </a:pPr>
            <a:r>
              <a:rPr lang="en-US" sz="13500" b="1" kern="0" spc="-540" dirty="0">
                <a:solidFill>
                  <a:srgbClr val="3B82F6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135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9090" y="1714500"/>
            <a:ext cx="7144" cy="200025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3069134" y="1691060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69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969" dirty="0"/>
          </a:p>
        </p:txBody>
      </p:sp>
      <p:sp>
        <p:nvSpPr>
          <p:cNvPr id="17" name="Text 9"/>
          <p:cNvSpPr/>
          <p:nvPr/>
        </p:nvSpPr>
        <p:spPr>
          <a:xfrm>
            <a:off x="3354884" y="1721421"/>
            <a:ext cx="41433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117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CONTROL &amp; SUSTAIN</a:t>
            </a:r>
            <a:endParaRPr lang="en-US" sz="800" dirty="0"/>
          </a:p>
        </p:txBody>
      </p:sp>
      <p:sp>
        <p:nvSpPr>
          <p:cNvPr id="18" name="Text 10"/>
          <p:cNvSpPr/>
          <p:nvPr/>
        </p:nvSpPr>
        <p:spPr>
          <a:xfrm>
            <a:off x="3069134" y="2019672"/>
            <a:ext cx="5669280" cy="51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kern="0" spc="-72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Control</a:t>
            </a:r>
            <a:endParaRPr lang="en-US" sz="3600" dirty="0"/>
          </a:p>
        </p:txBody>
      </p:sp>
      <p:sp>
        <p:nvSpPr>
          <p:cNvPr id="19" name="Shape 11"/>
          <p:cNvSpPr/>
          <p:nvPr/>
        </p:nvSpPr>
        <p:spPr>
          <a:xfrm>
            <a:off x="3069134" y="2638946"/>
            <a:ext cx="457200" cy="0"/>
          </a:xfrm>
          <a:prstGeom prst="line">
            <a:avLst/>
          </a:prstGeom>
          <a:noFill/>
          <a:ln w="7144">
            <a:solidFill>
              <a:srgbClr val="F1F5F9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3069134" y="2778249"/>
            <a:ext cx="4143375" cy="1036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Control and sustain the gains. A structured training pipeline builds problem-solvers, and the resulting culture shift shows up in the numbers — fewer breakdowns, better OEE, and ownership at every level.</a:t>
            </a:r>
            <a:endParaRPr lang="en-US" sz="1350" dirty="0"/>
          </a:p>
        </p:txBody>
      </p:sp>
      <p:sp>
        <p:nvSpPr>
          <p:cNvPr id="21" name="Text 13"/>
          <p:cNvSpPr/>
          <p:nvPr/>
        </p:nvSpPr>
        <p:spPr>
          <a:xfrm>
            <a:off x="7748089" y="4430611"/>
            <a:ext cx="961571" cy="297066"/>
          </a:xfrm>
          <a:prstGeom prst="roundRect">
            <a:avLst>
              <a:gd name="adj" fmla="val 3203152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4"/>
          <p:cNvSpPr/>
          <p:nvPr/>
        </p:nvSpPr>
        <p:spPr>
          <a:xfrm>
            <a:off x="7899536" y="4514850"/>
            <a:ext cx="65867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kern="0" spc="81" dirty="0">
                <a:solidFill>
                  <a:srgbClr val="0A16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CONTINUE</a:t>
            </a:r>
            <a:endParaRPr lang="en-US" sz="800" dirty="0"/>
          </a:p>
        </p:txBody>
      </p:sp>
      <p:sp>
        <p:nvSpPr>
          <p:cNvPr id="23" name="Text 15"/>
          <p:cNvSpPr/>
          <p:nvPr/>
        </p:nvSpPr>
        <p:spPr>
          <a:xfrm>
            <a:off x="8429625" y="451485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A162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24" name="Text 16"/>
          <p:cNvSpPr/>
          <p:nvPr/>
        </p:nvSpPr>
        <p:spPr>
          <a:xfrm>
            <a:off x="457200" y="4607719"/>
            <a:ext cx="5513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68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CHAPTERS</a:t>
            </a:r>
            <a:endParaRPr lang="en-US" sz="600" dirty="0"/>
          </a:p>
        </p:txBody>
      </p:sp>
      <p:sp>
        <p:nvSpPr>
          <p:cNvPr id="25" name="Text 17"/>
          <p:cNvSpPr/>
          <p:nvPr/>
        </p:nvSpPr>
        <p:spPr>
          <a:xfrm>
            <a:off x="918418" y="4647009"/>
            <a:ext cx="157163" cy="28575"/>
          </a:xfrm>
          <a:prstGeom prst="roundRect">
            <a:avLst>
              <a:gd name="adj" fmla="val 66667"/>
            </a:avLst>
          </a:prstGeom>
          <a:solidFill>
            <a:srgbClr val="64748B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18"/>
          <p:cNvSpPr/>
          <p:nvPr/>
        </p:nvSpPr>
        <p:spPr>
          <a:xfrm>
            <a:off x="1118443" y="4647009"/>
            <a:ext cx="157163" cy="28575"/>
          </a:xfrm>
          <a:prstGeom prst="roundRect">
            <a:avLst>
              <a:gd name="adj" fmla="val 66667"/>
            </a:avLst>
          </a:prstGeom>
          <a:solidFill>
            <a:srgbClr val="64748B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19"/>
          <p:cNvSpPr/>
          <p:nvPr/>
        </p:nvSpPr>
        <p:spPr>
          <a:xfrm>
            <a:off x="1318468" y="4647009"/>
            <a:ext cx="157163" cy="28575"/>
          </a:xfrm>
          <a:prstGeom prst="roundRect">
            <a:avLst>
              <a:gd name="adj" fmla="val 66667"/>
            </a:avLst>
          </a:prstGeom>
          <a:solidFill>
            <a:srgbClr val="64748B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0"/>
          <p:cNvSpPr/>
          <p:nvPr/>
        </p:nvSpPr>
        <p:spPr>
          <a:xfrm>
            <a:off x="1518493" y="4647009"/>
            <a:ext cx="157163" cy="28575"/>
          </a:xfrm>
          <a:prstGeom prst="roundRect">
            <a:avLst>
              <a:gd name="adj" fmla="val 66667"/>
            </a:avLst>
          </a:prstGeom>
          <a:solidFill>
            <a:srgbClr val="64748B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1"/>
          <p:cNvSpPr/>
          <p:nvPr/>
        </p:nvSpPr>
        <p:spPr>
          <a:xfrm>
            <a:off x="1718518" y="4647009"/>
            <a:ext cx="157163" cy="28575"/>
          </a:xfrm>
          <a:prstGeom prst="roundRect">
            <a:avLst>
              <a:gd name="adj" fmla="val 66667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2"/>
          <p:cNvSpPr/>
          <p:nvPr/>
        </p:nvSpPr>
        <p:spPr>
          <a:xfrm>
            <a:off x="1930671" y="4607719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kern="0" spc="68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05</a:t>
            </a:r>
            <a:endParaRPr lang="en-US" sz="800" dirty="0"/>
          </a:p>
        </p:txBody>
      </p:sp>
      <p:sp>
        <p:nvSpPr>
          <p:cNvPr id="31" name="Text 23"/>
          <p:cNvSpPr/>
          <p:nvPr/>
        </p:nvSpPr>
        <p:spPr>
          <a:xfrm>
            <a:off x="457200" y="4868466"/>
            <a:ext cx="78837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05 — CONTROL</a:t>
            </a:r>
            <a:endParaRPr lang="en-US" sz="800" dirty="0"/>
          </a:p>
        </p:txBody>
      </p:sp>
      <p:sp>
        <p:nvSpPr>
          <p:cNvPr id="32" name="Text 24"/>
          <p:cNvSpPr/>
          <p:nvPr/>
        </p:nvSpPr>
        <p:spPr>
          <a:xfrm>
            <a:off x="8355285" y="4868466"/>
            <a:ext cx="476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17 / 20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17241"/>
            <a:ext cx="1207740" cy="212027"/>
          </a:xfrm>
          <a:prstGeom prst="roundRect">
            <a:avLst>
              <a:gd name="adj" fmla="val 17969"/>
            </a:avLst>
          </a:prstGeom>
          <a:solidFill>
            <a:srgbClr val="3B82F6">
              <a:alpha val="16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664369" y="271463"/>
            <a:ext cx="1036290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PEOPLE DEVELOPMENT</a:t>
            </a:r>
            <a:endParaRPr lang="en-US" sz="619" dirty="0"/>
          </a:p>
        </p:txBody>
      </p:sp>
      <p:sp>
        <p:nvSpPr>
          <p:cNvPr id="6" name="Text 2"/>
          <p:cNvSpPr/>
          <p:nvPr/>
        </p:nvSpPr>
        <p:spPr>
          <a:xfrm>
            <a:off x="535781" y="28039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▿</a:t>
            </a:r>
            <a:endParaRPr lang="en-US" sz="844" dirty="0"/>
          </a:p>
        </p:txBody>
      </p:sp>
      <p:sp>
        <p:nvSpPr>
          <p:cNvPr id="7" name="Text 3"/>
          <p:cNvSpPr/>
          <p:nvPr/>
        </p:nvSpPr>
        <p:spPr>
          <a:xfrm>
            <a:off x="1736378" y="264319"/>
            <a:ext cx="695042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04 · PIPELINE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457200" y="489347"/>
            <a:ext cx="863600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kern="0" spc="-18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diploma to O-Level — a structured skill pipeline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457200" y="809365"/>
            <a:ext cx="6429375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New Operating Engineers pass through a 5-stage selection and training flow, then progress through three skill modules (L, U, O) over several years — each gated by a qualification assessment and a skill-matrix update.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628650" y="1262100"/>
            <a:ext cx="17943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b="1" kern="0" spc="74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NEW OPERATING ENGINEERS TRAINING</a:t>
            </a:r>
            <a:endParaRPr lang="en-US" sz="619" dirty="0"/>
          </a:p>
        </p:txBody>
      </p:sp>
      <p:sp>
        <p:nvSpPr>
          <p:cNvPr id="11" name="Text 7"/>
          <p:cNvSpPr/>
          <p:nvPr/>
        </p:nvSpPr>
        <p:spPr>
          <a:xfrm>
            <a:off x="2361567" y="1262100"/>
            <a:ext cx="63252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STAGES · ENTRY PIPELINE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460772" y="1440693"/>
            <a:ext cx="1432992" cy="992981"/>
          </a:xfrm>
          <a:prstGeom prst="roundRect">
            <a:avLst>
              <a:gd name="adj" fmla="val 9592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550069" y="1535348"/>
            <a:ext cx="171450" cy="128588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550069" y="1535348"/>
            <a:ext cx="91373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kern="0" spc="23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1465031" y="1521632"/>
            <a:ext cx="352490" cy="156020"/>
          </a:xfrm>
          <a:prstGeom prst="roundRect">
            <a:avLst>
              <a:gd name="adj" fmla="val 18315"/>
            </a:avLst>
          </a:prstGeom>
          <a:solidFill>
            <a:srgbClr val="142844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1437670" y="1529990"/>
            <a:ext cx="40721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b="1" kern="0" spc="41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ENTRY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550069" y="1712156"/>
            <a:ext cx="1329662" cy="131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4"/>
              </a:lnSpc>
              <a:buNone/>
            </a:pPr>
            <a:r>
              <a:rPr lang="en-US" sz="731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Diploma candidates selection</a:t>
            </a:r>
            <a:endParaRPr lang="en-US" sz="731" dirty="0"/>
          </a:p>
        </p:txBody>
      </p:sp>
      <p:sp>
        <p:nvSpPr>
          <p:cNvPr id="18" name="Text 14"/>
          <p:cNvSpPr/>
          <p:nvPr/>
        </p:nvSpPr>
        <p:spPr>
          <a:xfrm>
            <a:off x="550069" y="1871104"/>
            <a:ext cx="1329662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Entry point — diploma engineers.</a:t>
            </a:r>
            <a:endParaRPr lang="en-US" sz="619" dirty="0"/>
          </a:p>
        </p:txBody>
      </p:sp>
      <p:sp>
        <p:nvSpPr>
          <p:cNvPr id="19" name="Text 15"/>
          <p:cNvSpPr/>
          <p:nvPr/>
        </p:nvSpPr>
        <p:spPr>
          <a:xfrm>
            <a:off x="1940198" y="185145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688" dirty="0"/>
          </a:p>
        </p:txBody>
      </p:sp>
      <p:sp>
        <p:nvSpPr>
          <p:cNvPr id="20" name="Text 16"/>
          <p:cNvSpPr/>
          <p:nvPr/>
        </p:nvSpPr>
        <p:spPr>
          <a:xfrm>
            <a:off x="2158082" y="1440693"/>
            <a:ext cx="1433103" cy="992981"/>
          </a:xfrm>
          <a:prstGeom prst="roundRect">
            <a:avLst>
              <a:gd name="adj" fmla="val 9592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2247379" y="1535348"/>
            <a:ext cx="171450" cy="128588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2247379" y="1535348"/>
            <a:ext cx="83414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kern="0" spc="23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3079568" y="1521632"/>
            <a:ext cx="438564" cy="156020"/>
          </a:xfrm>
          <a:prstGeom prst="roundRect">
            <a:avLst>
              <a:gd name="adj" fmla="val 18315"/>
            </a:avLst>
          </a:prstGeom>
          <a:solidFill>
            <a:srgbClr val="142844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3020913" y="1529990"/>
            <a:ext cx="55587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b="1" kern="0" spc="41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MEDICAL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2247379" y="1712156"/>
            <a:ext cx="1254509" cy="1315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14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Medical check-up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2247379" y="1871104"/>
            <a:ext cx="1329780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Medically fit candidates selected.</a:t>
            </a:r>
            <a:endParaRPr lang="en-US" sz="619" dirty="0"/>
          </a:p>
        </p:txBody>
      </p:sp>
      <p:sp>
        <p:nvSpPr>
          <p:cNvPr id="27" name="Text 23"/>
          <p:cNvSpPr/>
          <p:nvPr/>
        </p:nvSpPr>
        <p:spPr>
          <a:xfrm>
            <a:off x="3637620" y="185145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688" dirty="0"/>
          </a:p>
        </p:txBody>
      </p:sp>
      <p:sp>
        <p:nvSpPr>
          <p:cNvPr id="28" name="Text 24"/>
          <p:cNvSpPr/>
          <p:nvPr/>
        </p:nvSpPr>
        <p:spPr>
          <a:xfrm>
            <a:off x="3855504" y="1440693"/>
            <a:ext cx="1432992" cy="992981"/>
          </a:xfrm>
          <a:prstGeom prst="roundRect">
            <a:avLst>
              <a:gd name="adj" fmla="val 9592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3944801" y="1535348"/>
            <a:ext cx="171450" cy="128588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3944801" y="1535348"/>
            <a:ext cx="88292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kern="0" spc="23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4827724" y="1521632"/>
            <a:ext cx="385763" cy="156020"/>
          </a:xfrm>
          <a:prstGeom prst="roundRect">
            <a:avLst>
              <a:gd name="adj" fmla="val 18315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FD23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4800214" y="1529990"/>
            <a:ext cx="4407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b="1" kern="0" spc="4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DAYS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3944801" y="1712156"/>
            <a:ext cx="1254398" cy="1315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14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Dexterity training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3944801" y="1871104"/>
            <a:ext cx="1329662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Visual senses, fitment, sorting, measurement, defect identification — min 90% to qualify.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5334930" y="185145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688" dirty="0"/>
          </a:p>
        </p:txBody>
      </p:sp>
      <p:sp>
        <p:nvSpPr>
          <p:cNvPr id="36" name="Text 32"/>
          <p:cNvSpPr/>
          <p:nvPr/>
        </p:nvSpPr>
        <p:spPr>
          <a:xfrm>
            <a:off x="5552815" y="1440693"/>
            <a:ext cx="1433103" cy="992981"/>
          </a:xfrm>
          <a:prstGeom prst="roundRect">
            <a:avLst>
              <a:gd name="adj" fmla="val 9592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5642111" y="1535348"/>
            <a:ext cx="171450" cy="128588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4"/>
          <p:cNvSpPr/>
          <p:nvPr/>
        </p:nvSpPr>
        <p:spPr>
          <a:xfrm>
            <a:off x="5642111" y="1535348"/>
            <a:ext cx="88303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kern="0" spc="23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6525146" y="1521632"/>
            <a:ext cx="385763" cy="156020"/>
          </a:xfrm>
          <a:prstGeom prst="roundRect">
            <a:avLst>
              <a:gd name="adj" fmla="val 18315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FD23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6497636" y="1529990"/>
            <a:ext cx="4407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b="1" kern="0" spc="4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DAYS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5642111" y="1712156"/>
            <a:ext cx="1254509" cy="1315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14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Classroom training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5642111" y="1871104"/>
            <a:ext cx="1329780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EHS induction, EFQM, calibration, ESD, processes, Poka-Yoke — min 60% to qualify.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7032352" y="185145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688" dirty="0"/>
          </a:p>
        </p:txBody>
      </p:sp>
      <p:sp>
        <p:nvSpPr>
          <p:cNvPr id="44" name="Text 40"/>
          <p:cNvSpPr/>
          <p:nvPr/>
        </p:nvSpPr>
        <p:spPr>
          <a:xfrm>
            <a:off x="7250237" y="1440693"/>
            <a:ext cx="1432992" cy="992981"/>
          </a:xfrm>
          <a:prstGeom prst="roundRect">
            <a:avLst>
              <a:gd name="adj" fmla="val 9592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1"/>
          <p:cNvSpPr/>
          <p:nvPr/>
        </p:nvSpPr>
        <p:spPr>
          <a:xfrm>
            <a:off x="7339533" y="1535348"/>
            <a:ext cx="171450" cy="128588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2"/>
          <p:cNvSpPr/>
          <p:nvPr/>
        </p:nvSpPr>
        <p:spPr>
          <a:xfrm>
            <a:off x="7339533" y="1535348"/>
            <a:ext cx="83927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kern="0" spc="23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47" name="Text 43"/>
          <p:cNvSpPr/>
          <p:nvPr/>
        </p:nvSpPr>
        <p:spPr>
          <a:xfrm>
            <a:off x="8177067" y="1521632"/>
            <a:ext cx="432898" cy="156020"/>
          </a:xfrm>
          <a:prstGeom prst="roundRect">
            <a:avLst>
              <a:gd name="adj" fmla="val 18315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FD23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4"/>
          <p:cNvSpPr/>
          <p:nvPr/>
        </p:nvSpPr>
        <p:spPr>
          <a:xfrm>
            <a:off x="8135960" y="1529990"/>
            <a:ext cx="51511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b="1" kern="0" spc="4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45 DAYS</a:t>
            </a:r>
            <a:endParaRPr lang="en-US" sz="800" dirty="0"/>
          </a:p>
        </p:txBody>
      </p:sp>
      <p:sp>
        <p:nvSpPr>
          <p:cNvPr id="49" name="Text 45"/>
          <p:cNvSpPr/>
          <p:nvPr/>
        </p:nvSpPr>
        <p:spPr>
          <a:xfrm>
            <a:off x="7339533" y="1712156"/>
            <a:ext cx="1254398" cy="1315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14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On-the-Job Training</a:t>
            </a:r>
            <a:endParaRPr lang="en-US" sz="800" dirty="0"/>
          </a:p>
        </p:txBody>
      </p:sp>
      <p:sp>
        <p:nvSpPr>
          <p:cNvPr id="50" name="Text 46"/>
          <p:cNvSpPr/>
          <p:nvPr/>
        </p:nvSpPr>
        <p:spPr>
          <a:xfrm>
            <a:off x="7339533" y="1871104"/>
            <a:ext cx="1329662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OJT workbook, supervisor assessment — min 60% to qualify, then deployed to line &amp; skill matrix updated.</a:t>
            </a:r>
            <a:endParaRPr lang="en-US" sz="800" dirty="0"/>
          </a:p>
        </p:txBody>
      </p:sp>
      <p:sp>
        <p:nvSpPr>
          <p:cNvPr id="51" name="Text 47"/>
          <p:cNvSpPr/>
          <p:nvPr/>
        </p:nvSpPr>
        <p:spPr>
          <a:xfrm>
            <a:off x="628650" y="2537259"/>
            <a:ext cx="18168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b="1" kern="0" spc="74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SKILL UPGRADE — L / U / O MODULES</a:t>
            </a:r>
            <a:endParaRPr lang="en-US" sz="619" dirty="0"/>
          </a:p>
        </p:txBody>
      </p:sp>
      <p:sp>
        <p:nvSpPr>
          <p:cNvPr id="52" name="Text 48"/>
          <p:cNvSpPr/>
          <p:nvPr/>
        </p:nvSpPr>
        <p:spPr>
          <a:xfrm>
            <a:off x="2382329" y="2537259"/>
            <a:ext cx="63044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MODULES · MULTI-YEAR PROGRESSION</a:t>
            </a:r>
            <a:endParaRPr lang="en-US" sz="800" dirty="0"/>
          </a:p>
        </p:txBody>
      </p:sp>
      <p:sp>
        <p:nvSpPr>
          <p:cNvPr id="53" name="Text 49"/>
          <p:cNvSpPr/>
          <p:nvPr/>
        </p:nvSpPr>
        <p:spPr>
          <a:xfrm>
            <a:off x="460772" y="2715853"/>
            <a:ext cx="2564606" cy="1064419"/>
          </a:xfrm>
          <a:prstGeom prst="roundRect">
            <a:avLst>
              <a:gd name="adj" fmla="val 8949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0"/>
          <p:cNvSpPr/>
          <p:nvPr/>
        </p:nvSpPr>
        <p:spPr>
          <a:xfrm>
            <a:off x="567928" y="2823009"/>
            <a:ext cx="292894" cy="292894"/>
          </a:xfrm>
          <a:prstGeom prst="roundRect">
            <a:avLst>
              <a:gd name="adj" fmla="val 19512"/>
            </a:avLst>
          </a:prstGeom>
          <a:solidFill>
            <a:srgbClr val="3B82F6">
              <a:alpha val="16000"/>
            </a:srgbClr>
          </a:solidFill>
          <a:ln w="7144">
            <a:solidFill>
              <a:srgbClr val="E6394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1"/>
          <p:cNvSpPr/>
          <p:nvPr/>
        </p:nvSpPr>
        <p:spPr>
          <a:xfrm>
            <a:off x="564356" y="2819437"/>
            <a:ext cx="335756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kern="0" spc="-36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</a:t>
            </a:r>
            <a:endParaRPr lang="en-US" sz="1800" dirty="0"/>
          </a:p>
        </p:txBody>
      </p:sp>
      <p:sp>
        <p:nvSpPr>
          <p:cNvPr id="56" name="Text 52"/>
          <p:cNvSpPr/>
          <p:nvPr/>
        </p:nvSpPr>
        <p:spPr>
          <a:xfrm>
            <a:off x="935831" y="2831046"/>
            <a:ext cx="1616488" cy="110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914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L-Module</a:t>
            </a:r>
            <a:endParaRPr lang="en-US" sz="800" dirty="0"/>
          </a:p>
        </p:txBody>
      </p:sp>
      <p:sp>
        <p:nvSpPr>
          <p:cNvPr id="57" name="Text 53"/>
          <p:cNvSpPr/>
          <p:nvPr/>
        </p:nvSpPr>
        <p:spPr>
          <a:xfrm>
            <a:off x="939403" y="2972135"/>
            <a:ext cx="1255737" cy="132159"/>
          </a:xfrm>
          <a:prstGeom prst="roundRect">
            <a:avLst>
              <a:gd name="adj" fmla="val 21622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FD23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4"/>
          <p:cNvSpPr/>
          <p:nvPr/>
        </p:nvSpPr>
        <p:spPr>
          <a:xfrm>
            <a:off x="935831" y="2968563"/>
            <a:ext cx="1262881" cy="237744"/>
          </a:xfrm>
          <a:prstGeom prst="rect">
            <a:avLst/>
          </a:prstGeom>
          <a:noFill/>
          <a:ln/>
        </p:spPr>
        <p:txBody>
          <a:bodyPr wrap="none" lIns="50006" tIns="14288" rIns="50006" bIns="14288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600" b="1" kern="0" spc="4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DAYS · CLASSROOM + ON-FLOOR</a:t>
            </a:r>
            <a:endParaRPr lang="en-US" sz="600" dirty="0"/>
          </a:p>
        </p:txBody>
      </p:sp>
      <p:sp>
        <p:nvSpPr>
          <p:cNvPr id="59" name="Text 55"/>
          <p:cNvSpPr/>
          <p:nvPr/>
        </p:nvSpPr>
        <p:spPr>
          <a:xfrm>
            <a:off x="564356" y="3183768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14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914" dirty="0"/>
          </a:p>
        </p:txBody>
      </p:sp>
      <p:sp>
        <p:nvSpPr>
          <p:cNvPr id="60" name="Text 56"/>
          <p:cNvSpPr/>
          <p:nvPr/>
        </p:nvSpPr>
        <p:spPr>
          <a:xfrm>
            <a:off x="700088" y="3176625"/>
            <a:ext cx="22217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kern="0" spc="45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~1 YEAR ON FLOOR</a:t>
            </a:r>
            <a:endParaRPr lang="en-US" sz="800" dirty="0"/>
          </a:p>
        </p:txBody>
      </p:sp>
      <p:sp>
        <p:nvSpPr>
          <p:cNvPr id="61" name="Text 57"/>
          <p:cNvSpPr/>
          <p:nvPr/>
        </p:nvSpPr>
        <p:spPr>
          <a:xfrm>
            <a:off x="564356" y="3326643"/>
            <a:ext cx="2357438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5S, Kaizen, Hydraulics &amp; Pneumatics, 8D, Fishbone, Why-Why, CNC, Tools &amp; Preset, TPM, PLC, Troubleshooting.</a:t>
            </a:r>
            <a:endParaRPr lang="en-US" sz="800" dirty="0"/>
          </a:p>
        </p:txBody>
      </p:sp>
      <p:sp>
        <p:nvSpPr>
          <p:cNvPr id="62" name="Text 58"/>
          <p:cNvSpPr/>
          <p:nvPr/>
        </p:nvSpPr>
        <p:spPr>
          <a:xfrm>
            <a:off x="3071813" y="316233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688" dirty="0"/>
          </a:p>
        </p:txBody>
      </p:sp>
      <p:sp>
        <p:nvSpPr>
          <p:cNvPr id="63" name="Text 59"/>
          <p:cNvSpPr/>
          <p:nvPr/>
        </p:nvSpPr>
        <p:spPr>
          <a:xfrm>
            <a:off x="3289697" y="2715853"/>
            <a:ext cx="2564606" cy="1064419"/>
          </a:xfrm>
          <a:prstGeom prst="roundRect">
            <a:avLst>
              <a:gd name="adj" fmla="val 8949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0"/>
          <p:cNvSpPr/>
          <p:nvPr/>
        </p:nvSpPr>
        <p:spPr>
          <a:xfrm>
            <a:off x="3396853" y="2823009"/>
            <a:ext cx="292894" cy="292894"/>
          </a:xfrm>
          <a:prstGeom prst="roundRect">
            <a:avLst>
              <a:gd name="adj" fmla="val 19512"/>
            </a:avLst>
          </a:prstGeom>
          <a:solidFill>
            <a:srgbClr val="3B82F6">
              <a:alpha val="16000"/>
            </a:srgbClr>
          </a:solidFill>
          <a:ln w="7144">
            <a:solidFill>
              <a:srgbClr val="E6394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61"/>
          <p:cNvSpPr/>
          <p:nvPr/>
        </p:nvSpPr>
        <p:spPr>
          <a:xfrm>
            <a:off x="3393281" y="2819437"/>
            <a:ext cx="335756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kern="0" spc="-36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</a:t>
            </a:r>
            <a:endParaRPr lang="en-US" sz="1800" dirty="0"/>
          </a:p>
        </p:txBody>
      </p:sp>
      <p:sp>
        <p:nvSpPr>
          <p:cNvPr id="66" name="Text 62"/>
          <p:cNvSpPr/>
          <p:nvPr/>
        </p:nvSpPr>
        <p:spPr>
          <a:xfrm>
            <a:off x="3764756" y="2831046"/>
            <a:ext cx="1616488" cy="110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914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U-Module</a:t>
            </a:r>
            <a:endParaRPr lang="en-US" sz="800" dirty="0"/>
          </a:p>
        </p:txBody>
      </p:sp>
      <p:sp>
        <p:nvSpPr>
          <p:cNvPr id="67" name="Text 63"/>
          <p:cNvSpPr/>
          <p:nvPr/>
        </p:nvSpPr>
        <p:spPr>
          <a:xfrm>
            <a:off x="3768328" y="2972135"/>
            <a:ext cx="1255737" cy="132159"/>
          </a:xfrm>
          <a:prstGeom prst="roundRect">
            <a:avLst>
              <a:gd name="adj" fmla="val 21622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FD23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64"/>
          <p:cNvSpPr/>
          <p:nvPr/>
        </p:nvSpPr>
        <p:spPr>
          <a:xfrm>
            <a:off x="3764756" y="2968563"/>
            <a:ext cx="1262881" cy="237744"/>
          </a:xfrm>
          <a:prstGeom prst="rect">
            <a:avLst/>
          </a:prstGeom>
          <a:noFill/>
          <a:ln/>
        </p:spPr>
        <p:txBody>
          <a:bodyPr wrap="none" lIns="50006" tIns="14288" rIns="50006" bIns="14288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600" b="1" kern="0" spc="4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DAYS · CLASSROOM + ON-FLOOR</a:t>
            </a:r>
            <a:endParaRPr lang="en-US" sz="600" dirty="0"/>
          </a:p>
        </p:txBody>
      </p:sp>
      <p:sp>
        <p:nvSpPr>
          <p:cNvPr id="69" name="Text 65"/>
          <p:cNvSpPr/>
          <p:nvPr/>
        </p:nvSpPr>
        <p:spPr>
          <a:xfrm>
            <a:off x="3393281" y="3183768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14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914" dirty="0"/>
          </a:p>
        </p:txBody>
      </p:sp>
      <p:sp>
        <p:nvSpPr>
          <p:cNvPr id="70" name="Text 66"/>
          <p:cNvSpPr/>
          <p:nvPr/>
        </p:nvSpPr>
        <p:spPr>
          <a:xfrm>
            <a:off x="3529013" y="3176625"/>
            <a:ext cx="22217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kern="0" spc="45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~2 YEARS ON FLOOR</a:t>
            </a:r>
            <a:endParaRPr lang="en-US" sz="800" dirty="0"/>
          </a:p>
        </p:txBody>
      </p:sp>
      <p:sp>
        <p:nvSpPr>
          <p:cNvPr id="71" name="Text 67"/>
          <p:cNvSpPr/>
          <p:nvPr/>
        </p:nvSpPr>
        <p:spPr>
          <a:xfrm>
            <a:off x="3393281" y="3326643"/>
            <a:ext cx="2357438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MSA, SPC, APQP, PPAP, PFMEA, IATF, SFM, SMED, Problem Solving, TPM, Process orientation, Customer orientation.</a:t>
            </a:r>
            <a:endParaRPr lang="en-US" sz="800" dirty="0"/>
          </a:p>
        </p:txBody>
      </p:sp>
      <p:sp>
        <p:nvSpPr>
          <p:cNvPr id="72" name="Text 68"/>
          <p:cNvSpPr/>
          <p:nvPr/>
        </p:nvSpPr>
        <p:spPr>
          <a:xfrm>
            <a:off x="5900738" y="316233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688" dirty="0"/>
          </a:p>
        </p:txBody>
      </p:sp>
      <p:sp>
        <p:nvSpPr>
          <p:cNvPr id="73" name="Text 69"/>
          <p:cNvSpPr/>
          <p:nvPr/>
        </p:nvSpPr>
        <p:spPr>
          <a:xfrm>
            <a:off x="6118622" y="2715853"/>
            <a:ext cx="2564606" cy="1064419"/>
          </a:xfrm>
          <a:prstGeom prst="roundRect">
            <a:avLst>
              <a:gd name="adj" fmla="val 8949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70"/>
          <p:cNvSpPr/>
          <p:nvPr/>
        </p:nvSpPr>
        <p:spPr>
          <a:xfrm>
            <a:off x="6225778" y="2823009"/>
            <a:ext cx="292894" cy="292894"/>
          </a:xfrm>
          <a:prstGeom prst="roundRect">
            <a:avLst>
              <a:gd name="adj" fmla="val 19512"/>
            </a:avLst>
          </a:prstGeom>
          <a:solidFill>
            <a:srgbClr val="3B82F6">
              <a:alpha val="16000"/>
            </a:srgbClr>
          </a:solidFill>
          <a:ln w="7144">
            <a:solidFill>
              <a:srgbClr val="E6394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71"/>
          <p:cNvSpPr/>
          <p:nvPr/>
        </p:nvSpPr>
        <p:spPr>
          <a:xfrm>
            <a:off x="6222206" y="2819437"/>
            <a:ext cx="335756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kern="0" spc="-36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</a:t>
            </a:r>
            <a:endParaRPr lang="en-US" sz="1800" dirty="0"/>
          </a:p>
        </p:txBody>
      </p:sp>
      <p:sp>
        <p:nvSpPr>
          <p:cNvPr id="76" name="Text 72"/>
          <p:cNvSpPr/>
          <p:nvPr/>
        </p:nvSpPr>
        <p:spPr>
          <a:xfrm>
            <a:off x="6593681" y="2831046"/>
            <a:ext cx="1616488" cy="110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914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O-Module</a:t>
            </a:r>
            <a:endParaRPr lang="en-US" sz="800" dirty="0"/>
          </a:p>
        </p:txBody>
      </p:sp>
      <p:sp>
        <p:nvSpPr>
          <p:cNvPr id="77" name="Text 73"/>
          <p:cNvSpPr/>
          <p:nvPr/>
        </p:nvSpPr>
        <p:spPr>
          <a:xfrm>
            <a:off x="6597253" y="2972135"/>
            <a:ext cx="1255737" cy="132159"/>
          </a:xfrm>
          <a:prstGeom prst="roundRect">
            <a:avLst>
              <a:gd name="adj" fmla="val 21622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FD23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74"/>
          <p:cNvSpPr/>
          <p:nvPr/>
        </p:nvSpPr>
        <p:spPr>
          <a:xfrm>
            <a:off x="6593681" y="2968563"/>
            <a:ext cx="1262881" cy="237744"/>
          </a:xfrm>
          <a:prstGeom prst="rect">
            <a:avLst/>
          </a:prstGeom>
          <a:noFill/>
          <a:ln/>
        </p:spPr>
        <p:txBody>
          <a:bodyPr wrap="none" lIns="50006" tIns="14288" rIns="50006" bIns="14288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600" b="1" kern="0" spc="4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DAYS · CLASSROOM + ON-FLOOR</a:t>
            </a:r>
            <a:endParaRPr lang="en-US" sz="600" dirty="0"/>
          </a:p>
        </p:txBody>
      </p:sp>
      <p:sp>
        <p:nvSpPr>
          <p:cNvPr id="79" name="Text 75"/>
          <p:cNvSpPr/>
          <p:nvPr/>
        </p:nvSpPr>
        <p:spPr>
          <a:xfrm>
            <a:off x="6222206" y="3183768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14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914" dirty="0"/>
          </a:p>
        </p:txBody>
      </p:sp>
      <p:sp>
        <p:nvSpPr>
          <p:cNvPr id="80" name="Text 76"/>
          <p:cNvSpPr/>
          <p:nvPr/>
        </p:nvSpPr>
        <p:spPr>
          <a:xfrm>
            <a:off x="6357938" y="3176625"/>
            <a:ext cx="22217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kern="0" spc="45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~3 YEARS ON FLOOR</a:t>
            </a:r>
            <a:endParaRPr lang="en-US" sz="800" dirty="0"/>
          </a:p>
        </p:txBody>
      </p:sp>
      <p:sp>
        <p:nvSpPr>
          <p:cNvPr id="81" name="Text 77"/>
          <p:cNvSpPr/>
          <p:nvPr/>
        </p:nvSpPr>
        <p:spPr>
          <a:xfrm>
            <a:off x="6222206" y="3326643"/>
            <a:ext cx="2357438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Job shadowing, supervisory development, analytical thinking, problem solving, establishing focus, result orientation.</a:t>
            </a:r>
            <a:endParaRPr lang="en-US" sz="800" dirty="0"/>
          </a:p>
        </p:txBody>
      </p:sp>
      <p:sp>
        <p:nvSpPr>
          <p:cNvPr id="82" name="Text 78"/>
          <p:cNvSpPr/>
          <p:nvPr/>
        </p:nvSpPr>
        <p:spPr>
          <a:xfrm>
            <a:off x="457200" y="4868466"/>
            <a:ext cx="78837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TRAINING &amp; SKILL</a:t>
            </a:r>
            <a:endParaRPr lang="en-US" sz="800" dirty="0"/>
          </a:p>
        </p:txBody>
      </p:sp>
      <p:sp>
        <p:nvSpPr>
          <p:cNvPr id="83" name="Text 79"/>
          <p:cNvSpPr/>
          <p:nvPr/>
        </p:nvSpPr>
        <p:spPr>
          <a:xfrm>
            <a:off x="8355285" y="4868466"/>
            <a:ext cx="476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 / 20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17241"/>
            <a:ext cx="1088306" cy="212027"/>
          </a:xfrm>
          <a:prstGeom prst="roundRect">
            <a:avLst>
              <a:gd name="adj" fmla="val 17969"/>
            </a:avLst>
          </a:prstGeom>
          <a:solidFill>
            <a:srgbClr val="3B82F6">
              <a:alpha val="16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664369" y="271463"/>
            <a:ext cx="916856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BENEFITS &amp; IMPACT</a:t>
            </a:r>
            <a:endParaRPr lang="en-US" sz="619" dirty="0"/>
          </a:p>
        </p:txBody>
      </p:sp>
      <p:sp>
        <p:nvSpPr>
          <p:cNvPr id="6" name="Text 2"/>
          <p:cNvSpPr/>
          <p:nvPr/>
        </p:nvSpPr>
        <p:spPr>
          <a:xfrm>
            <a:off x="535781" y="28039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844" dirty="0"/>
          </a:p>
        </p:txBody>
      </p:sp>
      <p:sp>
        <p:nvSpPr>
          <p:cNvPr id="7" name="Text 3"/>
          <p:cNvSpPr/>
          <p:nvPr/>
        </p:nvSpPr>
        <p:spPr>
          <a:xfrm>
            <a:off x="1616943" y="264319"/>
            <a:ext cx="706985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04 · KPI DASHBOARD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457200" y="475059"/>
            <a:ext cx="8636000" cy="298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28"/>
              </a:lnSpc>
              <a:buNone/>
            </a:pPr>
            <a:r>
              <a:rPr lang="en-US" sz="2025" b="1" kern="0" spc="-4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Before vs After SFM — the numbers</a:t>
            </a:r>
            <a:endParaRPr lang="en-US" sz="2025" dirty="0"/>
          </a:p>
        </p:txBody>
      </p:sp>
      <p:sp>
        <p:nvSpPr>
          <p:cNvPr id="9" name="Text 5"/>
          <p:cNvSpPr/>
          <p:nvPr/>
        </p:nvSpPr>
        <p:spPr>
          <a:xfrm>
            <a:off x="457200" y="800770"/>
            <a:ext cx="6429375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Quantitative — fewer breakdowns, better OEE, higher productivity. Qualitative — ownership, culture shift, faster problem-solving. All four KPIs moved decisively after SFM was deployed.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460772" y="1199927"/>
            <a:ext cx="1964531" cy="2564606"/>
          </a:xfrm>
          <a:prstGeom prst="roundRect">
            <a:avLst>
              <a:gd name="adj" fmla="val 4848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21506" y="1360661"/>
            <a:ext cx="15144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OEE %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2150269" y="136244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13" name="Text 9"/>
          <p:cNvSpPr/>
          <p:nvPr/>
        </p:nvSpPr>
        <p:spPr>
          <a:xfrm>
            <a:off x="618523" y="1521396"/>
            <a:ext cx="1649029" cy="4869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kern="0" spc="-108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87.2%</a:t>
            </a:r>
            <a:endParaRPr lang="en-US" sz="3600" dirty="0"/>
          </a:p>
        </p:txBody>
      </p:sp>
      <p:sp>
        <p:nvSpPr>
          <p:cNvPr id="14" name="Text 10"/>
          <p:cNvSpPr/>
          <p:nvPr/>
        </p:nvSpPr>
        <p:spPr>
          <a:xfrm>
            <a:off x="621506" y="2035746"/>
            <a:ext cx="1741646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</a:t>
            </a:r>
            <a:r>
              <a:rPr lang="en-US" sz="675" b="1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83.51%</a:t>
            </a:r>
            <a:r>
              <a:rPr lang="en-US" sz="675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(2021) → </a:t>
            </a:r>
            <a:r>
              <a:rPr lang="en-US" sz="675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87.2%</a:t>
            </a:r>
            <a:r>
              <a:rPr lang="en-US" sz="67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(post-SFM)</a:t>
            </a:r>
            <a:endParaRPr lang="en-US" sz="675" dirty="0"/>
          </a:p>
        </p:txBody>
      </p:sp>
      <p:sp>
        <p:nvSpPr>
          <p:cNvPr id="15" name="Shape 11"/>
          <p:cNvSpPr/>
          <p:nvPr/>
        </p:nvSpPr>
        <p:spPr>
          <a:xfrm>
            <a:off x="621506" y="2895116"/>
            <a:ext cx="1643063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1506" y="2552216"/>
            <a:ext cx="1643063" cy="0"/>
          </a:xfrm>
          <a:prstGeom prst="line">
            <a:avLst/>
          </a:prstGeom>
          <a:noFill/>
          <a:ln w="7144">
            <a:solidFill>
              <a:srgbClr val="FBBF24"/>
            </a:solidFill>
            <a:prstDash val="dash"/>
          </a:ln>
        </p:spPr>
      </p:sp>
      <p:sp>
        <p:nvSpPr>
          <p:cNvPr id="17" name="Text 13"/>
          <p:cNvSpPr/>
          <p:nvPr/>
        </p:nvSpPr>
        <p:spPr>
          <a:xfrm>
            <a:off x="1912025" y="2493152"/>
            <a:ext cx="380940" cy="85982"/>
          </a:xfrm>
          <a:prstGeom prst="rect">
            <a:avLst/>
          </a:prstGeom>
          <a:solidFill>
            <a:srgbClr val="1B335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1826205" y="2498638"/>
            <a:ext cx="538292" cy="91440"/>
          </a:xfrm>
          <a:prstGeom prst="rect">
            <a:avLst/>
          </a:prstGeom>
          <a:noFill/>
          <a:ln/>
        </p:spPr>
        <p:txBody>
          <a:bodyPr wrap="square" lIns="21431" tIns="0" rIns="21431" bIns="0" rtlCol="0" anchor="t"/>
          <a:lstStyle/>
          <a:p>
            <a:pPr marL="0" indent="0" algn="l">
              <a:lnSpc>
                <a:spcPts val="591"/>
              </a:lnSpc>
              <a:buNone/>
            </a:pPr>
            <a:r>
              <a:rPr lang="en-US" sz="600" b="1" kern="0" spc="24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TARGET 85%</a:t>
            </a:r>
            <a:endParaRPr lang="en-US" sz="600" dirty="0"/>
          </a:p>
        </p:txBody>
      </p:sp>
      <p:sp>
        <p:nvSpPr>
          <p:cNvPr id="19" name="Text 15"/>
          <p:cNvSpPr/>
          <p:nvPr/>
        </p:nvSpPr>
        <p:spPr>
          <a:xfrm>
            <a:off x="621506" y="2720094"/>
            <a:ext cx="294233" cy="164306"/>
          </a:xfrm>
          <a:prstGeom prst="roundRect">
            <a:avLst>
              <a:gd name="adj" fmla="val 11594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612372" y="2627226"/>
            <a:ext cx="312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83.5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958602" y="2577219"/>
            <a:ext cx="294345" cy="307181"/>
          </a:xfrm>
          <a:prstGeom prst="roundRect">
            <a:avLst>
              <a:gd name="adj" fmla="val 6472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949524" y="2484351"/>
            <a:ext cx="312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84.8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1295809" y="2627226"/>
            <a:ext cx="294345" cy="257175"/>
          </a:xfrm>
          <a:prstGeom prst="roundRect">
            <a:avLst>
              <a:gd name="adj" fmla="val 7407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1286731" y="2534357"/>
            <a:ext cx="312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84.3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1633017" y="2412913"/>
            <a:ext cx="294345" cy="471488"/>
          </a:xfrm>
          <a:prstGeom prst="roundRect">
            <a:avLst>
              <a:gd name="adj" fmla="val 6472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1623938" y="2320044"/>
            <a:ext cx="312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86.2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1970224" y="2298613"/>
            <a:ext cx="294345" cy="585788"/>
          </a:xfrm>
          <a:prstGeom prst="roundRect">
            <a:avLst>
              <a:gd name="adj" fmla="val 6472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1961146" y="2205744"/>
            <a:ext cx="312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87.2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621506" y="2927263"/>
            <a:ext cx="3825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kern="0" spc="18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2021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870299" y="2927263"/>
            <a:ext cx="4709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kern="0" spc="18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1207506" y="2927263"/>
            <a:ext cx="4709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kern="0" spc="18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2023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1544713" y="2927263"/>
            <a:ext cx="4709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kern="0" spc="18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D4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1793617" y="2927263"/>
            <a:ext cx="4709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kern="0" spc="18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D5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621506" y="3075161"/>
            <a:ext cx="57150" cy="5715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608779" y="3055851"/>
            <a:ext cx="53549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4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PRE-SFM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1104826" y="3075161"/>
            <a:ext cx="57150" cy="57150"/>
          </a:xfrm>
          <a:prstGeom prst="roundRect">
            <a:avLst>
              <a:gd name="adj" fmla="val 16667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1104826" y="3055851"/>
            <a:ext cx="11597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4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POST-SFM</a:t>
            </a:r>
            <a:endParaRPr lang="en-US" sz="800" dirty="0"/>
          </a:p>
        </p:txBody>
      </p:sp>
      <p:sp>
        <p:nvSpPr>
          <p:cNvPr id="38" name="Shape 34"/>
          <p:cNvSpPr/>
          <p:nvPr/>
        </p:nvSpPr>
        <p:spPr>
          <a:xfrm>
            <a:off x="621506" y="3353767"/>
            <a:ext cx="1643063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98646" y="3403131"/>
            <a:ext cx="801283" cy="212027"/>
          </a:xfrm>
          <a:prstGeom prst="roundRect">
            <a:avLst>
              <a:gd name="adj" fmla="val 17969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555905" y="3414489"/>
            <a:ext cx="88676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ABOVE TARGET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1907120" y="3460924"/>
            <a:ext cx="41151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600" kern="0" spc="41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+3.7 PTS</a:t>
            </a:r>
            <a:endParaRPr lang="en-US" sz="600" dirty="0"/>
          </a:p>
        </p:txBody>
      </p:sp>
      <p:sp>
        <p:nvSpPr>
          <p:cNvPr id="42" name="Text 38"/>
          <p:cNvSpPr/>
          <p:nvPr/>
        </p:nvSpPr>
        <p:spPr>
          <a:xfrm>
            <a:off x="2546747" y="1199927"/>
            <a:ext cx="1964531" cy="2564606"/>
          </a:xfrm>
          <a:prstGeom prst="roundRect">
            <a:avLst>
              <a:gd name="adj" fmla="val 4848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2707481" y="1360661"/>
            <a:ext cx="15144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SCRAP COST %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4236244" y="136244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1125" dirty="0"/>
          </a:p>
        </p:txBody>
      </p:sp>
      <p:sp>
        <p:nvSpPr>
          <p:cNvPr id="45" name="Text 41"/>
          <p:cNvSpPr/>
          <p:nvPr/>
        </p:nvSpPr>
        <p:spPr>
          <a:xfrm>
            <a:off x="2704498" y="1521396"/>
            <a:ext cx="1649029" cy="4869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kern="0" spc="-108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0.22%</a:t>
            </a:r>
            <a:endParaRPr lang="en-US" sz="3600" dirty="0"/>
          </a:p>
        </p:txBody>
      </p:sp>
      <p:sp>
        <p:nvSpPr>
          <p:cNvPr id="46" name="Text 42"/>
          <p:cNvSpPr/>
          <p:nvPr/>
        </p:nvSpPr>
        <p:spPr>
          <a:xfrm>
            <a:off x="2707481" y="2035746"/>
            <a:ext cx="1741646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</a:t>
            </a:r>
            <a:r>
              <a:rPr lang="en-US" sz="675" b="1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0.43%</a:t>
            </a:r>
            <a:r>
              <a:rPr lang="en-US" sz="675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(2021) → </a:t>
            </a:r>
            <a:r>
              <a:rPr lang="en-US" sz="675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0.22%</a:t>
            </a:r>
            <a:r>
              <a:rPr lang="en-US" sz="67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(post-SFM)</a:t>
            </a:r>
            <a:endParaRPr lang="en-US" sz="675" dirty="0"/>
          </a:p>
        </p:txBody>
      </p:sp>
      <p:sp>
        <p:nvSpPr>
          <p:cNvPr id="47" name="Shape 43"/>
          <p:cNvSpPr/>
          <p:nvPr/>
        </p:nvSpPr>
        <p:spPr>
          <a:xfrm>
            <a:off x="2707481" y="2895116"/>
            <a:ext cx="1643063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2707481" y="2323616"/>
            <a:ext cx="1643063" cy="0"/>
          </a:xfrm>
          <a:prstGeom prst="line">
            <a:avLst/>
          </a:prstGeom>
          <a:noFill/>
          <a:ln w="7144">
            <a:solidFill>
              <a:srgbClr val="FBBF24"/>
            </a:solidFill>
            <a:prstDash val="dash"/>
          </a:ln>
        </p:spPr>
      </p:sp>
      <p:sp>
        <p:nvSpPr>
          <p:cNvPr id="49" name="Text 45"/>
          <p:cNvSpPr/>
          <p:nvPr/>
        </p:nvSpPr>
        <p:spPr>
          <a:xfrm>
            <a:off x="4044782" y="2264552"/>
            <a:ext cx="332359" cy="85982"/>
          </a:xfrm>
          <a:prstGeom prst="rect">
            <a:avLst/>
          </a:prstGeom>
          <a:solidFill>
            <a:srgbClr val="1B335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6"/>
          <p:cNvSpPr/>
          <p:nvPr/>
        </p:nvSpPr>
        <p:spPr>
          <a:xfrm>
            <a:off x="3970189" y="2270038"/>
            <a:ext cx="467258" cy="91440"/>
          </a:xfrm>
          <a:prstGeom prst="rect">
            <a:avLst/>
          </a:prstGeom>
          <a:noFill/>
          <a:ln/>
        </p:spPr>
        <p:txBody>
          <a:bodyPr wrap="square" lIns="21431" tIns="0" rIns="21431" bIns="0" rtlCol="0" anchor="t"/>
          <a:lstStyle/>
          <a:p>
            <a:pPr marL="0" indent="0" algn="l">
              <a:lnSpc>
                <a:spcPts val="591"/>
              </a:lnSpc>
              <a:buNone/>
            </a:pPr>
            <a:r>
              <a:rPr lang="en-US" sz="600" b="1" kern="0" spc="24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TGT 0.40%</a:t>
            </a:r>
            <a:endParaRPr lang="en-US" sz="600" dirty="0"/>
          </a:p>
        </p:txBody>
      </p:sp>
      <p:sp>
        <p:nvSpPr>
          <p:cNvPr id="51" name="Text 47"/>
          <p:cNvSpPr/>
          <p:nvPr/>
        </p:nvSpPr>
        <p:spPr>
          <a:xfrm>
            <a:off x="2707481" y="2277182"/>
            <a:ext cx="294233" cy="607219"/>
          </a:xfrm>
          <a:prstGeom prst="roundRect">
            <a:avLst>
              <a:gd name="adj" fmla="val 6474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8"/>
          <p:cNvSpPr/>
          <p:nvPr/>
        </p:nvSpPr>
        <p:spPr>
          <a:xfrm>
            <a:off x="2698347" y="2184313"/>
            <a:ext cx="312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0.43</a:t>
            </a:r>
            <a:endParaRPr lang="en-US" sz="800" dirty="0"/>
          </a:p>
        </p:txBody>
      </p:sp>
      <p:sp>
        <p:nvSpPr>
          <p:cNvPr id="53" name="Text 49"/>
          <p:cNvSpPr/>
          <p:nvPr/>
        </p:nvSpPr>
        <p:spPr>
          <a:xfrm>
            <a:off x="3044577" y="2370051"/>
            <a:ext cx="294345" cy="514350"/>
          </a:xfrm>
          <a:prstGeom prst="roundRect">
            <a:avLst>
              <a:gd name="adj" fmla="val 6472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0"/>
          <p:cNvSpPr/>
          <p:nvPr/>
        </p:nvSpPr>
        <p:spPr>
          <a:xfrm>
            <a:off x="3035499" y="2277182"/>
            <a:ext cx="312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0.36</a:t>
            </a:r>
            <a:endParaRPr lang="en-US" sz="800" dirty="0"/>
          </a:p>
        </p:txBody>
      </p:sp>
      <p:sp>
        <p:nvSpPr>
          <p:cNvPr id="55" name="Text 51"/>
          <p:cNvSpPr/>
          <p:nvPr/>
        </p:nvSpPr>
        <p:spPr>
          <a:xfrm>
            <a:off x="3381784" y="2427201"/>
            <a:ext cx="294345" cy="457200"/>
          </a:xfrm>
          <a:prstGeom prst="roundRect">
            <a:avLst>
              <a:gd name="adj" fmla="val 6472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2"/>
          <p:cNvSpPr/>
          <p:nvPr/>
        </p:nvSpPr>
        <p:spPr>
          <a:xfrm>
            <a:off x="3372706" y="2334332"/>
            <a:ext cx="312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0.32</a:t>
            </a:r>
            <a:endParaRPr lang="en-US" sz="800" dirty="0"/>
          </a:p>
        </p:txBody>
      </p:sp>
      <p:sp>
        <p:nvSpPr>
          <p:cNvPr id="57" name="Text 53"/>
          <p:cNvSpPr/>
          <p:nvPr/>
        </p:nvSpPr>
        <p:spPr>
          <a:xfrm>
            <a:off x="3718992" y="2505782"/>
            <a:ext cx="294345" cy="378619"/>
          </a:xfrm>
          <a:prstGeom prst="roundRect">
            <a:avLst>
              <a:gd name="adj" fmla="val 6472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4"/>
          <p:cNvSpPr/>
          <p:nvPr/>
        </p:nvSpPr>
        <p:spPr>
          <a:xfrm>
            <a:off x="3709913" y="2412913"/>
            <a:ext cx="312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0.26</a:t>
            </a:r>
            <a:endParaRPr lang="en-US" sz="800" dirty="0"/>
          </a:p>
        </p:txBody>
      </p:sp>
      <p:sp>
        <p:nvSpPr>
          <p:cNvPr id="59" name="Text 55"/>
          <p:cNvSpPr/>
          <p:nvPr/>
        </p:nvSpPr>
        <p:spPr>
          <a:xfrm>
            <a:off x="4056199" y="2555788"/>
            <a:ext cx="294345" cy="328613"/>
          </a:xfrm>
          <a:prstGeom prst="roundRect">
            <a:avLst>
              <a:gd name="adj" fmla="val 6472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6"/>
          <p:cNvSpPr/>
          <p:nvPr/>
        </p:nvSpPr>
        <p:spPr>
          <a:xfrm>
            <a:off x="4047121" y="2462919"/>
            <a:ext cx="312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0.22</a:t>
            </a:r>
            <a:endParaRPr lang="en-US" sz="800" dirty="0"/>
          </a:p>
        </p:txBody>
      </p:sp>
      <p:sp>
        <p:nvSpPr>
          <p:cNvPr id="61" name="Text 57"/>
          <p:cNvSpPr/>
          <p:nvPr/>
        </p:nvSpPr>
        <p:spPr>
          <a:xfrm>
            <a:off x="2707481" y="2927263"/>
            <a:ext cx="3825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kern="0" spc="18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2021</a:t>
            </a:r>
            <a:endParaRPr lang="en-US" sz="800" dirty="0"/>
          </a:p>
        </p:txBody>
      </p:sp>
      <p:sp>
        <p:nvSpPr>
          <p:cNvPr id="62" name="Text 58"/>
          <p:cNvSpPr/>
          <p:nvPr/>
        </p:nvSpPr>
        <p:spPr>
          <a:xfrm>
            <a:off x="2956274" y="2927263"/>
            <a:ext cx="4709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kern="0" spc="18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63" name="Text 59"/>
          <p:cNvSpPr/>
          <p:nvPr/>
        </p:nvSpPr>
        <p:spPr>
          <a:xfrm>
            <a:off x="3293481" y="2927263"/>
            <a:ext cx="4709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kern="0" spc="18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2023</a:t>
            </a:r>
            <a:endParaRPr lang="en-US" sz="800" dirty="0"/>
          </a:p>
        </p:txBody>
      </p:sp>
      <p:sp>
        <p:nvSpPr>
          <p:cNvPr id="64" name="Text 60"/>
          <p:cNvSpPr/>
          <p:nvPr/>
        </p:nvSpPr>
        <p:spPr>
          <a:xfrm>
            <a:off x="3630688" y="2927263"/>
            <a:ext cx="4709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kern="0" spc="18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D4</a:t>
            </a:r>
            <a:endParaRPr lang="en-US" sz="800" dirty="0"/>
          </a:p>
        </p:txBody>
      </p:sp>
      <p:sp>
        <p:nvSpPr>
          <p:cNvPr id="65" name="Text 61"/>
          <p:cNvSpPr/>
          <p:nvPr/>
        </p:nvSpPr>
        <p:spPr>
          <a:xfrm>
            <a:off x="3879592" y="2927263"/>
            <a:ext cx="4709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kern="0" spc="18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D5</a:t>
            </a:r>
            <a:endParaRPr lang="en-US" sz="800" dirty="0"/>
          </a:p>
        </p:txBody>
      </p:sp>
      <p:sp>
        <p:nvSpPr>
          <p:cNvPr id="66" name="Text 62"/>
          <p:cNvSpPr/>
          <p:nvPr/>
        </p:nvSpPr>
        <p:spPr>
          <a:xfrm>
            <a:off x="2707481" y="3075161"/>
            <a:ext cx="57150" cy="5715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3"/>
          <p:cNvSpPr/>
          <p:nvPr/>
        </p:nvSpPr>
        <p:spPr>
          <a:xfrm>
            <a:off x="2694754" y="3055851"/>
            <a:ext cx="53549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4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PRE-SFM</a:t>
            </a:r>
            <a:endParaRPr lang="en-US" sz="800" dirty="0"/>
          </a:p>
        </p:txBody>
      </p:sp>
      <p:sp>
        <p:nvSpPr>
          <p:cNvPr id="68" name="Text 64"/>
          <p:cNvSpPr/>
          <p:nvPr/>
        </p:nvSpPr>
        <p:spPr>
          <a:xfrm>
            <a:off x="3190801" y="3075161"/>
            <a:ext cx="57150" cy="57150"/>
          </a:xfrm>
          <a:prstGeom prst="roundRect">
            <a:avLst>
              <a:gd name="adj" fmla="val 16667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65"/>
          <p:cNvSpPr/>
          <p:nvPr/>
        </p:nvSpPr>
        <p:spPr>
          <a:xfrm>
            <a:off x="3190801" y="3055851"/>
            <a:ext cx="11597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4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POST-SFM</a:t>
            </a:r>
            <a:endParaRPr lang="en-US" sz="800" dirty="0"/>
          </a:p>
        </p:txBody>
      </p:sp>
      <p:sp>
        <p:nvSpPr>
          <p:cNvPr id="70" name="Shape 66"/>
          <p:cNvSpPr/>
          <p:nvPr/>
        </p:nvSpPr>
        <p:spPr>
          <a:xfrm>
            <a:off x="2707481" y="3353767"/>
            <a:ext cx="1643063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71" name="Text 67"/>
          <p:cNvSpPr/>
          <p:nvPr/>
        </p:nvSpPr>
        <p:spPr>
          <a:xfrm>
            <a:off x="2684621" y="3403131"/>
            <a:ext cx="864014" cy="212027"/>
          </a:xfrm>
          <a:prstGeom prst="roundRect">
            <a:avLst>
              <a:gd name="adj" fmla="val 17969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68"/>
          <p:cNvSpPr/>
          <p:nvPr/>
        </p:nvSpPr>
        <p:spPr>
          <a:xfrm>
            <a:off x="2646271" y="3414489"/>
            <a:ext cx="94071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49% REDUCTION</a:t>
            </a:r>
            <a:endParaRPr lang="en-US" sz="800" dirty="0"/>
          </a:p>
        </p:txBody>
      </p:sp>
      <p:sp>
        <p:nvSpPr>
          <p:cNvPr id="73" name="Text 69"/>
          <p:cNvSpPr/>
          <p:nvPr/>
        </p:nvSpPr>
        <p:spPr>
          <a:xfrm>
            <a:off x="3994267" y="3460924"/>
            <a:ext cx="41151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600" kern="0" spc="41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−0.21 PT</a:t>
            </a:r>
            <a:endParaRPr lang="en-US" sz="600" dirty="0"/>
          </a:p>
        </p:txBody>
      </p:sp>
      <p:sp>
        <p:nvSpPr>
          <p:cNvPr id="74" name="Text 70"/>
          <p:cNvSpPr/>
          <p:nvPr/>
        </p:nvSpPr>
        <p:spPr>
          <a:xfrm>
            <a:off x="4632722" y="1199927"/>
            <a:ext cx="1964531" cy="2564606"/>
          </a:xfrm>
          <a:prstGeom prst="roundRect">
            <a:avLst>
              <a:gd name="adj" fmla="val 4848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71"/>
          <p:cNvSpPr/>
          <p:nvPr/>
        </p:nvSpPr>
        <p:spPr>
          <a:xfrm>
            <a:off x="4793456" y="1360661"/>
            <a:ext cx="15144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FIRST AID &amp; NEAR-MISS</a:t>
            </a:r>
            <a:endParaRPr lang="en-US" sz="800" dirty="0"/>
          </a:p>
        </p:txBody>
      </p:sp>
      <p:sp>
        <p:nvSpPr>
          <p:cNvPr id="76" name="Text 72"/>
          <p:cNvSpPr/>
          <p:nvPr/>
        </p:nvSpPr>
        <p:spPr>
          <a:xfrm>
            <a:off x="6322219" y="136244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1125" dirty="0"/>
          </a:p>
        </p:txBody>
      </p:sp>
      <p:sp>
        <p:nvSpPr>
          <p:cNvPr id="77" name="Text 73"/>
          <p:cNvSpPr/>
          <p:nvPr/>
        </p:nvSpPr>
        <p:spPr>
          <a:xfrm>
            <a:off x="4793456" y="1521396"/>
            <a:ext cx="1643063" cy="4869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kern="0" spc="-108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</a:t>
            </a:r>
            <a:endParaRPr lang="en-US" sz="3600" dirty="0"/>
          </a:p>
        </p:txBody>
      </p:sp>
      <p:sp>
        <p:nvSpPr>
          <p:cNvPr id="78" name="Text 74"/>
          <p:cNvSpPr/>
          <p:nvPr/>
        </p:nvSpPr>
        <p:spPr>
          <a:xfrm>
            <a:off x="4793456" y="2035746"/>
            <a:ext cx="1741646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</a:t>
            </a:r>
            <a:r>
              <a:rPr lang="en-US" sz="800" b="1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59</a:t>
            </a: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(2021) → </a:t>
            </a:r>
            <a:r>
              <a:rPr lang="en-US" sz="800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(post-SFM)</a:t>
            </a:r>
            <a:endParaRPr lang="en-US" sz="800" dirty="0"/>
          </a:p>
        </p:txBody>
      </p:sp>
      <p:sp>
        <p:nvSpPr>
          <p:cNvPr id="79" name="Shape 75"/>
          <p:cNvSpPr/>
          <p:nvPr/>
        </p:nvSpPr>
        <p:spPr>
          <a:xfrm>
            <a:off x="4793456" y="2895116"/>
            <a:ext cx="1643063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80" name="Text 76"/>
          <p:cNvSpPr/>
          <p:nvPr/>
        </p:nvSpPr>
        <p:spPr>
          <a:xfrm>
            <a:off x="4793456" y="2277182"/>
            <a:ext cx="378619" cy="607219"/>
          </a:xfrm>
          <a:prstGeom prst="roundRect">
            <a:avLst>
              <a:gd name="adj" fmla="val 5031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1" name="Text 77"/>
          <p:cNvSpPr/>
          <p:nvPr/>
        </p:nvSpPr>
        <p:spPr>
          <a:xfrm>
            <a:off x="4793456" y="2184313"/>
            <a:ext cx="3786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59</a:t>
            </a:r>
            <a:endParaRPr lang="en-US" sz="800" dirty="0"/>
          </a:p>
        </p:txBody>
      </p:sp>
      <p:sp>
        <p:nvSpPr>
          <p:cNvPr id="82" name="Text 78"/>
          <p:cNvSpPr/>
          <p:nvPr/>
        </p:nvSpPr>
        <p:spPr>
          <a:xfrm>
            <a:off x="5214938" y="2362907"/>
            <a:ext cx="378619" cy="521494"/>
          </a:xfrm>
          <a:prstGeom prst="roundRect">
            <a:avLst>
              <a:gd name="adj" fmla="val 5031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3" name="Text 79"/>
          <p:cNvSpPr/>
          <p:nvPr/>
        </p:nvSpPr>
        <p:spPr>
          <a:xfrm>
            <a:off x="5214938" y="2270038"/>
            <a:ext cx="3786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</a:t>
            </a:r>
            <a:endParaRPr lang="en-US" sz="800" dirty="0"/>
          </a:p>
        </p:txBody>
      </p:sp>
      <p:sp>
        <p:nvSpPr>
          <p:cNvPr id="84" name="Text 80"/>
          <p:cNvSpPr/>
          <p:nvPr/>
        </p:nvSpPr>
        <p:spPr>
          <a:xfrm>
            <a:off x="5636419" y="2741526"/>
            <a:ext cx="378619" cy="142875"/>
          </a:xfrm>
          <a:prstGeom prst="roundRect">
            <a:avLst>
              <a:gd name="adj" fmla="val 13333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5" name="Text 81"/>
          <p:cNvSpPr/>
          <p:nvPr/>
        </p:nvSpPr>
        <p:spPr>
          <a:xfrm>
            <a:off x="5636419" y="2648657"/>
            <a:ext cx="3786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</a:t>
            </a:r>
            <a:endParaRPr lang="en-US" sz="800" dirty="0"/>
          </a:p>
        </p:txBody>
      </p:sp>
      <p:sp>
        <p:nvSpPr>
          <p:cNvPr id="86" name="Text 82"/>
          <p:cNvSpPr/>
          <p:nvPr/>
        </p:nvSpPr>
        <p:spPr>
          <a:xfrm>
            <a:off x="6057900" y="2762957"/>
            <a:ext cx="378619" cy="121444"/>
          </a:xfrm>
          <a:prstGeom prst="roundRect">
            <a:avLst>
              <a:gd name="adj" fmla="val 15686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7" name="Text 83"/>
          <p:cNvSpPr/>
          <p:nvPr/>
        </p:nvSpPr>
        <p:spPr>
          <a:xfrm>
            <a:off x="6057900" y="2670088"/>
            <a:ext cx="3786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</a:t>
            </a:r>
            <a:endParaRPr lang="en-US" sz="800" dirty="0"/>
          </a:p>
        </p:txBody>
      </p:sp>
      <p:sp>
        <p:nvSpPr>
          <p:cNvPr id="88" name="Text 84"/>
          <p:cNvSpPr/>
          <p:nvPr/>
        </p:nvSpPr>
        <p:spPr>
          <a:xfrm>
            <a:off x="4793456" y="2927263"/>
            <a:ext cx="49220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kern="0" spc="18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2021</a:t>
            </a:r>
            <a:endParaRPr lang="en-US" sz="800" dirty="0"/>
          </a:p>
        </p:txBody>
      </p:sp>
      <p:sp>
        <p:nvSpPr>
          <p:cNvPr id="89" name="Text 85"/>
          <p:cNvSpPr/>
          <p:nvPr/>
        </p:nvSpPr>
        <p:spPr>
          <a:xfrm>
            <a:off x="5101352" y="2927263"/>
            <a:ext cx="6057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kern="0" spc="18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90" name="Text 86"/>
          <p:cNvSpPr/>
          <p:nvPr/>
        </p:nvSpPr>
        <p:spPr>
          <a:xfrm>
            <a:off x="5522833" y="2927263"/>
            <a:ext cx="6057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kern="0" spc="18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2023</a:t>
            </a:r>
            <a:endParaRPr lang="en-US" sz="800" dirty="0"/>
          </a:p>
        </p:txBody>
      </p:sp>
      <p:sp>
        <p:nvSpPr>
          <p:cNvPr id="91" name="Text 87"/>
          <p:cNvSpPr/>
          <p:nvPr/>
        </p:nvSpPr>
        <p:spPr>
          <a:xfrm>
            <a:off x="5830729" y="2927263"/>
            <a:ext cx="6057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kern="0" spc="18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POST</a:t>
            </a:r>
            <a:endParaRPr lang="en-US" sz="800" dirty="0"/>
          </a:p>
        </p:txBody>
      </p:sp>
      <p:sp>
        <p:nvSpPr>
          <p:cNvPr id="92" name="Text 88"/>
          <p:cNvSpPr/>
          <p:nvPr/>
        </p:nvSpPr>
        <p:spPr>
          <a:xfrm>
            <a:off x="4793456" y="3075161"/>
            <a:ext cx="57150" cy="5715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3" name="Text 89"/>
          <p:cNvSpPr/>
          <p:nvPr/>
        </p:nvSpPr>
        <p:spPr>
          <a:xfrm>
            <a:off x="4780729" y="3055851"/>
            <a:ext cx="53549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4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PRE-SFM</a:t>
            </a:r>
            <a:endParaRPr lang="en-US" sz="800" dirty="0"/>
          </a:p>
        </p:txBody>
      </p:sp>
      <p:sp>
        <p:nvSpPr>
          <p:cNvPr id="94" name="Text 90"/>
          <p:cNvSpPr/>
          <p:nvPr/>
        </p:nvSpPr>
        <p:spPr>
          <a:xfrm>
            <a:off x="5276776" y="3075161"/>
            <a:ext cx="57150" cy="57150"/>
          </a:xfrm>
          <a:prstGeom prst="roundRect">
            <a:avLst>
              <a:gd name="adj" fmla="val 16667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5" name="Text 91"/>
          <p:cNvSpPr/>
          <p:nvPr/>
        </p:nvSpPr>
        <p:spPr>
          <a:xfrm>
            <a:off x="5276776" y="3055851"/>
            <a:ext cx="11597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4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POST-SFM</a:t>
            </a:r>
            <a:endParaRPr lang="en-US" sz="800" dirty="0"/>
          </a:p>
        </p:txBody>
      </p:sp>
      <p:sp>
        <p:nvSpPr>
          <p:cNvPr id="96" name="Shape 92"/>
          <p:cNvSpPr/>
          <p:nvPr/>
        </p:nvSpPr>
        <p:spPr>
          <a:xfrm>
            <a:off x="4793456" y="3353767"/>
            <a:ext cx="1643063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97" name="Text 93"/>
          <p:cNvSpPr/>
          <p:nvPr/>
        </p:nvSpPr>
        <p:spPr>
          <a:xfrm>
            <a:off x="4770596" y="3403131"/>
            <a:ext cx="864014" cy="212027"/>
          </a:xfrm>
          <a:prstGeom prst="roundRect">
            <a:avLst>
              <a:gd name="adj" fmla="val 17969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8" name="Text 94"/>
          <p:cNvSpPr/>
          <p:nvPr/>
        </p:nvSpPr>
        <p:spPr>
          <a:xfrm>
            <a:off x="4732246" y="3414489"/>
            <a:ext cx="94071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85% REDUCTION</a:t>
            </a:r>
            <a:endParaRPr lang="en-US" sz="800" dirty="0"/>
          </a:p>
        </p:txBody>
      </p:sp>
      <p:sp>
        <p:nvSpPr>
          <p:cNvPr id="99" name="Text 95"/>
          <p:cNvSpPr/>
          <p:nvPr/>
        </p:nvSpPr>
        <p:spPr>
          <a:xfrm>
            <a:off x="5963553" y="3460924"/>
            <a:ext cx="53829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600" kern="0" spc="41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−50 EVENTS</a:t>
            </a:r>
            <a:endParaRPr lang="en-US" sz="600" dirty="0"/>
          </a:p>
        </p:txBody>
      </p:sp>
      <p:sp>
        <p:nvSpPr>
          <p:cNvPr id="100" name="Text 96"/>
          <p:cNvSpPr/>
          <p:nvPr/>
        </p:nvSpPr>
        <p:spPr>
          <a:xfrm>
            <a:off x="6718697" y="1199927"/>
            <a:ext cx="1964531" cy="2564606"/>
          </a:xfrm>
          <a:prstGeom prst="roundRect">
            <a:avLst>
              <a:gd name="adj" fmla="val 4848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1" name="Text 97"/>
          <p:cNvSpPr/>
          <p:nvPr/>
        </p:nvSpPr>
        <p:spPr>
          <a:xfrm>
            <a:off x="6879431" y="1360661"/>
            <a:ext cx="15144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INCIDENTS</a:t>
            </a:r>
            <a:endParaRPr lang="en-US" sz="800" dirty="0"/>
          </a:p>
        </p:txBody>
      </p:sp>
      <p:sp>
        <p:nvSpPr>
          <p:cNvPr id="102" name="Text 98"/>
          <p:cNvSpPr/>
          <p:nvPr/>
        </p:nvSpPr>
        <p:spPr>
          <a:xfrm>
            <a:off x="8408194" y="136244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103" name="Text 99"/>
          <p:cNvSpPr/>
          <p:nvPr/>
        </p:nvSpPr>
        <p:spPr>
          <a:xfrm>
            <a:off x="6879431" y="1521396"/>
            <a:ext cx="1643063" cy="4869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kern="0" spc="-108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3600" dirty="0"/>
          </a:p>
        </p:txBody>
      </p:sp>
      <p:sp>
        <p:nvSpPr>
          <p:cNvPr id="104" name="Text 100"/>
          <p:cNvSpPr/>
          <p:nvPr/>
        </p:nvSpPr>
        <p:spPr>
          <a:xfrm>
            <a:off x="6879431" y="2035746"/>
            <a:ext cx="1741646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</a:t>
            </a:r>
            <a:r>
              <a:rPr lang="en-US" sz="800" b="1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44</a:t>
            </a: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(2021) → </a:t>
            </a:r>
            <a:r>
              <a:rPr lang="en-US" sz="800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(post-SFM)</a:t>
            </a:r>
            <a:endParaRPr lang="en-US" sz="800" dirty="0"/>
          </a:p>
        </p:txBody>
      </p:sp>
      <p:sp>
        <p:nvSpPr>
          <p:cNvPr id="105" name="Shape 101"/>
          <p:cNvSpPr/>
          <p:nvPr/>
        </p:nvSpPr>
        <p:spPr>
          <a:xfrm>
            <a:off x="6879431" y="2895116"/>
            <a:ext cx="1643063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106" name="Shape 102"/>
          <p:cNvSpPr/>
          <p:nvPr/>
        </p:nvSpPr>
        <p:spPr>
          <a:xfrm>
            <a:off x="6879431" y="2530785"/>
            <a:ext cx="1643063" cy="0"/>
          </a:xfrm>
          <a:prstGeom prst="line">
            <a:avLst/>
          </a:prstGeom>
          <a:noFill/>
          <a:ln w="7144">
            <a:solidFill>
              <a:srgbClr val="FBBF24"/>
            </a:solidFill>
            <a:prstDash val="dash"/>
          </a:ln>
        </p:spPr>
      </p:sp>
      <p:sp>
        <p:nvSpPr>
          <p:cNvPr id="107" name="Text 103"/>
          <p:cNvSpPr/>
          <p:nvPr/>
        </p:nvSpPr>
        <p:spPr>
          <a:xfrm>
            <a:off x="8306919" y="2471721"/>
            <a:ext cx="240835" cy="85982"/>
          </a:xfrm>
          <a:prstGeom prst="rect">
            <a:avLst/>
          </a:prstGeom>
          <a:solidFill>
            <a:srgbClr val="1B335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8" name="Text 104"/>
          <p:cNvSpPr/>
          <p:nvPr/>
        </p:nvSpPr>
        <p:spPr>
          <a:xfrm>
            <a:off x="8254900" y="2477207"/>
            <a:ext cx="330586" cy="91440"/>
          </a:xfrm>
          <a:prstGeom prst="rect">
            <a:avLst/>
          </a:prstGeom>
          <a:noFill/>
          <a:ln/>
        </p:spPr>
        <p:txBody>
          <a:bodyPr wrap="square" lIns="21431" tIns="0" rIns="21431" bIns="0" rtlCol="0" anchor="t"/>
          <a:lstStyle/>
          <a:p>
            <a:pPr marL="0" indent="0" algn="l">
              <a:lnSpc>
                <a:spcPts val="591"/>
              </a:lnSpc>
              <a:buNone/>
            </a:pPr>
            <a:r>
              <a:rPr lang="en-US" sz="600" b="1" kern="0" spc="24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TGT 25</a:t>
            </a:r>
            <a:endParaRPr lang="en-US" sz="600" dirty="0"/>
          </a:p>
        </p:txBody>
      </p:sp>
      <p:sp>
        <p:nvSpPr>
          <p:cNvPr id="109" name="Text 105"/>
          <p:cNvSpPr/>
          <p:nvPr/>
        </p:nvSpPr>
        <p:spPr>
          <a:xfrm>
            <a:off x="6879431" y="2277182"/>
            <a:ext cx="294233" cy="607219"/>
          </a:xfrm>
          <a:prstGeom prst="roundRect">
            <a:avLst>
              <a:gd name="adj" fmla="val 6474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0" name="Text 106"/>
          <p:cNvSpPr/>
          <p:nvPr/>
        </p:nvSpPr>
        <p:spPr>
          <a:xfrm>
            <a:off x="6879431" y="2184313"/>
            <a:ext cx="2942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44</a:t>
            </a:r>
            <a:endParaRPr lang="en-US" sz="800" dirty="0"/>
          </a:p>
        </p:txBody>
      </p:sp>
      <p:sp>
        <p:nvSpPr>
          <p:cNvPr id="111" name="Text 107"/>
          <p:cNvSpPr/>
          <p:nvPr/>
        </p:nvSpPr>
        <p:spPr>
          <a:xfrm>
            <a:off x="7216527" y="2741526"/>
            <a:ext cx="294345" cy="142875"/>
          </a:xfrm>
          <a:prstGeom prst="roundRect">
            <a:avLst>
              <a:gd name="adj" fmla="val 13333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2" name="Text 108"/>
          <p:cNvSpPr/>
          <p:nvPr/>
        </p:nvSpPr>
        <p:spPr>
          <a:xfrm>
            <a:off x="7216527" y="2648657"/>
            <a:ext cx="29434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800" dirty="0"/>
          </a:p>
        </p:txBody>
      </p:sp>
      <p:sp>
        <p:nvSpPr>
          <p:cNvPr id="113" name="Text 109"/>
          <p:cNvSpPr/>
          <p:nvPr/>
        </p:nvSpPr>
        <p:spPr>
          <a:xfrm>
            <a:off x="7553734" y="2755813"/>
            <a:ext cx="294345" cy="128588"/>
          </a:xfrm>
          <a:prstGeom prst="roundRect">
            <a:avLst>
              <a:gd name="adj" fmla="val 14815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4" name="Text 110"/>
          <p:cNvSpPr/>
          <p:nvPr/>
        </p:nvSpPr>
        <p:spPr>
          <a:xfrm>
            <a:off x="7553734" y="2662944"/>
            <a:ext cx="29434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800" dirty="0"/>
          </a:p>
        </p:txBody>
      </p:sp>
      <p:sp>
        <p:nvSpPr>
          <p:cNvPr id="115" name="Text 111"/>
          <p:cNvSpPr/>
          <p:nvPr/>
        </p:nvSpPr>
        <p:spPr>
          <a:xfrm>
            <a:off x="7890942" y="2812963"/>
            <a:ext cx="294345" cy="71438"/>
          </a:xfrm>
          <a:prstGeom prst="roundRect">
            <a:avLst>
              <a:gd name="adj" fmla="val 26666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6" name="Text 112"/>
          <p:cNvSpPr/>
          <p:nvPr/>
        </p:nvSpPr>
        <p:spPr>
          <a:xfrm>
            <a:off x="7890942" y="2720094"/>
            <a:ext cx="29434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117" name="Text 113"/>
          <p:cNvSpPr/>
          <p:nvPr/>
        </p:nvSpPr>
        <p:spPr>
          <a:xfrm>
            <a:off x="8228149" y="2670088"/>
            <a:ext cx="294345" cy="214313"/>
          </a:xfrm>
          <a:prstGeom prst="roundRect">
            <a:avLst>
              <a:gd name="adj" fmla="val 8889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8" name="Text 114"/>
          <p:cNvSpPr/>
          <p:nvPr/>
        </p:nvSpPr>
        <p:spPr>
          <a:xfrm>
            <a:off x="8228149" y="2577219"/>
            <a:ext cx="29434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800" dirty="0"/>
          </a:p>
        </p:txBody>
      </p:sp>
      <p:sp>
        <p:nvSpPr>
          <p:cNvPr id="119" name="Text 115"/>
          <p:cNvSpPr/>
          <p:nvPr/>
        </p:nvSpPr>
        <p:spPr>
          <a:xfrm>
            <a:off x="6879431" y="2927263"/>
            <a:ext cx="3825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kern="0" spc="18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2021</a:t>
            </a:r>
            <a:endParaRPr lang="en-US" sz="800" dirty="0"/>
          </a:p>
        </p:txBody>
      </p:sp>
      <p:sp>
        <p:nvSpPr>
          <p:cNvPr id="120" name="Text 116"/>
          <p:cNvSpPr/>
          <p:nvPr/>
        </p:nvSpPr>
        <p:spPr>
          <a:xfrm>
            <a:off x="7128224" y="2927263"/>
            <a:ext cx="4709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kern="0" spc="18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121" name="Text 117"/>
          <p:cNvSpPr/>
          <p:nvPr/>
        </p:nvSpPr>
        <p:spPr>
          <a:xfrm>
            <a:off x="7465431" y="2927263"/>
            <a:ext cx="4709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kern="0" spc="18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2023</a:t>
            </a:r>
            <a:endParaRPr lang="en-US" sz="800" dirty="0"/>
          </a:p>
        </p:txBody>
      </p:sp>
      <p:sp>
        <p:nvSpPr>
          <p:cNvPr id="122" name="Text 118"/>
          <p:cNvSpPr/>
          <p:nvPr/>
        </p:nvSpPr>
        <p:spPr>
          <a:xfrm>
            <a:off x="7802638" y="2927263"/>
            <a:ext cx="4709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kern="0" spc="18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D4</a:t>
            </a:r>
            <a:endParaRPr lang="en-US" sz="800" dirty="0"/>
          </a:p>
        </p:txBody>
      </p:sp>
      <p:sp>
        <p:nvSpPr>
          <p:cNvPr id="123" name="Text 119"/>
          <p:cNvSpPr/>
          <p:nvPr/>
        </p:nvSpPr>
        <p:spPr>
          <a:xfrm>
            <a:off x="8051542" y="2927263"/>
            <a:ext cx="4709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kern="0" spc="18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D5</a:t>
            </a:r>
            <a:endParaRPr lang="en-US" sz="800" dirty="0"/>
          </a:p>
        </p:txBody>
      </p:sp>
      <p:sp>
        <p:nvSpPr>
          <p:cNvPr id="124" name="Text 120"/>
          <p:cNvSpPr/>
          <p:nvPr/>
        </p:nvSpPr>
        <p:spPr>
          <a:xfrm>
            <a:off x="6879431" y="3075161"/>
            <a:ext cx="57150" cy="5715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5" name="Text 121"/>
          <p:cNvSpPr/>
          <p:nvPr/>
        </p:nvSpPr>
        <p:spPr>
          <a:xfrm>
            <a:off x="6866704" y="3055851"/>
            <a:ext cx="53549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4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PRE-SFM</a:t>
            </a:r>
            <a:endParaRPr lang="en-US" sz="800" dirty="0"/>
          </a:p>
        </p:txBody>
      </p:sp>
      <p:sp>
        <p:nvSpPr>
          <p:cNvPr id="126" name="Text 122"/>
          <p:cNvSpPr/>
          <p:nvPr/>
        </p:nvSpPr>
        <p:spPr>
          <a:xfrm>
            <a:off x="7362751" y="3075161"/>
            <a:ext cx="57150" cy="57150"/>
          </a:xfrm>
          <a:prstGeom prst="roundRect">
            <a:avLst>
              <a:gd name="adj" fmla="val 16667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7" name="Text 123"/>
          <p:cNvSpPr/>
          <p:nvPr/>
        </p:nvSpPr>
        <p:spPr>
          <a:xfrm>
            <a:off x="7362751" y="3055851"/>
            <a:ext cx="11597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4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POST-SFM</a:t>
            </a:r>
            <a:endParaRPr lang="en-US" sz="800" dirty="0"/>
          </a:p>
        </p:txBody>
      </p:sp>
      <p:sp>
        <p:nvSpPr>
          <p:cNvPr id="128" name="Shape 124"/>
          <p:cNvSpPr/>
          <p:nvPr/>
        </p:nvSpPr>
        <p:spPr>
          <a:xfrm>
            <a:off x="6879431" y="3353767"/>
            <a:ext cx="1643063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129" name="Text 125"/>
          <p:cNvSpPr/>
          <p:nvPr/>
        </p:nvSpPr>
        <p:spPr>
          <a:xfrm>
            <a:off x="6856571" y="3403131"/>
            <a:ext cx="823273" cy="212027"/>
          </a:xfrm>
          <a:prstGeom prst="roundRect">
            <a:avLst>
              <a:gd name="adj" fmla="val 17969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0" name="Text 126"/>
          <p:cNvSpPr/>
          <p:nvPr/>
        </p:nvSpPr>
        <p:spPr>
          <a:xfrm>
            <a:off x="6787660" y="3414489"/>
            <a:ext cx="96109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WITHIN TARGET</a:t>
            </a:r>
            <a:endParaRPr lang="en-US" sz="800" dirty="0"/>
          </a:p>
        </p:txBody>
      </p:sp>
      <p:sp>
        <p:nvSpPr>
          <p:cNvPr id="131" name="Text 127"/>
          <p:cNvSpPr/>
          <p:nvPr/>
        </p:nvSpPr>
        <p:spPr>
          <a:xfrm>
            <a:off x="8149589" y="3460924"/>
            <a:ext cx="42679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600" kern="0" spc="41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−30 EVTS</a:t>
            </a:r>
            <a:endParaRPr lang="en-US" sz="600" dirty="0"/>
          </a:p>
        </p:txBody>
      </p:sp>
      <p:sp>
        <p:nvSpPr>
          <p:cNvPr id="132" name="Text 128"/>
          <p:cNvSpPr/>
          <p:nvPr/>
        </p:nvSpPr>
        <p:spPr>
          <a:xfrm>
            <a:off x="460772" y="3871689"/>
            <a:ext cx="8222456" cy="517922"/>
          </a:xfrm>
          <a:prstGeom prst="roundRect">
            <a:avLst>
              <a:gd name="adj" fmla="val 18391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3" name="Text 129"/>
          <p:cNvSpPr/>
          <p:nvPr/>
        </p:nvSpPr>
        <p:spPr>
          <a:xfrm>
            <a:off x="625078" y="4005635"/>
            <a:ext cx="250031" cy="250031"/>
          </a:xfrm>
          <a:prstGeom prst="roundRect">
            <a:avLst>
              <a:gd name="adj" fmla="val 30476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FD23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4" name="Text 130"/>
          <p:cNvSpPr/>
          <p:nvPr/>
        </p:nvSpPr>
        <p:spPr>
          <a:xfrm>
            <a:off x="656868" y="4037424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266" dirty="0"/>
          </a:p>
        </p:txBody>
      </p:sp>
      <p:sp>
        <p:nvSpPr>
          <p:cNvPr id="135" name="Text 131"/>
          <p:cNvSpPr/>
          <p:nvPr/>
        </p:nvSpPr>
        <p:spPr>
          <a:xfrm>
            <a:off x="978694" y="3975274"/>
            <a:ext cx="1906511" cy="165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b="1" kern="0" spc="-1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441 KAIZENS · ₹11.74 L SAVED</a:t>
            </a:r>
            <a:endParaRPr lang="en-US" sz="1013" dirty="0"/>
          </a:p>
        </p:txBody>
      </p:sp>
      <p:sp>
        <p:nvSpPr>
          <p:cNvPr id="136" name="Text 132"/>
          <p:cNvSpPr/>
          <p:nvPr/>
        </p:nvSpPr>
        <p:spPr>
          <a:xfrm>
            <a:off x="978694" y="4168155"/>
            <a:ext cx="207835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KAIZEN OUTCOMES (2024)</a:t>
            </a:r>
            <a:endParaRPr lang="en-US" sz="800" dirty="0"/>
          </a:p>
        </p:txBody>
      </p:sp>
      <p:sp>
        <p:nvSpPr>
          <p:cNvPr id="137" name="Text 133"/>
          <p:cNvSpPr/>
          <p:nvPr/>
        </p:nvSpPr>
        <p:spPr>
          <a:xfrm>
            <a:off x="3047479" y="4002063"/>
            <a:ext cx="7144" cy="257175"/>
          </a:xfrm>
          <a:prstGeom prst="rect">
            <a:avLst/>
          </a:prstGeom>
          <a:solidFill>
            <a:srgbClr val="60A5FA">
              <a:alpha val="2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8" name="Text 134"/>
          <p:cNvSpPr/>
          <p:nvPr/>
        </p:nvSpPr>
        <p:spPr>
          <a:xfrm>
            <a:off x="3361804" y="4005635"/>
            <a:ext cx="250031" cy="250031"/>
          </a:xfrm>
          <a:prstGeom prst="roundRect">
            <a:avLst>
              <a:gd name="adj" fmla="val 30476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FD23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9" name="Text 135"/>
          <p:cNvSpPr/>
          <p:nvPr/>
        </p:nvSpPr>
        <p:spPr>
          <a:xfrm>
            <a:off x="3393594" y="4037424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40" name="Text 136"/>
          <p:cNvSpPr/>
          <p:nvPr/>
        </p:nvSpPr>
        <p:spPr>
          <a:xfrm>
            <a:off x="3715420" y="3975274"/>
            <a:ext cx="2421142" cy="165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b="1" kern="0" spc="-1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133 PPSRs CLOSED · ₹7.55 Cr AVOIDED</a:t>
            </a:r>
            <a:endParaRPr lang="en-US" sz="1013" dirty="0"/>
          </a:p>
        </p:txBody>
      </p:sp>
      <p:sp>
        <p:nvSpPr>
          <p:cNvPr id="141" name="Text 137"/>
          <p:cNvSpPr/>
          <p:nvPr/>
        </p:nvSpPr>
        <p:spPr>
          <a:xfrm>
            <a:off x="3715420" y="4168155"/>
            <a:ext cx="2421142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PPSR SCRAP-COST AVOIDANCE (2024)</a:t>
            </a:r>
            <a:endParaRPr lang="en-US" sz="800" dirty="0"/>
          </a:p>
        </p:txBody>
      </p:sp>
      <p:sp>
        <p:nvSpPr>
          <p:cNvPr id="142" name="Text 138"/>
          <p:cNvSpPr/>
          <p:nvPr/>
        </p:nvSpPr>
        <p:spPr>
          <a:xfrm>
            <a:off x="6260716" y="4002063"/>
            <a:ext cx="7144" cy="257175"/>
          </a:xfrm>
          <a:prstGeom prst="rect">
            <a:avLst/>
          </a:prstGeom>
          <a:solidFill>
            <a:srgbClr val="60A5FA">
              <a:alpha val="2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3" name="Text 139"/>
          <p:cNvSpPr/>
          <p:nvPr/>
        </p:nvSpPr>
        <p:spPr>
          <a:xfrm>
            <a:off x="6571357" y="406635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266" dirty="0"/>
          </a:p>
        </p:txBody>
      </p:sp>
      <p:sp>
        <p:nvSpPr>
          <p:cNvPr id="144" name="Text 140"/>
          <p:cNvSpPr/>
          <p:nvPr/>
        </p:nvSpPr>
        <p:spPr>
          <a:xfrm>
            <a:off x="6771382" y="4071714"/>
            <a:ext cx="18561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62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ALL 4 KPIS MOVED DECISIVELY POST-SFM</a:t>
            </a:r>
            <a:endParaRPr lang="en-US" sz="619" dirty="0"/>
          </a:p>
        </p:txBody>
      </p:sp>
      <p:sp>
        <p:nvSpPr>
          <p:cNvPr id="145" name="Text 141"/>
          <p:cNvSpPr/>
          <p:nvPr/>
        </p:nvSpPr>
        <p:spPr>
          <a:xfrm>
            <a:off x="457200" y="4868466"/>
            <a:ext cx="78837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KPI DASHBOARD</a:t>
            </a:r>
            <a:endParaRPr lang="en-US" sz="800" dirty="0"/>
          </a:p>
        </p:txBody>
      </p:sp>
      <p:sp>
        <p:nvSpPr>
          <p:cNvPr id="146" name="Text 142"/>
          <p:cNvSpPr/>
          <p:nvPr/>
        </p:nvSpPr>
        <p:spPr>
          <a:xfrm>
            <a:off x="8355285" y="4868466"/>
            <a:ext cx="476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 / 20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0"/>
            <a:ext cx="42863" cy="857250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460772" y="853343"/>
            <a:ext cx="2587265" cy="182166"/>
          </a:xfrm>
          <a:prstGeom prst="roundRect">
            <a:avLst>
              <a:gd name="adj" fmla="val 20915"/>
            </a:avLst>
          </a:prstGeom>
          <a:solidFill>
            <a:srgbClr val="3B82F6">
              <a:alpha val="16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664369" y="892634"/>
            <a:ext cx="2308659" cy="139654"/>
          </a:xfrm>
          <a:prstGeom prst="rect">
            <a:avLst/>
          </a:prstGeom>
          <a:noFill/>
          <a:ln/>
        </p:spPr>
        <p:txBody>
          <a:bodyPr wrap="square" lIns="71438" tIns="28575" rIns="71438" bIns="28575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IIQ NATIONAL EXCELLENCE PRACTICE COMPETITION 2025</a:t>
            </a:r>
            <a:endParaRPr lang="en-US" sz="619" dirty="0"/>
          </a:p>
        </p:txBody>
      </p:sp>
      <p:sp>
        <p:nvSpPr>
          <p:cNvPr id="7" name="Text 3"/>
          <p:cNvSpPr/>
          <p:nvPr/>
        </p:nvSpPr>
        <p:spPr>
          <a:xfrm>
            <a:off x="535781" y="901564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844" dirty="0"/>
          </a:p>
        </p:txBody>
      </p:sp>
      <p:sp>
        <p:nvSpPr>
          <p:cNvPr id="8" name="Text 4"/>
          <p:cNvSpPr/>
          <p:nvPr/>
        </p:nvSpPr>
        <p:spPr>
          <a:xfrm>
            <a:off x="457200" y="1296256"/>
            <a:ext cx="5266944" cy="586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75"/>
              </a:lnSpc>
              <a:buNone/>
            </a:pPr>
            <a:r>
              <a:rPr lang="en-US" sz="4275" b="1" kern="0" spc="-86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Thank you</a:t>
            </a:r>
            <a:endParaRPr lang="en-US" sz="4275" dirty="0"/>
          </a:p>
        </p:txBody>
      </p:sp>
      <p:sp>
        <p:nvSpPr>
          <p:cNvPr id="9" name="Shape 5"/>
          <p:cNvSpPr/>
          <p:nvPr/>
        </p:nvSpPr>
        <p:spPr>
          <a:xfrm>
            <a:off x="457200" y="2007059"/>
            <a:ext cx="457200" cy="0"/>
          </a:xfrm>
          <a:prstGeom prst="line">
            <a:avLst/>
          </a:prstGeom>
          <a:noFill/>
          <a:ln w="7144">
            <a:solidFill>
              <a:srgbClr val="F1F5F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" y="2174937"/>
            <a:ext cx="3429000" cy="671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31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Shop Floor Management is not a programme — it is the daily cadence that turns strategy into execution at the point of value creation.</a:t>
            </a:r>
            <a:endParaRPr lang="en-US" sz="1125" dirty="0"/>
          </a:p>
        </p:txBody>
      </p:sp>
      <p:sp>
        <p:nvSpPr>
          <p:cNvPr id="11" name="Text 7"/>
          <p:cNvSpPr/>
          <p:nvPr/>
        </p:nvSpPr>
        <p:spPr>
          <a:xfrm>
            <a:off x="460772" y="2957178"/>
            <a:ext cx="3278981" cy="986507"/>
          </a:xfrm>
          <a:prstGeom prst="roundRect">
            <a:avLst>
              <a:gd name="adj" fmla="val 9655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592931" y="3089337"/>
            <a:ext cx="28860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62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PRESENTED BY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3493294" y="309112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14" name="Text 10"/>
          <p:cNvSpPr/>
          <p:nvPr/>
        </p:nvSpPr>
        <p:spPr>
          <a:xfrm>
            <a:off x="592931" y="3264359"/>
            <a:ext cx="3124391" cy="16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Santosh Wankhede · Ajay Alam · Ganesh Hole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92931" y="3461482"/>
            <a:ext cx="3014663" cy="129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 Department · Rheinmetall India · Pune Plant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592931" y="3622216"/>
            <a:ext cx="3014663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92931" y="3700797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14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914" dirty="0"/>
          </a:p>
        </p:txBody>
      </p:sp>
      <p:sp>
        <p:nvSpPr>
          <p:cNvPr id="18" name="Text 14"/>
          <p:cNvSpPr/>
          <p:nvPr/>
        </p:nvSpPr>
        <p:spPr>
          <a:xfrm>
            <a:off x="728663" y="3682938"/>
            <a:ext cx="287893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August 2025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457200" y="4093061"/>
            <a:ext cx="441461" cy="212027"/>
          </a:xfrm>
          <a:prstGeom prst="roundRect">
            <a:avLst>
              <a:gd name="adj" fmla="val 17969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457200" y="4104419"/>
            <a:ext cx="4414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GEMBA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941524" y="4093061"/>
            <a:ext cx="446150" cy="212027"/>
          </a:xfrm>
          <a:prstGeom prst="roundRect">
            <a:avLst>
              <a:gd name="adj" fmla="val 17969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923827" y="4104419"/>
            <a:ext cx="48154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KAIZEN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1430536" y="4093061"/>
            <a:ext cx="367568" cy="212027"/>
          </a:xfrm>
          <a:prstGeom prst="roundRect">
            <a:avLst>
              <a:gd name="adj" fmla="val 17969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1430536" y="4104419"/>
            <a:ext cx="36756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PPSR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1840967" y="4093061"/>
            <a:ext cx="265547" cy="212027"/>
          </a:xfrm>
          <a:prstGeom prst="roundRect">
            <a:avLst>
              <a:gd name="adj" fmla="val 17969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1840967" y="4104419"/>
            <a:ext cx="26554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5S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2149376" y="4093061"/>
            <a:ext cx="1079153" cy="212027"/>
          </a:xfrm>
          <a:prstGeom prst="roundRect">
            <a:avLst>
              <a:gd name="adj" fmla="val 17969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2149376" y="4104419"/>
            <a:ext cx="107915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PEOPLE DEVELOPMENT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5036344" y="0"/>
            <a:ext cx="0" cy="5143500"/>
          </a:xfrm>
          <a:prstGeom prst="line">
            <a:avLst/>
          </a:prstGeom>
          <a:noFill/>
          <a:ln w="14288">
            <a:solidFill>
              <a:srgbClr val="3B82F6"/>
            </a:solidFill>
            <a:prstDash val="solid"/>
          </a:ln>
        </p:spPr>
      </p:sp>
      <p:pic>
        <p:nvPicPr>
          <p:cNvPr id="30" name="Image 2" descr="/tmp/h2p-fit-1785461432585-ed84t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3488" y="0"/>
            <a:ext cx="4100513" cy="5143500"/>
          </a:xfrm>
          <a:prstGeom prst="rect">
            <a:avLst/>
          </a:prstGeom>
        </p:spPr>
      </p:pic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3488" y="0"/>
            <a:ext cx="4100513" cy="5143500"/>
          </a:xfrm>
          <a:prstGeom prst="rect">
            <a:avLst/>
          </a:prstGeom>
        </p:spPr>
      </p:pic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3488" y="4286250"/>
            <a:ext cx="4100513" cy="85725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8174928" y="188666"/>
            <a:ext cx="791907" cy="212027"/>
          </a:xfrm>
          <a:prstGeom prst="roundRect">
            <a:avLst>
              <a:gd name="adj" fmla="val 17969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7"/>
          <p:cNvSpPr/>
          <p:nvPr/>
        </p:nvSpPr>
        <p:spPr>
          <a:xfrm>
            <a:off x="8141286" y="200025"/>
            <a:ext cx="85919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TOP 50 · 2025</a:t>
            </a:r>
            <a:endParaRPr lang="en-US" sz="800" dirty="0"/>
          </a:p>
        </p:txBody>
      </p:sp>
      <p:sp>
        <p:nvSpPr>
          <p:cNvPr id="35" name="Text 28"/>
          <p:cNvSpPr/>
          <p:nvPr/>
        </p:nvSpPr>
        <p:spPr>
          <a:xfrm>
            <a:off x="5243513" y="4633503"/>
            <a:ext cx="3900488" cy="119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74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CELEBRATING THE PEOPLE BEHIND THE NUMBERS</a:t>
            </a:r>
            <a:endParaRPr lang="en-US" sz="800" dirty="0"/>
          </a:p>
        </p:txBody>
      </p:sp>
      <p:sp>
        <p:nvSpPr>
          <p:cNvPr id="36" name="Text 29"/>
          <p:cNvSpPr/>
          <p:nvPr/>
        </p:nvSpPr>
        <p:spPr>
          <a:xfrm>
            <a:off x="5243513" y="4779950"/>
            <a:ext cx="3700463" cy="148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3"/>
              </a:lnSpc>
              <a:buNone/>
            </a:pPr>
            <a:r>
              <a:rPr lang="en-US" sz="788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Top 50 best performers — recognition for ownership, kaizens &amp; PPSR excellence.</a:t>
            </a:r>
            <a:endParaRPr lang="en-US" sz="78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2789</Words>
  <Application>Microsoft Office PowerPoint</Application>
  <PresentationFormat>On-screen Show (16:9)</PresentationFormat>
  <Paragraphs>714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Carlito</vt:lpstr>
      <vt:lpstr>Courier New</vt:lpstr>
      <vt:lpstr>Liberation Sans Narrow</vt:lpstr>
      <vt:lpstr>Segoe UI 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account</cp:lastModifiedBy>
  <cp:revision>2</cp:revision>
  <dcterms:created xsi:type="dcterms:W3CDTF">2026-07-31T01:30:32Z</dcterms:created>
  <dcterms:modified xsi:type="dcterms:W3CDTF">2026-07-31T01:33:42Z</dcterms:modified>
</cp:coreProperties>
</file>