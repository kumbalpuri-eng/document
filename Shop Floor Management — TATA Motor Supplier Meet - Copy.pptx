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39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42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811" y="0"/>
            <a:ext cx="5029200" cy="51435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457200" y="2860402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457200" y="4170499"/>
            <a:ext cx="3840435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0" y="0"/>
            <a:ext cx="4754835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60772" y="733574"/>
            <a:ext cx="2377306" cy="171450"/>
          </a:xfrm>
          <a:prstGeom prst="roundRect">
            <a:avLst>
              <a:gd name="adj" fmla="val 2222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664369" y="772864"/>
            <a:ext cx="2098700" cy="142646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TATA Motors Supplier Meets</a:t>
            </a:r>
            <a:endParaRPr lang="en-US" sz="600" dirty="0"/>
          </a:p>
        </p:txBody>
      </p:sp>
      <p:sp>
        <p:nvSpPr>
          <p:cNvPr id="11" name="Text 5"/>
          <p:cNvSpPr/>
          <p:nvPr/>
        </p:nvSpPr>
        <p:spPr>
          <a:xfrm>
            <a:off x="535781" y="7764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2" name="Text 6"/>
          <p:cNvSpPr/>
          <p:nvPr/>
        </p:nvSpPr>
        <p:spPr>
          <a:xfrm>
            <a:off x="457200" y="1108621"/>
            <a:ext cx="3840435" cy="990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</a:t>
            </a:r>
            <a:endParaRPr lang="en-US" sz="3600" dirty="0"/>
          </a:p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Management</a:t>
            </a:r>
            <a:endParaRPr lang="en-US" sz="3600" dirty="0"/>
          </a:p>
        </p:txBody>
      </p:sp>
      <p:sp>
        <p:nvSpPr>
          <p:cNvPr id="13" name="Text 7"/>
          <p:cNvSpPr/>
          <p:nvPr/>
        </p:nvSpPr>
        <p:spPr>
          <a:xfrm>
            <a:off x="457200" y="2126828"/>
            <a:ext cx="3840435" cy="61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kern="0" spc="-2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Driving Excellence</a:t>
            </a:r>
            <a:endParaRPr lang="en-US" sz="2025" dirty="0"/>
          </a:p>
          <a:p>
            <a:pPr marL="0" indent="0" algn="l">
              <a:lnSpc>
                <a:spcPts val="2228"/>
              </a:lnSpc>
              <a:buNone/>
            </a:pPr>
            <a:r>
              <a:rPr lang="en-US" sz="2025" kern="0" spc="-2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the Ground</a:t>
            </a:r>
            <a:endParaRPr lang="en-US" sz="2025" dirty="0"/>
          </a:p>
        </p:txBody>
      </p:sp>
      <p:sp>
        <p:nvSpPr>
          <p:cNvPr id="14" name="Text 8"/>
          <p:cNvSpPr/>
          <p:nvPr/>
        </p:nvSpPr>
        <p:spPr>
          <a:xfrm>
            <a:off x="457200" y="2999705"/>
            <a:ext cx="3286125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systematic cadence of Go-and-See leadership, structured problem-solving, and people development deployed across the Pune plant shop floor.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57200" y="3688296"/>
            <a:ext cx="17890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57200" y="3841886"/>
            <a:ext cx="14851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 Department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2043113" y="3688296"/>
            <a:ext cx="225452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2043113" y="3841886"/>
            <a:ext cx="14851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August 2026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57200" y="4288371"/>
            <a:ext cx="36701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: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4210" y="4274083"/>
            <a:ext cx="353961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Santosh Wankhede · Ajay Alam · Ganesh Hole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439211" y="258961"/>
            <a:ext cx="57150" cy="5715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7553511" y="228600"/>
            <a:ext cx="15904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PUNE PLANT</a:t>
            </a:r>
            <a:endParaRPr lang="en-US" sz="8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8575" cy="5143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CCD620-D044-4FE3-88F3-2587893F0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908" y="351692"/>
            <a:ext cx="4355092" cy="4795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303453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0772" y="1012515"/>
            <a:ext cx="1690390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64369" y="1051806"/>
            <a:ext cx="1411784" cy="13965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INDIA · PRODUCTION</a:t>
            </a:r>
            <a:endParaRPr lang="en-US" sz="619" dirty="0"/>
          </a:p>
        </p:txBody>
      </p:sp>
      <p:sp>
        <p:nvSpPr>
          <p:cNvPr id="7" name="Text 3"/>
          <p:cNvSpPr/>
          <p:nvPr/>
        </p:nvSpPr>
        <p:spPr>
          <a:xfrm>
            <a:off x="535781" y="10607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8" name="Text 4"/>
          <p:cNvSpPr/>
          <p:nvPr/>
        </p:nvSpPr>
        <p:spPr>
          <a:xfrm>
            <a:off x="457200" y="1326840"/>
            <a:ext cx="438905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Purpose &amp; Vision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57200" y="1751893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0772" y="1923343"/>
            <a:ext cx="4381909" cy="767953"/>
          </a:xfrm>
          <a:prstGeom prst="roundRect">
            <a:avLst>
              <a:gd name="adj" fmla="val 14884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7219" y="2055502"/>
            <a:ext cx="6051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PURPOSE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61740" y="2110867"/>
            <a:ext cx="3463044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81934" y="205728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607219" y="2216237"/>
            <a:ext cx="4089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deliver technology solutions and generate sustainable value for all stakeholders.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2794881"/>
            <a:ext cx="4389053" cy="603647"/>
          </a:xfrm>
          <a:prstGeom prst="roundRect">
            <a:avLst>
              <a:gd name="adj" fmla="val 18935"/>
            </a:avLst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57200" y="2798452"/>
            <a:ext cx="438905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2681" y="2794881"/>
            <a:ext cx="0" cy="603647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394956"/>
            <a:ext cx="438905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7916" y="2794881"/>
            <a:ext cx="0" cy="603647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506" y="2930612"/>
            <a:ext cx="13200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PURPOSE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661703" y="2985976"/>
            <a:ext cx="2863081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81934" y="293239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621506" y="3091346"/>
            <a:ext cx="40747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 passionate team delivers sustainable high-performance operational metrics.”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9603" y="3527115"/>
            <a:ext cx="4815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31800" y="3582479"/>
            <a:ext cx="4014453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7200" y="3730712"/>
            <a:ext cx="3200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7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728663" y="3730712"/>
            <a:ext cx="1873002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 a market leader in offering diversified technology solutions and realize sustainable growth.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701677" y="3730712"/>
            <a:ext cx="3200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7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2973139" y="3730712"/>
            <a:ext cx="1873114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 a benchmark in driving excellence, promoting shared values for the future.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307806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350472" y="4779169"/>
            <a:ext cx="0" cy="192881"/>
          </a:xfrm>
          <a:prstGeom prst="line">
            <a:avLst/>
          </a:prstGeom>
          <a:noFill/>
          <a:ln w="14288">
            <a:solidFill>
              <a:srgbClr val="FBBF2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43329" y="4779169"/>
            <a:ext cx="1629221" cy="192881"/>
          </a:xfrm>
          <a:prstGeom prst="rect">
            <a:avLst/>
          </a:prstGeom>
          <a:solidFill>
            <a:srgbClr val="0E1116">
              <a:alpha val="7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343329" y="4779169"/>
            <a:ext cx="1629221" cy="296266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10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PUNE PLANT · PRODUCTION FLOOR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20</a:t>
            </a: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4BEEBF-483F-4E9F-BB9E-FF173803A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431" y="1303706"/>
            <a:ext cx="3021432" cy="2731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61784" y="460772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61197" y="4375547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57200" y="105727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0" dirty="0"/>
          </a:p>
        </p:txBody>
      </p:sp>
      <p:sp>
        <p:nvSpPr>
          <p:cNvPr id="8" name="Shape 3"/>
          <p:cNvSpPr/>
          <p:nvPr/>
        </p:nvSpPr>
        <p:spPr>
          <a:xfrm>
            <a:off x="4400550" y="296599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00050" y="100012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0" dirty="0"/>
          </a:p>
        </p:txBody>
      </p:sp>
      <p:sp>
        <p:nvSpPr>
          <p:cNvPr id="10" name="Text 5"/>
          <p:cNvSpPr/>
          <p:nvPr/>
        </p:nvSpPr>
        <p:spPr>
          <a:xfrm>
            <a:off x="457200" y="508992"/>
            <a:ext cx="257175" cy="14288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00100" y="457200"/>
            <a:ext cx="24719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SHOP FLOOR MANAGEMENT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 rot="5400000">
            <a:off x="8063564" y="864505"/>
            <a:ext cx="1653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2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MARKER · 01 OF 05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377690" y="1988891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607719" y="2043113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01 OF 05</a:t>
            </a:r>
            <a:endParaRPr lang="en-US" sz="619" dirty="0"/>
          </a:p>
        </p:txBody>
      </p:sp>
      <p:sp>
        <p:nvSpPr>
          <p:cNvPr id="15" name="Text 10"/>
          <p:cNvSpPr/>
          <p:nvPr/>
        </p:nvSpPr>
        <p:spPr>
          <a:xfrm>
            <a:off x="4479131" y="20520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844" dirty="0"/>
          </a:p>
        </p:txBody>
      </p:sp>
      <p:sp>
        <p:nvSpPr>
          <p:cNvPr id="16" name="Text 11"/>
          <p:cNvSpPr/>
          <p:nvPr/>
        </p:nvSpPr>
        <p:spPr>
          <a:xfrm>
            <a:off x="4400550" y="2318147"/>
            <a:ext cx="474345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4400550" y="3105299"/>
            <a:ext cx="4000500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the problem, scope, and rationale. Rising defects, customer complaints, and stagnating KPIs called for a structured, leader-led response.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00550" y="4041353"/>
            <a:ext cx="57150" cy="571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400550" y="4010992"/>
            <a:ext cx="14677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 INTERNAL TRIGGERS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719932" y="4041353"/>
            <a:ext cx="57150" cy="5715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832091" y="4010992"/>
            <a:ext cx="3058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TRIGGERS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977336" y="4484489"/>
            <a:ext cx="6992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3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490347" y="4446984"/>
            <a:ext cx="192881" cy="192881"/>
          </a:xfrm>
          <a:prstGeom prst="ellipse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503920" y="446055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01 — DEFINE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274391"/>
            <a:ext cx="1121301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328613"/>
            <a:ext cx="91127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TRIGGERS FOR SFM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618506" y="376833"/>
            <a:ext cx="5973291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677522" y="326827"/>
            <a:ext cx="1310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BASELINE · 2021–2023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546497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3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 metrics called for action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457200" y="872207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triggers — rising defects, inconsistent quality, high downtime. External triggers — customer complaints, compliance issues, market competition.</a:t>
            </a:r>
            <a:endParaRPr lang="en-US" sz="788" dirty="0"/>
          </a:p>
        </p:txBody>
      </p:sp>
      <p:sp>
        <p:nvSpPr>
          <p:cNvPr id="11" name="Text 7"/>
          <p:cNvSpPr/>
          <p:nvPr/>
        </p:nvSpPr>
        <p:spPr>
          <a:xfrm>
            <a:off x="460772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4344" y="2109527"/>
            <a:ext cx="21431" cy="144873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35806" y="1279401"/>
            <a:ext cx="38612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%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92931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5" name="Text 11"/>
          <p:cNvSpPr/>
          <p:nvPr/>
        </p:nvSpPr>
        <p:spPr>
          <a:xfrm>
            <a:off x="592931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84.33</a:t>
            </a:r>
            <a:r>
              <a:rPr lang="en-US" sz="900" b="1" kern="0" spc="-4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2475" dirty="0"/>
          </a:p>
        </p:txBody>
      </p:sp>
      <p:sp>
        <p:nvSpPr>
          <p:cNvPr id="16" name="Text 12"/>
          <p:cNvSpPr/>
          <p:nvPr/>
        </p:nvSpPr>
        <p:spPr>
          <a:xfrm>
            <a:off x="592931" y="1750888"/>
            <a:ext cx="170021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· 2023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92931" y="2450976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1928722" y="2347392"/>
            <a:ext cx="42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85.0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797243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25868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654493" y="3036763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92931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0071" y="3243289"/>
            <a:ext cx="938466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57097" y="3297510"/>
            <a:ext cx="68585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BELOW TARGET</a:t>
            </a:r>
            <a:endParaRPr lang="en-US" sz="619" dirty="0"/>
          </a:p>
        </p:txBody>
      </p:sp>
      <p:sp>
        <p:nvSpPr>
          <p:cNvPr id="25" name="Text 21"/>
          <p:cNvSpPr/>
          <p:nvPr/>
        </p:nvSpPr>
        <p:spPr>
          <a:xfrm>
            <a:off x="671513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546747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2550319" y="2109527"/>
            <a:ext cx="21431" cy="144873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795704" y="1279401"/>
            <a:ext cx="82562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COST %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678906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984" dirty="0"/>
          </a:p>
        </p:txBody>
      </p:sp>
      <p:sp>
        <p:nvSpPr>
          <p:cNvPr id="30" name="Text 26"/>
          <p:cNvSpPr/>
          <p:nvPr/>
        </p:nvSpPr>
        <p:spPr>
          <a:xfrm>
            <a:off x="2678906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r>
              <a:rPr lang="en-US" sz="900" b="1" kern="0" spc="-4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2475" dirty="0"/>
          </a:p>
        </p:txBody>
      </p:sp>
      <p:sp>
        <p:nvSpPr>
          <p:cNvPr id="31" name="Text 27"/>
          <p:cNvSpPr/>
          <p:nvPr/>
        </p:nvSpPr>
        <p:spPr>
          <a:xfrm>
            <a:off x="2678906" y="175088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COST OF SCRAP / OUTPUT · 2023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678906" y="2403425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33" name="Text 29"/>
          <p:cNvSpPr/>
          <p:nvPr/>
        </p:nvSpPr>
        <p:spPr>
          <a:xfrm>
            <a:off x="4014697" y="2299841"/>
            <a:ext cx="42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0.40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288321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31184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74046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2678906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682478" y="3258220"/>
            <a:ext cx="1384660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2878931" y="3297510"/>
            <a:ext cx="111319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ABOVE TARGET IN 2021–22</a:t>
            </a:r>
            <a:endParaRPr lang="en-US" sz="619" dirty="0"/>
          </a:p>
        </p:txBody>
      </p:sp>
      <p:sp>
        <p:nvSpPr>
          <p:cNvPr id="40" name="Text 36"/>
          <p:cNvSpPr/>
          <p:nvPr/>
        </p:nvSpPr>
        <p:spPr>
          <a:xfrm>
            <a:off x="2757488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632722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636294" y="2109527"/>
            <a:ext cx="21431" cy="144873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907756" y="1279401"/>
            <a:ext cx="124592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AID &amp; NEAR-MISS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764881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84" dirty="0"/>
          </a:p>
        </p:txBody>
      </p:sp>
      <p:sp>
        <p:nvSpPr>
          <p:cNvPr id="45" name="Text 41"/>
          <p:cNvSpPr/>
          <p:nvPr/>
        </p:nvSpPr>
        <p:spPr>
          <a:xfrm>
            <a:off x="4764881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2475" dirty="0"/>
          </a:p>
        </p:txBody>
      </p:sp>
      <p:sp>
        <p:nvSpPr>
          <p:cNvPr id="46" name="Text 42"/>
          <p:cNvSpPr/>
          <p:nvPr/>
        </p:nvSpPr>
        <p:spPr>
          <a:xfrm>
            <a:off x="4764881" y="175088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RECORDED INCIDENTS · 2023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96919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39781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5826443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4764881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42021" y="3243289"/>
            <a:ext cx="110020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964906" y="3297510"/>
            <a:ext cx="775878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↓ 81% REDUCTION</a:t>
            </a:r>
            <a:endParaRPr lang="en-US" sz="619" dirty="0"/>
          </a:p>
        </p:txBody>
      </p:sp>
      <p:sp>
        <p:nvSpPr>
          <p:cNvPr id="53" name="Text 49"/>
          <p:cNvSpPr/>
          <p:nvPr/>
        </p:nvSpPr>
        <p:spPr>
          <a:xfrm>
            <a:off x="4843463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718697" y="1140098"/>
            <a:ext cx="1964531" cy="2421731"/>
          </a:xfrm>
          <a:prstGeom prst="roundRect">
            <a:avLst>
              <a:gd name="adj" fmla="val 581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722269" y="2109527"/>
            <a:ext cx="21431" cy="144873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6993731" y="1279401"/>
            <a:ext cx="117159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6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INCIDENTS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6850856" y="12758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8" name="Text 54"/>
          <p:cNvSpPr/>
          <p:nvPr/>
        </p:nvSpPr>
        <p:spPr>
          <a:xfrm>
            <a:off x="6850856" y="1407988"/>
            <a:ext cx="170021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475" dirty="0"/>
          </a:p>
        </p:txBody>
      </p:sp>
      <p:sp>
        <p:nvSpPr>
          <p:cNvPr id="59" name="Text 55"/>
          <p:cNvSpPr/>
          <p:nvPr/>
        </p:nvSpPr>
        <p:spPr>
          <a:xfrm>
            <a:off x="6850856" y="175088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COMPLAINTS LOGGED · 2023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6850856" y="2522413"/>
            <a:ext cx="1700213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dash"/>
          </a:ln>
        </p:spPr>
      </p:sp>
      <p:sp>
        <p:nvSpPr>
          <p:cNvPr id="61" name="Text 57"/>
          <p:cNvSpPr/>
          <p:nvPr/>
        </p:nvSpPr>
        <p:spPr>
          <a:xfrm>
            <a:off x="8268797" y="2418829"/>
            <a:ext cx="330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25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7055168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483792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7912417" y="2929607"/>
            <a:ext cx="434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850856" y="3193926"/>
            <a:ext cx="1700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854428" y="3258220"/>
            <a:ext cx="1410109" cy="182166"/>
          </a:xfrm>
          <a:prstGeom prst="roundRect">
            <a:avLst>
              <a:gd name="adj" fmla="val 209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7050881" y="3297510"/>
            <a:ext cx="113864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WITHIN TARGET SINCE 2022</a:t>
            </a:r>
            <a:endParaRPr lang="en-US" sz="619" dirty="0"/>
          </a:p>
        </p:txBody>
      </p:sp>
      <p:sp>
        <p:nvSpPr>
          <p:cNvPr id="68" name="Text 64"/>
          <p:cNvSpPr/>
          <p:nvPr/>
        </p:nvSpPr>
        <p:spPr>
          <a:xfrm>
            <a:off x="6929438" y="33100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57200" y="464555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71" name="Text 67"/>
          <p:cNvSpPr/>
          <p:nvPr/>
        </p:nvSpPr>
        <p:spPr>
          <a:xfrm>
            <a:off x="878681" y="2724224"/>
            <a:ext cx="271463" cy="269677"/>
          </a:xfrm>
          <a:prstGeom prst="roundRect">
            <a:avLst>
              <a:gd name="adj" fmla="val 706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889024" y="2609924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83.51</a:t>
            </a:r>
            <a:endParaRPr lang="en-US" sz="600" dirty="0"/>
          </a:p>
        </p:txBody>
      </p:sp>
      <p:sp>
        <p:nvSpPr>
          <p:cNvPr id="73" name="Text 69"/>
          <p:cNvSpPr/>
          <p:nvPr/>
        </p:nvSpPr>
        <p:spPr>
          <a:xfrm>
            <a:off x="1307306" y="2502768"/>
            <a:ext cx="271463" cy="491133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1317649" y="2388468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84.75</a:t>
            </a:r>
            <a:endParaRPr lang="en-US" sz="600" dirty="0"/>
          </a:p>
        </p:txBody>
      </p:sp>
      <p:sp>
        <p:nvSpPr>
          <p:cNvPr id="75" name="Text 71"/>
          <p:cNvSpPr/>
          <p:nvPr/>
        </p:nvSpPr>
        <p:spPr>
          <a:xfrm>
            <a:off x="1735931" y="2577778"/>
            <a:ext cx="271463" cy="416123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1746274" y="2463478"/>
            <a:ext cx="290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84.33</a:t>
            </a:r>
            <a:endParaRPr lang="en-US" sz="600" dirty="0"/>
          </a:p>
        </p:txBody>
      </p:sp>
      <p:sp>
        <p:nvSpPr>
          <p:cNvPr id="77" name="Text 73"/>
          <p:cNvSpPr/>
          <p:nvPr/>
        </p:nvSpPr>
        <p:spPr>
          <a:xfrm>
            <a:off x="2964656" y="2267694"/>
            <a:ext cx="271463" cy="619051"/>
          </a:xfrm>
          <a:prstGeom prst="roundRect">
            <a:avLst>
              <a:gd name="adj" fmla="val 7018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3013560" y="2153394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3393281" y="2600995"/>
            <a:ext cx="271463" cy="285750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3442185" y="2486695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0.36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821906" y="2791532"/>
            <a:ext cx="271463" cy="95213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3870810" y="2677232"/>
            <a:ext cx="23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endParaRPr lang="en-US" sz="600" dirty="0"/>
          </a:p>
        </p:txBody>
      </p:sp>
      <p:sp>
        <p:nvSpPr>
          <p:cNvPr id="83" name="Text 79"/>
          <p:cNvSpPr/>
          <p:nvPr/>
        </p:nvSpPr>
        <p:spPr>
          <a:xfrm>
            <a:off x="5050631" y="2184313"/>
            <a:ext cx="271463" cy="702432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5143500" y="2070013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600" dirty="0"/>
          </a:p>
        </p:txBody>
      </p:sp>
      <p:sp>
        <p:nvSpPr>
          <p:cNvPr id="85" name="Text 81"/>
          <p:cNvSpPr/>
          <p:nvPr/>
        </p:nvSpPr>
        <p:spPr>
          <a:xfrm>
            <a:off x="5479256" y="2291469"/>
            <a:ext cx="271463" cy="595275"/>
          </a:xfrm>
          <a:prstGeom prst="roundRect">
            <a:avLst>
              <a:gd name="adj" fmla="val 70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5572125" y="2177169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600" dirty="0"/>
          </a:p>
        </p:txBody>
      </p:sp>
      <p:sp>
        <p:nvSpPr>
          <p:cNvPr id="87" name="Text 83"/>
          <p:cNvSpPr/>
          <p:nvPr/>
        </p:nvSpPr>
        <p:spPr>
          <a:xfrm>
            <a:off x="5907881" y="2755813"/>
            <a:ext cx="271463" cy="130932"/>
          </a:xfrm>
          <a:prstGeom prst="roundRect">
            <a:avLst>
              <a:gd name="adj" fmla="val 14550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4"/>
          <p:cNvSpPr/>
          <p:nvPr/>
        </p:nvSpPr>
        <p:spPr>
          <a:xfrm>
            <a:off x="6000750" y="2641513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7136606" y="2258095"/>
            <a:ext cx="271463" cy="628650"/>
          </a:xfrm>
          <a:prstGeom prst="roundRect">
            <a:avLst>
              <a:gd name="adj" fmla="val 7018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6"/>
          <p:cNvSpPr/>
          <p:nvPr/>
        </p:nvSpPr>
        <p:spPr>
          <a:xfrm>
            <a:off x="7229475" y="2143795"/>
            <a:ext cx="137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endParaRPr lang="en-US" sz="600" dirty="0"/>
          </a:p>
        </p:txBody>
      </p:sp>
      <p:sp>
        <p:nvSpPr>
          <p:cNvPr id="91" name="Text 87"/>
          <p:cNvSpPr/>
          <p:nvPr/>
        </p:nvSpPr>
        <p:spPr>
          <a:xfrm>
            <a:off x="7565231" y="2772445"/>
            <a:ext cx="271463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8"/>
          <p:cNvSpPr/>
          <p:nvPr/>
        </p:nvSpPr>
        <p:spPr>
          <a:xfrm>
            <a:off x="7679531" y="265814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7993856" y="2786732"/>
            <a:ext cx="271463" cy="100013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0"/>
          <p:cNvSpPr/>
          <p:nvPr/>
        </p:nvSpPr>
        <p:spPr>
          <a:xfrm>
            <a:off x="8108156" y="267243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95" name="Text 9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TRIGGERS &amp; BASELINE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149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61784" y="460772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61197" y="4375547"/>
            <a:ext cx="121444" cy="121444"/>
          </a:xfrm>
          <a:prstGeom prst="rect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57200" y="105727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0" dirty="0"/>
          </a:p>
        </p:txBody>
      </p:sp>
      <p:sp>
        <p:nvSpPr>
          <p:cNvPr id="8" name="Shape 3"/>
          <p:cNvSpPr/>
          <p:nvPr/>
        </p:nvSpPr>
        <p:spPr>
          <a:xfrm>
            <a:off x="4400550" y="296599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00050" y="1000125"/>
            <a:ext cx="4605397" cy="236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13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0" dirty="0"/>
          </a:p>
        </p:txBody>
      </p:sp>
      <p:sp>
        <p:nvSpPr>
          <p:cNvPr id="10" name="Text 5"/>
          <p:cNvSpPr/>
          <p:nvPr/>
        </p:nvSpPr>
        <p:spPr>
          <a:xfrm>
            <a:off x="457200" y="508992"/>
            <a:ext cx="257175" cy="14288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00100" y="457200"/>
            <a:ext cx="24719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RHEINMETALL · SHOP FLOOR MANAGEMENT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 rot="5400000">
            <a:off x="8063564" y="864505"/>
            <a:ext cx="1653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2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MARKER · 02 OF 05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377690" y="1988891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607719" y="2043113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OF 05</a:t>
            </a:r>
            <a:endParaRPr lang="en-US" sz="619" dirty="0"/>
          </a:p>
        </p:txBody>
      </p:sp>
      <p:sp>
        <p:nvSpPr>
          <p:cNvPr id="15" name="Text 10"/>
          <p:cNvSpPr/>
          <p:nvPr/>
        </p:nvSpPr>
        <p:spPr>
          <a:xfrm>
            <a:off x="4479131" y="20520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844" dirty="0"/>
          </a:p>
        </p:txBody>
      </p:sp>
      <p:sp>
        <p:nvSpPr>
          <p:cNvPr id="16" name="Text 11"/>
          <p:cNvSpPr/>
          <p:nvPr/>
        </p:nvSpPr>
        <p:spPr>
          <a:xfrm>
            <a:off x="4400550" y="2318147"/>
            <a:ext cx="474345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4400550" y="3105299"/>
            <a:ext cx="4000500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 performance and select what to track. Brainstormed, dot-voted, and ranked by 18 cross-functional members to define the weekly cadence.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00550" y="3985989"/>
            <a:ext cx="731118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600575" y="4039567"/>
            <a:ext cx="566812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 AND SEE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4479131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203106" y="3985989"/>
            <a:ext cx="605656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403131" y="4039567"/>
            <a:ext cx="441350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5281687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880199" y="3985989"/>
            <a:ext cx="941077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080224" y="4039567"/>
            <a:ext cx="776771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 PROBLEMS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5958780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892714" y="3985989"/>
            <a:ext cx="732569" cy="200025"/>
          </a:xfrm>
          <a:prstGeom prst="roundRect">
            <a:avLst>
              <a:gd name="adj" fmla="val 190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092739" y="4039567"/>
            <a:ext cx="1594061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971295" y="40467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977336" y="4484489"/>
            <a:ext cx="6992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3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490347" y="4446984"/>
            <a:ext cx="192881" cy="192881"/>
          </a:xfrm>
          <a:prstGeom prst="ellipse">
            <a:avLst/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8503920" y="446055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3" name="Text 28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— MEASURE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274391"/>
            <a:ext cx="918932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2911" y="328613"/>
            <a:ext cx="71182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IT FITS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416137" y="376833"/>
            <a:ext cx="5650260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152122" y="326827"/>
            <a:ext cx="174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ESSENCE · FOUR COMPONENTS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57200" y="546497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3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essence of Shop Floor Management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457200" y="872207"/>
            <a:ext cx="62865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is the systematic activity on the shop floor to achieve the operational KPIs of Safety, Quality, Delivery, Cost, Productivity, and Morale — built on four inseparable components.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60772" y="13329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4344" y="13365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39366" y="14972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70084" y="15280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3697117" y="14937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635794" y="19794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 and See</a:t>
            </a:r>
            <a:endParaRPr lang="en-US" sz="1238" dirty="0"/>
          </a:p>
        </p:txBody>
      </p:sp>
      <p:sp>
        <p:nvSpPr>
          <p:cNvPr id="17" name="Text 13"/>
          <p:cNvSpPr/>
          <p:nvPr/>
        </p:nvSpPr>
        <p:spPr>
          <a:xfrm>
            <a:off x="635794" y="22030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Involvement of leaders on the shop floor — daily Gemba walks at the point of value creation, not in meeting rooms.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35794" y="25066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794" y="26138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35806" y="25816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 PRESENCE · POINT OF VALUE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32722" y="13329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636294" y="13365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11316" y="14972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42034" y="15280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7869067" y="14937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4807744" y="19794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1238" dirty="0"/>
          </a:p>
        </p:txBody>
      </p:sp>
      <p:sp>
        <p:nvSpPr>
          <p:cNvPr id="27" name="Text 23"/>
          <p:cNvSpPr/>
          <p:nvPr/>
        </p:nvSpPr>
        <p:spPr>
          <a:xfrm>
            <a:off x="4807744" y="22030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Transparent and efficient communication through layered meetings, shift handovers, and visible performance boards.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807744" y="25066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07744" y="26138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07756" y="25816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LAYERED MEETINGS · VISIBLE BOARDS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60772" y="29331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64344" y="29367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39366" y="30974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70084" y="31282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2250" dirty="0"/>
          </a:p>
        </p:txBody>
      </p:sp>
      <p:sp>
        <p:nvSpPr>
          <p:cNvPr id="35" name="Text 31"/>
          <p:cNvSpPr/>
          <p:nvPr/>
        </p:nvSpPr>
        <p:spPr>
          <a:xfrm>
            <a:off x="3697117" y="30939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36" name="Text 32"/>
          <p:cNvSpPr/>
          <p:nvPr/>
        </p:nvSpPr>
        <p:spPr>
          <a:xfrm>
            <a:off x="635794" y="35796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 Problems</a:t>
            </a:r>
            <a:endParaRPr lang="en-US" sz="1238" dirty="0"/>
          </a:p>
        </p:txBody>
      </p:sp>
      <p:sp>
        <p:nvSpPr>
          <p:cNvPr id="37" name="Text 33"/>
          <p:cNvSpPr/>
          <p:nvPr/>
        </p:nvSpPr>
        <p:spPr>
          <a:xfrm>
            <a:off x="635794" y="38032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and systematic approach — A3 thinking, 8D, Why-Why, and Poka-Yoke to root-cause and permanently eliminate issues.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35794" y="41068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794" y="42140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35806" y="41818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A3 · 8D · WHY-WHY · POKA-YOKE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632722" y="2933179"/>
            <a:ext cx="4050506" cy="1478756"/>
          </a:xfrm>
          <a:prstGeom prst="roundRect">
            <a:avLst>
              <a:gd name="adj" fmla="val 772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636294" y="2936751"/>
            <a:ext cx="4043363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811316" y="3097485"/>
            <a:ext cx="392906" cy="392906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842034" y="312820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250" dirty="0"/>
          </a:p>
        </p:txBody>
      </p:sp>
      <p:sp>
        <p:nvSpPr>
          <p:cNvPr id="45" name="Text 41"/>
          <p:cNvSpPr/>
          <p:nvPr/>
        </p:nvSpPr>
        <p:spPr>
          <a:xfrm>
            <a:off x="7869067" y="3093913"/>
            <a:ext cx="8276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r>
              <a:rPr lang="en-US" sz="800" b="1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46" name="Text 42"/>
          <p:cNvSpPr/>
          <p:nvPr/>
        </p:nvSpPr>
        <p:spPr>
          <a:xfrm>
            <a:off x="4807744" y="3579688"/>
            <a:ext cx="3700463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1238" dirty="0"/>
          </a:p>
        </p:txBody>
      </p:sp>
      <p:sp>
        <p:nvSpPr>
          <p:cNvPr id="47" name="Text 43"/>
          <p:cNvSpPr/>
          <p:nvPr/>
        </p:nvSpPr>
        <p:spPr>
          <a:xfrm>
            <a:off x="4807744" y="3803266"/>
            <a:ext cx="3700463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 and teach people — leaders develop problem-solvers, not just delegate tasks. People development is the multiplier.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807744" y="4106875"/>
            <a:ext cx="37004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7744" y="4214031"/>
            <a:ext cx="42863" cy="428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907756" y="4181884"/>
            <a:ext cx="360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 · TEACH · MULTIPLY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57200" y="4529807"/>
            <a:ext cx="8229600" cy="314325"/>
          </a:xfrm>
          <a:prstGeom prst="rect">
            <a:avLst/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48"/>
          <p:cNvSpPr/>
          <p:nvPr/>
        </p:nvSpPr>
        <p:spPr>
          <a:xfrm>
            <a:off x="457200" y="4533379"/>
            <a:ext cx="82296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683228" y="4529807"/>
            <a:ext cx="0" cy="314325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57200" y="4840560"/>
            <a:ext cx="82296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67916" y="4529807"/>
            <a:ext cx="0" cy="314325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07219" y="4633392"/>
            <a:ext cx="102194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KPI DOMAINS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1463911" y="4622676"/>
            <a:ext cx="6385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QUALITY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DELIVERY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COST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PRODUCTIVITY </a:t>
            </a:r>
            <a:r>
              <a:rPr lang="en-US" sz="800" b="1" kern="0" spc="12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12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MORALE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7763786" y="4633392"/>
            <a:ext cx="812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b="1" kern="0" spc="10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TARGETS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FRAMEWORK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903" y="3214688"/>
            <a:ext cx="4663097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kern="0" spc="-810" dirty="0">
                <a:solidFill>
                  <a:srgbClr val="3B82F6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0250" dirty="0"/>
          </a:p>
        </p:txBody>
      </p:sp>
      <p:sp>
        <p:nvSpPr>
          <p:cNvPr id="5" name="Text 2"/>
          <p:cNvSpPr/>
          <p:nvPr/>
        </p:nvSpPr>
        <p:spPr>
          <a:xfrm>
            <a:off x="434340" y="274391"/>
            <a:ext cx="771257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1805" y="328613"/>
            <a:ext cx="54491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RATIONALE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457200" y="575072"/>
            <a:ext cx="8636000" cy="31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do it — seven reasons SFM matters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457200" y="913619"/>
            <a:ext cx="7000875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aligns daily execution with strategy through visibility, standardization, and continuous improvement.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7170" y="1336439"/>
            <a:ext cx="64008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957263" y="1336439"/>
            <a:ext cx="3570446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Control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57263" y="1513582"/>
            <a:ext cx="34004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Ensures that production aligns with planned schedules and standards.</a:t>
            </a:r>
            <a:endParaRPr lang="en-US" sz="731" dirty="0"/>
          </a:p>
        </p:txBody>
      </p:sp>
      <p:sp>
        <p:nvSpPr>
          <p:cNvPr id="13" name="Shape 10"/>
          <p:cNvSpPr/>
          <p:nvPr/>
        </p:nvSpPr>
        <p:spPr>
          <a:xfrm>
            <a:off x="4686300" y="1254286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3170" y="1343583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186363" y="1343583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Decisions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86363" y="1520726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Leverages real-time metrics for informed, fast, and auditable actions.</a:t>
            </a:r>
            <a:endParaRPr lang="en-US" sz="731" dirty="0"/>
          </a:p>
        </p:txBody>
      </p:sp>
      <p:sp>
        <p:nvSpPr>
          <p:cNvPr id="17" name="Shape 14"/>
          <p:cNvSpPr/>
          <p:nvPr/>
        </p:nvSpPr>
        <p:spPr>
          <a:xfrm>
            <a:off x="457200" y="1849338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070" y="1938635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957263" y="1938635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Standardization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57263" y="2115778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Establishes consistent methods to reduce variability and errors across lines and shifts.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86300" y="1849338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53170" y="1938635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5186363" y="1938635"/>
            <a:ext cx="3510153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Communication Effectiveness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86363" y="2115778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Improves the effectiveness and efficiency of communication processes across the plant.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2583693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070" y="2672990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27" name="Text 24"/>
          <p:cNvSpPr/>
          <p:nvPr/>
        </p:nvSpPr>
        <p:spPr>
          <a:xfrm>
            <a:off x="957263" y="2672990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Improvement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57263" y="2850133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Embeds a Kaizen culture for ongoing, employee-driven enhancements.</a:t>
            </a:r>
            <a:endParaRPr lang="en-US" sz="731" dirty="0"/>
          </a:p>
        </p:txBody>
      </p:sp>
      <p:sp>
        <p:nvSpPr>
          <p:cNvPr id="29" name="Shape 26"/>
          <p:cNvSpPr/>
          <p:nvPr/>
        </p:nvSpPr>
        <p:spPr>
          <a:xfrm>
            <a:off x="4686300" y="2583693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53170" y="2672990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025" dirty="0"/>
          </a:p>
        </p:txBody>
      </p:sp>
      <p:sp>
        <p:nvSpPr>
          <p:cNvPr id="31" name="Text 28"/>
          <p:cNvSpPr/>
          <p:nvPr/>
        </p:nvSpPr>
        <p:spPr>
          <a:xfrm>
            <a:off x="5186363" y="2672990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6363" y="2850133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Ensures the development of employees into effective, motivated problem-solvers.</a:t>
            </a:r>
            <a:endParaRPr lang="en-US" sz="731" dirty="0"/>
          </a:p>
        </p:txBody>
      </p:sp>
      <p:sp>
        <p:nvSpPr>
          <p:cNvPr id="33" name="Shape 30"/>
          <p:cNvSpPr/>
          <p:nvPr/>
        </p:nvSpPr>
        <p:spPr>
          <a:xfrm>
            <a:off x="457200" y="3178746"/>
            <a:ext cx="40005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4070" y="3268042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35" name="Text 32"/>
          <p:cNvSpPr/>
          <p:nvPr/>
        </p:nvSpPr>
        <p:spPr>
          <a:xfrm>
            <a:off x="957263" y="3268042"/>
            <a:ext cx="340042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 Visibility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57263" y="3445185"/>
            <a:ext cx="3400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Promotes active management presence at the point of value creation (Gemba).</a:t>
            </a:r>
            <a:endParaRPr lang="en-US" sz="731" dirty="0"/>
          </a:p>
        </p:txBody>
      </p:sp>
      <p:sp>
        <p:nvSpPr>
          <p:cNvPr id="37" name="Text 34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SFM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13630" y="428625"/>
            <a:ext cx="753037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FBBF24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MON–FRI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71450" y="571500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450" y="1557338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450" y="2543175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1450" y="3529013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1450" y="4514850"/>
            <a:ext cx="57150" cy="5715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5763" y="1885950"/>
            <a:ext cx="2960549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81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0" dirty="0"/>
          </a:p>
        </p:txBody>
      </p:sp>
      <p:sp>
        <p:nvSpPr>
          <p:cNvPr id="10" name="Shape 8"/>
          <p:cNvSpPr/>
          <p:nvPr/>
        </p:nvSpPr>
        <p:spPr>
          <a:xfrm>
            <a:off x="2714625" y="2423461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1843088"/>
            <a:ext cx="2960549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81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0" dirty="0"/>
          </a:p>
        </p:txBody>
      </p:sp>
      <p:sp>
        <p:nvSpPr>
          <p:cNvPr id="12" name="Text 10"/>
          <p:cNvSpPr/>
          <p:nvPr/>
        </p:nvSpPr>
        <p:spPr>
          <a:xfrm>
            <a:off x="2691765" y="1445799"/>
            <a:ext cx="110109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21794" y="1500020"/>
            <a:ext cx="7696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OF 05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2793206" y="15089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2714625" y="1803629"/>
            <a:ext cx="5303520" cy="5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3600" b="1" kern="0" spc="-10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714625" y="2591340"/>
            <a:ext cx="4143375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 via daily Gemba focus. Monday through Wednesday surface Safety, 5S, and Quality issues at the source, where value is created.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14625" y="3470530"/>
            <a:ext cx="641710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29881" y="3532752"/>
            <a:ext cx="48154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00350" y="3525608"/>
            <a:ext cx="47026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13485" y="3470530"/>
            <a:ext cx="442131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5256" y="3532752"/>
            <a:ext cx="22893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99210" y="3525608"/>
            <a:ext cx="2706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12766" y="3470530"/>
            <a:ext cx="682563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54537" y="3532752"/>
            <a:ext cx="46936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3998491" y="3525608"/>
            <a:ext cx="51111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2479" y="3470530"/>
            <a:ext cx="550515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94250" y="3532752"/>
            <a:ext cx="33731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8204" y="3525608"/>
            <a:ext cx="3790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60144" y="3470530"/>
            <a:ext cx="635347" cy="228029"/>
          </a:xfrm>
          <a:prstGeom prst="roundRect">
            <a:avLst>
              <a:gd name="adj" fmla="val 12531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01915" y="3532752"/>
            <a:ext cx="135608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45869" y="3525608"/>
            <a:ext cx="46389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14625" y="4123430"/>
            <a:ext cx="463674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21781" y="4193381"/>
            <a:ext cx="38509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65883" y="4311253"/>
            <a:ext cx="36115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235449" y="4123430"/>
            <a:ext cx="380851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42605" y="4193381"/>
            <a:ext cx="30227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3764" y="4311253"/>
            <a:ext cx="18422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51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73450" y="4123430"/>
            <a:ext cx="495821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80606" y="4193381"/>
            <a:ext cx="4172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12908" y="4311253"/>
            <a:ext cx="41690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226421" y="4123430"/>
            <a:ext cx="391678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33577" y="4193381"/>
            <a:ext cx="31309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429" y="4311253"/>
            <a:ext cx="24966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675250" y="4123430"/>
            <a:ext cx="458428" cy="347072"/>
          </a:xfrm>
          <a:prstGeom prst="roundRect">
            <a:avLst>
              <a:gd name="adj" fmla="val 10978"/>
            </a:avLst>
          </a:prstGeom>
          <a:solidFill>
            <a:srgbClr val="3B82F6"/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82406" y="4193381"/>
            <a:ext cx="35127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23885" y="4311253"/>
            <a:ext cx="36115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6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525927" y="380405"/>
            <a:ext cx="42863" cy="42863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640227" y="342900"/>
            <a:ext cx="17629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980685" y="34290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107152" y="342900"/>
            <a:ext cx="760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659551" y="4443413"/>
            <a:ext cx="866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149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286750" y="4500563"/>
            <a:ext cx="400050" cy="14288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— THE WEEKLY AGENDA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375" y="-571500"/>
            <a:ext cx="2000250" cy="2000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714375" y="-571500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714750"/>
            <a:ext cx="1857375" cy="18573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858125" y="3714750"/>
            <a:ext cx="1857375" cy="1857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2"/>
          <p:cNvSpPr/>
          <p:nvPr/>
        </p:nvSpPr>
        <p:spPr>
          <a:xfrm>
            <a:off x="7464996" y="2119685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464996" y="2562597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464996" y="3005510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464996" y="3448422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464996" y="3891335"/>
            <a:ext cx="0" cy="3857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537326" y="160734"/>
            <a:ext cx="42863" cy="42863"/>
          </a:xfrm>
          <a:prstGeom prst="ellipse">
            <a:avLst/>
          </a:prstGeom>
          <a:solidFill>
            <a:srgbClr val="22D3EE"/>
          </a:solidFill>
          <a:ln/>
          <a:effectLst>
            <a:outerShdw blurRad="76200" dist="50800" dir="16200000" algn="bl" rotWithShape="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637338" y="128588"/>
            <a:ext cx="1265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8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 · METHODOLOGY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460772" y="175022"/>
            <a:ext cx="1696975" cy="182166"/>
          </a:xfrm>
          <a:prstGeom prst="roundRect">
            <a:avLst>
              <a:gd name="adj" fmla="val 20915"/>
            </a:avLst>
          </a:prstGeom>
          <a:solidFill>
            <a:srgbClr val="22D3EE">
              <a:alpha val="14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57200" y="171450"/>
            <a:ext cx="1704119" cy="20474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· BRAINSTORM + MULTI-VOTE</a:t>
            </a:r>
            <a:endParaRPr lang="en-US" sz="619" dirty="0"/>
          </a:p>
        </p:txBody>
      </p:sp>
      <p:sp>
        <p:nvSpPr>
          <p:cNvPr id="17" name="Text 11"/>
          <p:cNvSpPr/>
          <p:nvPr/>
        </p:nvSpPr>
        <p:spPr>
          <a:xfrm>
            <a:off x="457200" y="403622"/>
            <a:ext cx="8636000" cy="591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How the 5 SFM Themes Were</a:t>
            </a:r>
            <a:endParaRPr lang="en-US" sz="2025" dirty="0"/>
          </a:p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2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</a:t>
            </a:r>
            <a:endParaRPr lang="en-US" sz="2025" dirty="0"/>
          </a:p>
        </p:txBody>
      </p:sp>
      <p:sp>
        <p:nvSpPr>
          <p:cNvPr id="18" name="Text 12"/>
          <p:cNvSpPr/>
          <p:nvPr/>
        </p:nvSpPr>
        <p:spPr>
          <a:xfrm>
            <a:off x="457200" y="1022449"/>
            <a:ext cx="7000875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cross-functional team of 18 line leaders, supervisors, and OE engineers gathered for a 90-minute workshop. 18 candidate themes were brainstormed against the SQDCPM framework, dot-voted, and the top 5 became the weekly SFM cadence.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60772" y="1401738"/>
            <a:ext cx="5058110" cy="2993231"/>
          </a:xfrm>
          <a:prstGeom prst="roundRect">
            <a:avLst>
              <a:gd name="adj" fmla="val 3819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07219" y="1519610"/>
            <a:ext cx="271463" cy="271463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07219" y="1519610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" dirty="0"/>
          </a:p>
        </p:txBody>
      </p:sp>
      <p:sp>
        <p:nvSpPr>
          <p:cNvPr id="22" name="Text 16"/>
          <p:cNvSpPr/>
          <p:nvPr/>
        </p:nvSpPr>
        <p:spPr>
          <a:xfrm>
            <a:off x="950119" y="1605335"/>
            <a:ext cx="442231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BRAINSTORM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923160" y="1549328"/>
            <a:ext cx="449275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923160" y="1560686"/>
            <a:ext cx="4492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 MIN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07219" y="1876797"/>
            <a:ext cx="487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7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candidate themes generated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 rot="21480000">
            <a:off x="603144" y="206903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14288">
            <a:solidFill>
              <a:srgbClr val="3B82F6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1052178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 rot="21480000">
            <a:off x="607219" y="2085757"/>
            <a:ext cx="5355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</a:t>
            </a:r>
          </a:p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Walks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052178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1029918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 rot="120000">
            <a:off x="1181787" y="206903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14288">
            <a:solidFill>
              <a:srgbClr val="FBBF24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1637304" y="2076123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 rot="120000">
            <a:off x="1185994" y="2085753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</a:t>
            </a:r>
          </a:p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Audit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637304" y="2076123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1608561" y="20978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 rot="21480000">
            <a:off x="1760431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14288">
            <a:solidFill>
              <a:srgbClr val="22D3EE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209465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 rot="21480000">
            <a:off x="1763010" y="2084386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</a:p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NC Verify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2209465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2187205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 rot="120000">
            <a:off x="2339075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14288">
            <a:solidFill>
              <a:srgbClr val="A78BFA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2794591" y="2076123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 rot="120000">
            <a:off x="2343337" y="2085755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</a:p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Review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2794591" y="2076123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2765849" y="20978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 rot="21480000">
            <a:off x="2917719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14288">
            <a:solidFill>
              <a:srgbClr val="3B82F6"/>
            </a:solidFill>
            <a:prstDash val="solid"/>
          </a:ln>
          <a:effectLst>
            <a:outerShdw blurRad="114300" dist="50800" dir="16200000" algn="bl" rotWithShape="0">
              <a:srgbClr val="FBBF24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366753" y="2059918"/>
            <a:ext cx="103442" cy="103442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 rot="21480000">
            <a:off x="2921607" y="2085755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b="1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3366753" y="2059918"/>
            <a:ext cx="103442" cy="103442"/>
          </a:xfrm>
          <a:prstGeom prst="ellipse">
            <a:avLst/>
          </a:prstGeom>
          <a:solidFill>
            <a:srgbClr val="FBBF24"/>
          </a:solidFill>
          <a:ln/>
          <a:effectLst>
            <a:outerShdw blurRad="57150" dist="50800" dir="16200000" algn="bl" rotWithShape="0">
              <a:srgbClr val="FBBF24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3344493" y="20816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 rot="120000">
            <a:off x="3496362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 rot="120000">
            <a:off x="3500438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TPM Check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 rot="21480000">
            <a:off x="4075006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7144">
            <a:solidFill>
              <a:srgbClr val="22D3EE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 rot="21480000">
            <a:off x="4079081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SMED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 rot="120000">
            <a:off x="4653650" y="206903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7144">
            <a:solidFill>
              <a:srgbClr val="A78BFA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 rot="120000">
            <a:off x="4657725" y="209111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Mgmt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 rot="21480000">
            <a:off x="603144" y="235478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 rot="21480000">
            <a:off x="607219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WIP Control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 rot="120000">
            <a:off x="1181787" y="2354783"/>
            <a:ext cx="543932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 rot="120000">
            <a:off x="1185863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Preset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 rot="21480000">
            <a:off x="1760431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22D3EE">
              <a:alpha val="18000"/>
            </a:srgbClr>
          </a:solidFill>
          <a:ln w="7144">
            <a:solidFill>
              <a:srgbClr val="22D3EE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 rot="21480000">
            <a:off x="1764506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 rot="120000">
            <a:off x="2339075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A78BFA">
              <a:alpha val="18000"/>
            </a:srgbClr>
          </a:solidFill>
          <a:ln w="7144">
            <a:solidFill>
              <a:srgbClr val="A78BFA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 rot="120000">
            <a:off x="2343150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 Matrix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 rot="21480000">
            <a:off x="2917719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 rot="21480000">
            <a:off x="2921794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Review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 rot="120000">
            <a:off x="3496362" y="2354783"/>
            <a:ext cx="543931" cy="287041"/>
          </a:xfrm>
          <a:prstGeom prst="roundRect">
            <a:avLst>
              <a:gd name="adj" fmla="val 9955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blurRad="38100" dist="1905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 rot="120000">
            <a:off x="3500438" y="2376860"/>
            <a:ext cx="5357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91"/>
              </a:lnSpc>
              <a:buNone/>
            </a:pPr>
            <a:r>
              <a:rPr lang="en-US" sz="800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Tracker</a:t>
            </a:r>
            <a:endParaRPr lang="en-US" sz="800" dirty="0"/>
          </a:p>
        </p:txBody>
      </p:sp>
      <p:sp>
        <p:nvSpPr>
          <p:cNvPr id="69" name="Text 63"/>
          <p:cNvSpPr/>
          <p:nvPr/>
        </p:nvSpPr>
        <p:spPr>
          <a:xfrm>
            <a:off x="607219" y="4194944"/>
            <a:ext cx="57150" cy="57150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607219" y="4169941"/>
            <a:ext cx="47652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★ = TOP 5 SELECTED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5626038" y="1401738"/>
            <a:ext cx="1324608" cy="2993231"/>
          </a:xfrm>
          <a:prstGeom prst="roundRect">
            <a:avLst>
              <a:gd name="adj" fmla="val 8629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5772485" y="1596405"/>
            <a:ext cx="271463" cy="271463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5772485" y="1596405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" dirty="0"/>
          </a:p>
        </p:txBody>
      </p:sp>
      <p:sp>
        <p:nvSpPr>
          <p:cNvPr id="74" name="Text 68"/>
          <p:cNvSpPr/>
          <p:nvPr/>
        </p:nvSpPr>
        <p:spPr>
          <a:xfrm>
            <a:off x="6115385" y="1632124"/>
            <a:ext cx="3977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MULTI-VOTE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5772485" y="2030388"/>
            <a:ext cx="109361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 team members × 5 dots = 90 votes cast</a:t>
            </a:r>
            <a:endParaRPr lang="en-US" sz="800" dirty="0"/>
          </a:p>
        </p:txBody>
      </p:sp>
      <p:sp>
        <p:nvSpPr>
          <p:cNvPr id="78" name="Text 72"/>
          <p:cNvSpPr/>
          <p:nvPr/>
        </p:nvSpPr>
        <p:spPr>
          <a:xfrm>
            <a:off x="5772485" y="2392933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Walks</a:t>
            </a:r>
            <a:endParaRPr lang="en-US" sz="800" dirty="0"/>
          </a:p>
        </p:txBody>
      </p:sp>
      <p:sp>
        <p:nvSpPr>
          <p:cNvPr id="79" name="Text 73"/>
          <p:cNvSpPr/>
          <p:nvPr/>
        </p:nvSpPr>
        <p:spPr>
          <a:xfrm>
            <a:off x="6490432" y="2391147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004" y="2394719"/>
            <a:ext cx="60164" cy="114300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6507019" y="2387575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800" dirty="0"/>
          </a:p>
        </p:txBody>
      </p:sp>
      <p:sp>
        <p:nvSpPr>
          <p:cNvPr id="82" name="Text 75"/>
          <p:cNvSpPr/>
          <p:nvPr/>
        </p:nvSpPr>
        <p:spPr>
          <a:xfrm>
            <a:off x="5772485" y="2600102"/>
            <a:ext cx="9398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Audit</a:t>
            </a:r>
            <a:endParaRPr lang="en-US" sz="800" dirty="0"/>
          </a:p>
        </p:txBody>
      </p:sp>
      <p:sp>
        <p:nvSpPr>
          <p:cNvPr id="83" name="Text 76"/>
          <p:cNvSpPr/>
          <p:nvPr/>
        </p:nvSpPr>
        <p:spPr>
          <a:xfrm>
            <a:off x="6490432" y="2598316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004" y="2601888"/>
            <a:ext cx="56592" cy="11430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6507019" y="2594744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800" dirty="0"/>
          </a:p>
        </p:txBody>
      </p:sp>
      <p:sp>
        <p:nvSpPr>
          <p:cNvPr id="86" name="Text 78"/>
          <p:cNvSpPr/>
          <p:nvPr/>
        </p:nvSpPr>
        <p:spPr>
          <a:xfrm>
            <a:off x="5772485" y="2807271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</a:t>
            </a:r>
            <a:endParaRPr lang="en-US" sz="800" dirty="0"/>
          </a:p>
        </p:txBody>
      </p:sp>
      <p:sp>
        <p:nvSpPr>
          <p:cNvPr id="87" name="Text 79"/>
          <p:cNvSpPr/>
          <p:nvPr/>
        </p:nvSpPr>
        <p:spPr>
          <a:xfrm>
            <a:off x="6490432" y="2805485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04" y="2809056"/>
            <a:ext cx="53020" cy="114300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6507019" y="2801913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800" dirty="0"/>
          </a:p>
        </p:txBody>
      </p:sp>
      <p:sp>
        <p:nvSpPr>
          <p:cNvPr id="90" name="Text 81"/>
          <p:cNvSpPr/>
          <p:nvPr/>
        </p:nvSpPr>
        <p:spPr>
          <a:xfrm>
            <a:off x="5772485" y="3014439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Review</a:t>
            </a:r>
            <a:endParaRPr lang="en-US" sz="800" dirty="0"/>
          </a:p>
        </p:txBody>
      </p:sp>
      <p:sp>
        <p:nvSpPr>
          <p:cNvPr id="91" name="Text 82"/>
          <p:cNvSpPr/>
          <p:nvPr/>
        </p:nvSpPr>
        <p:spPr>
          <a:xfrm>
            <a:off x="6490432" y="3012653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04" y="3016225"/>
            <a:ext cx="49560" cy="114300"/>
          </a:xfrm>
          <a:prstGeom prst="rect">
            <a:avLst/>
          </a:prstGeom>
        </p:spPr>
      </p:pic>
      <p:sp>
        <p:nvSpPr>
          <p:cNvPr id="93" name="Text 83"/>
          <p:cNvSpPr/>
          <p:nvPr/>
        </p:nvSpPr>
        <p:spPr>
          <a:xfrm>
            <a:off x="6507019" y="3009081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94" name="Text 84"/>
          <p:cNvSpPr/>
          <p:nvPr/>
        </p:nvSpPr>
        <p:spPr>
          <a:xfrm>
            <a:off x="5772485" y="3221608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NC</a:t>
            </a:r>
            <a:endParaRPr lang="en-US" sz="800" dirty="0"/>
          </a:p>
        </p:txBody>
      </p:sp>
      <p:sp>
        <p:nvSpPr>
          <p:cNvPr id="95" name="Text 85"/>
          <p:cNvSpPr/>
          <p:nvPr/>
        </p:nvSpPr>
        <p:spPr>
          <a:xfrm>
            <a:off x="6490432" y="3219822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004" y="3223394"/>
            <a:ext cx="45988" cy="114300"/>
          </a:xfrm>
          <a:prstGeom prst="rect">
            <a:avLst/>
          </a:prstGeom>
        </p:spPr>
      </p:pic>
      <p:sp>
        <p:nvSpPr>
          <p:cNvPr id="97" name="Text 86"/>
          <p:cNvSpPr/>
          <p:nvPr/>
        </p:nvSpPr>
        <p:spPr>
          <a:xfrm>
            <a:off x="6507019" y="3216250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pic>
        <p:nvPicPr>
          <p:cNvPr id="98" name="Image 9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772485" y="3468067"/>
            <a:ext cx="198462" cy="7144"/>
          </a:xfrm>
          <a:prstGeom prst="rect">
            <a:avLst/>
          </a:prstGeom>
        </p:spPr>
      </p:pic>
      <p:sp>
        <p:nvSpPr>
          <p:cNvPr id="99" name="Text 87"/>
          <p:cNvSpPr/>
          <p:nvPr/>
        </p:nvSpPr>
        <p:spPr>
          <a:xfrm>
            <a:off x="6028097" y="3423419"/>
            <a:ext cx="7000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76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CUTOFF</a:t>
            </a:r>
            <a:endParaRPr lang="en-US" sz="600" dirty="0"/>
          </a:p>
        </p:txBody>
      </p:sp>
      <p:pic>
        <p:nvPicPr>
          <p:cNvPr id="100" name="Image 10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6605736" y="3468067"/>
            <a:ext cx="198462" cy="7144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5772485" y="3603799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Mgmt</a:t>
            </a:r>
            <a:endParaRPr lang="en-US" sz="800" dirty="0"/>
          </a:p>
        </p:txBody>
      </p:sp>
      <p:sp>
        <p:nvSpPr>
          <p:cNvPr id="102" name="Text 89"/>
          <p:cNvSpPr/>
          <p:nvPr/>
        </p:nvSpPr>
        <p:spPr>
          <a:xfrm>
            <a:off x="6490432" y="3602013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90"/>
          <p:cNvSpPr/>
          <p:nvPr/>
        </p:nvSpPr>
        <p:spPr>
          <a:xfrm>
            <a:off x="6494004" y="3605585"/>
            <a:ext cx="28240" cy="114300"/>
          </a:xfrm>
          <a:prstGeom prst="roundRect">
            <a:avLst>
              <a:gd name="adj" fmla="val 67458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91"/>
          <p:cNvSpPr/>
          <p:nvPr/>
        </p:nvSpPr>
        <p:spPr>
          <a:xfrm>
            <a:off x="6507019" y="3598441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105" name="Text 92"/>
          <p:cNvSpPr/>
          <p:nvPr/>
        </p:nvSpPr>
        <p:spPr>
          <a:xfrm>
            <a:off x="5772485" y="3810967"/>
            <a:ext cx="9398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TPM Check</a:t>
            </a:r>
            <a:endParaRPr lang="en-US" sz="800" dirty="0"/>
          </a:p>
        </p:txBody>
      </p:sp>
      <p:sp>
        <p:nvSpPr>
          <p:cNvPr id="106" name="Text 93"/>
          <p:cNvSpPr/>
          <p:nvPr/>
        </p:nvSpPr>
        <p:spPr>
          <a:xfrm>
            <a:off x="6490432" y="3809181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94"/>
          <p:cNvSpPr/>
          <p:nvPr/>
        </p:nvSpPr>
        <p:spPr>
          <a:xfrm>
            <a:off x="6494004" y="3812753"/>
            <a:ext cx="21208" cy="114300"/>
          </a:xfrm>
          <a:prstGeom prst="roundRect">
            <a:avLst>
              <a:gd name="adj" fmla="val 89825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5"/>
          <p:cNvSpPr/>
          <p:nvPr/>
        </p:nvSpPr>
        <p:spPr>
          <a:xfrm>
            <a:off x="6507019" y="3805610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09" name="Text 96"/>
          <p:cNvSpPr/>
          <p:nvPr/>
        </p:nvSpPr>
        <p:spPr>
          <a:xfrm>
            <a:off x="5772485" y="4018136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Review</a:t>
            </a:r>
            <a:endParaRPr lang="en-US" sz="800" dirty="0"/>
          </a:p>
        </p:txBody>
      </p:sp>
      <p:sp>
        <p:nvSpPr>
          <p:cNvPr id="110" name="Text 97"/>
          <p:cNvSpPr/>
          <p:nvPr/>
        </p:nvSpPr>
        <p:spPr>
          <a:xfrm>
            <a:off x="6490432" y="4016350"/>
            <a:ext cx="67308" cy="121444"/>
          </a:xfrm>
          <a:prstGeom prst="roundRect">
            <a:avLst>
              <a:gd name="adj" fmla="val 28303"/>
            </a:avLst>
          </a:prstGeom>
          <a:solidFill>
            <a:srgbClr val="0F1E36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98"/>
          <p:cNvSpPr/>
          <p:nvPr/>
        </p:nvSpPr>
        <p:spPr>
          <a:xfrm>
            <a:off x="6494004" y="4019922"/>
            <a:ext cx="17636" cy="114300"/>
          </a:xfrm>
          <a:prstGeom prst="roundRect">
            <a:avLst>
              <a:gd name="adj" fmla="val 108018"/>
            </a:avLst>
          </a:prstGeom>
          <a:solidFill>
            <a:srgbClr val="60A5FA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99"/>
          <p:cNvSpPr/>
          <p:nvPr/>
        </p:nvSpPr>
        <p:spPr>
          <a:xfrm>
            <a:off x="6507019" y="4012778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113" name="Text 100"/>
          <p:cNvSpPr/>
          <p:nvPr/>
        </p:nvSpPr>
        <p:spPr>
          <a:xfrm>
            <a:off x="7057802" y="1401738"/>
            <a:ext cx="1625426" cy="2993231"/>
          </a:xfrm>
          <a:prstGeom prst="roundRect">
            <a:avLst>
              <a:gd name="adj" fmla="val 7032"/>
            </a:avLst>
          </a:prstGeom>
          <a:solidFill>
            <a:srgbClr val="142844">
              <a:alpha val="60000"/>
            </a:srgbClr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1"/>
          <p:cNvSpPr/>
          <p:nvPr/>
        </p:nvSpPr>
        <p:spPr>
          <a:xfrm>
            <a:off x="7204249" y="1537469"/>
            <a:ext cx="271463" cy="271463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02"/>
          <p:cNvSpPr/>
          <p:nvPr/>
        </p:nvSpPr>
        <p:spPr>
          <a:xfrm>
            <a:off x="7204249" y="1537469"/>
            <a:ext cx="3071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b="1" kern="0" spc="-19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" dirty="0"/>
          </a:p>
        </p:txBody>
      </p:sp>
      <p:sp>
        <p:nvSpPr>
          <p:cNvPr id="116" name="Text 103"/>
          <p:cNvSpPr/>
          <p:nvPr/>
        </p:nvSpPr>
        <p:spPr>
          <a:xfrm>
            <a:off x="7547149" y="1573188"/>
            <a:ext cx="5733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7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SELECTED</a:t>
            </a:r>
            <a:endParaRPr lang="en-US" sz="800" dirty="0"/>
          </a:p>
        </p:txBody>
      </p:sp>
      <p:sp>
        <p:nvSpPr>
          <p:cNvPr id="119" name="Text 106"/>
          <p:cNvSpPr/>
          <p:nvPr/>
        </p:nvSpPr>
        <p:spPr>
          <a:xfrm>
            <a:off x="7204249" y="1912516"/>
            <a:ext cx="1412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ranking — Monday to Friday</a:t>
            </a:r>
            <a:endParaRPr lang="en-US" sz="675" dirty="0"/>
          </a:p>
        </p:txBody>
      </p:sp>
      <p:pic>
        <p:nvPicPr>
          <p:cNvPr id="1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112541"/>
            <a:ext cx="1332533" cy="400050"/>
          </a:xfrm>
          <a:prstGeom prst="rect">
            <a:avLst/>
          </a:prstGeom>
        </p:spPr>
      </p:pic>
      <p:sp>
        <p:nvSpPr>
          <p:cNvPr id="121" name="Text 107"/>
          <p:cNvSpPr/>
          <p:nvPr/>
        </p:nvSpPr>
        <p:spPr>
          <a:xfrm>
            <a:off x="7207821" y="2116113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08"/>
          <p:cNvSpPr/>
          <p:nvPr/>
        </p:nvSpPr>
        <p:spPr>
          <a:xfrm>
            <a:off x="7211392" y="2119685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09"/>
          <p:cNvSpPr/>
          <p:nvPr/>
        </p:nvSpPr>
        <p:spPr>
          <a:xfrm>
            <a:off x="7211392" y="2119685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</a:t>
            </a:r>
            <a:endParaRPr lang="en-US" sz="800" dirty="0"/>
          </a:p>
        </p:txBody>
      </p:sp>
      <p:sp>
        <p:nvSpPr>
          <p:cNvPr id="124" name="Text 110"/>
          <p:cNvSpPr/>
          <p:nvPr/>
        </p:nvSpPr>
        <p:spPr>
          <a:xfrm>
            <a:off x="7554292" y="2195810"/>
            <a:ext cx="47877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44" dirty="0"/>
          </a:p>
        </p:txBody>
      </p:sp>
      <p:sp>
        <p:nvSpPr>
          <p:cNvPr id="126" name="Text 112"/>
          <p:cNvSpPr/>
          <p:nvPr/>
        </p:nvSpPr>
        <p:spPr>
          <a:xfrm>
            <a:off x="7996294" y="2206553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13"/>
          <p:cNvSpPr/>
          <p:nvPr/>
        </p:nvSpPr>
        <p:spPr>
          <a:xfrm>
            <a:off x="7971381" y="2217911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votes</a:t>
            </a:r>
            <a:endParaRPr lang="en-US" sz="800" dirty="0"/>
          </a:p>
        </p:txBody>
      </p:sp>
      <p:pic>
        <p:nvPicPr>
          <p:cNvPr id="12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555453"/>
            <a:ext cx="1332533" cy="400050"/>
          </a:xfrm>
          <a:prstGeom prst="rect">
            <a:avLst/>
          </a:prstGeom>
        </p:spPr>
      </p:pic>
      <p:sp>
        <p:nvSpPr>
          <p:cNvPr id="129" name="Text 114"/>
          <p:cNvSpPr/>
          <p:nvPr/>
        </p:nvSpPr>
        <p:spPr>
          <a:xfrm>
            <a:off x="7207821" y="2559025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15"/>
          <p:cNvSpPr/>
          <p:nvPr/>
        </p:nvSpPr>
        <p:spPr>
          <a:xfrm>
            <a:off x="7211392" y="2562597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1" name="Text 116"/>
          <p:cNvSpPr/>
          <p:nvPr/>
        </p:nvSpPr>
        <p:spPr>
          <a:xfrm>
            <a:off x="7211392" y="2562597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</a:t>
            </a:r>
            <a:endParaRPr lang="en-US" sz="800" dirty="0"/>
          </a:p>
        </p:txBody>
      </p:sp>
      <p:sp>
        <p:nvSpPr>
          <p:cNvPr id="132" name="Text 117"/>
          <p:cNvSpPr/>
          <p:nvPr/>
        </p:nvSpPr>
        <p:spPr>
          <a:xfrm>
            <a:off x="7554292" y="2638723"/>
            <a:ext cx="59098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44" dirty="0"/>
          </a:p>
        </p:txBody>
      </p:sp>
      <p:sp>
        <p:nvSpPr>
          <p:cNvPr id="134" name="Text 119"/>
          <p:cNvSpPr/>
          <p:nvPr/>
        </p:nvSpPr>
        <p:spPr>
          <a:xfrm>
            <a:off x="7996294" y="2649465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5" name="Text 120"/>
          <p:cNvSpPr/>
          <p:nvPr/>
        </p:nvSpPr>
        <p:spPr>
          <a:xfrm>
            <a:off x="7971381" y="2660824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votes</a:t>
            </a:r>
            <a:endParaRPr lang="en-US" sz="800" dirty="0"/>
          </a:p>
        </p:txBody>
      </p:sp>
      <p:pic>
        <p:nvPicPr>
          <p:cNvPr id="136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2998366"/>
            <a:ext cx="1332533" cy="400050"/>
          </a:xfrm>
          <a:prstGeom prst="rect">
            <a:avLst/>
          </a:prstGeom>
        </p:spPr>
      </p:pic>
      <p:sp>
        <p:nvSpPr>
          <p:cNvPr id="137" name="Text 121"/>
          <p:cNvSpPr/>
          <p:nvPr/>
        </p:nvSpPr>
        <p:spPr>
          <a:xfrm>
            <a:off x="7207821" y="3001938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22"/>
          <p:cNvSpPr/>
          <p:nvPr/>
        </p:nvSpPr>
        <p:spPr>
          <a:xfrm>
            <a:off x="7211392" y="3005510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23"/>
          <p:cNvSpPr/>
          <p:nvPr/>
        </p:nvSpPr>
        <p:spPr>
          <a:xfrm>
            <a:off x="7211392" y="3005510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</a:t>
            </a:r>
            <a:endParaRPr lang="en-US" sz="800" dirty="0"/>
          </a:p>
        </p:txBody>
      </p:sp>
      <p:sp>
        <p:nvSpPr>
          <p:cNvPr id="140" name="Text 124"/>
          <p:cNvSpPr/>
          <p:nvPr/>
        </p:nvSpPr>
        <p:spPr>
          <a:xfrm>
            <a:off x="7538476" y="3081635"/>
            <a:ext cx="51040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844" dirty="0"/>
          </a:p>
        </p:txBody>
      </p:sp>
      <p:sp>
        <p:nvSpPr>
          <p:cNvPr id="142" name="Text 126"/>
          <p:cNvSpPr/>
          <p:nvPr/>
        </p:nvSpPr>
        <p:spPr>
          <a:xfrm>
            <a:off x="7996294" y="3092378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27"/>
          <p:cNvSpPr/>
          <p:nvPr/>
        </p:nvSpPr>
        <p:spPr>
          <a:xfrm>
            <a:off x="7971381" y="3103736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votes</a:t>
            </a:r>
            <a:endParaRPr lang="en-US" sz="800" dirty="0"/>
          </a:p>
        </p:txBody>
      </p:sp>
      <p:pic>
        <p:nvPicPr>
          <p:cNvPr id="144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3441278"/>
            <a:ext cx="1332533" cy="400050"/>
          </a:xfrm>
          <a:prstGeom prst="rect">
            <a:avLst/>
          </a:prstGeom>
        </p:spPr>
      </p:pic>
      <p:sp>
        <p:nvSpPr>
          <p:cNvPr id="145" name="Text 128"/>
          <p:cNvSpPr/>
          <p:nvPr/>
        </p:nvSpPr>
        <p:spPr>
          <a:xfrm>
            <a:off x="7207821" y="3444850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6" name="Text 129"/>
          <p:cNvSpPr/>
          <p:nvPr/>
        </p:nvSpPr>
        <p:spPr>
          <a:xfrm>
            <a:off x="7211392" y="3448422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30"/>
          <p:cNvSpPr/>
          <p:nvPr/>
        </p:nvSpPr>
        <p:spPr>
          <a:xfrm>
            <a:off x="7211392" y="3448422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</a:t>
            </a:r>
            <a:endParaRPr lang="en-US" sz="800" dirty="0"/>
          </a:p>
        </p:txBody>
      </p:sp>
      <p:sp>
        <p:nvSpPr>
          <p:cNvPr id="148" name="Text 131"/>
          <p:cNvSpPr/>
          <p:nvPr/>
        </p:nvSpPr>
        <p:spPr>
          <a:xfrm>
            <a:off x="7554292" y="3524548"/>
            <a:ext cx="59098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44" dirty="0"/>
          </a:p>
        </p:txBody>
      </p:sp>
      <p:sp>
        <p:nvSpPr>
          <p:cNvPr id="150" name="Text 133"/>
          <p:cNvSpPr/>
          <p:nvPr/>
        </p:nvSpPr>
        <p:spPr>
          <a:xfrm>
            <a:off x="7996294" y="3535290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1" name="Text 134"/>
          <p:cNvSpPr/>
          <p:nvPr/>
        </p:nvSpPr>
        <p:spPr>
          <a:xfrm>
            <a:off x="7971381" y="3546649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votes</a:t>
            </a:r>
            <a:endParaRPr lang="en-US" sz="800" dirty="0"/>
          </a:p>
        </p:txBody>
      </p:sp>
      <p:pic>
        <p:nvPicPr>
          <p:cNvPr id="152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249" y="3884191"/>
            <a:ext cx="1332533" cy="400050"/>
          </a:xfrm>
          <a:prstGeom prst="rect">
            <a:avLst/>
          </a:prstGeom>
        </p:spPr>
      </p:pic>
      <p:sp>
        <p:nvSpPr>
          <p:cNvPr id="153" name="Text 135"/>
          <p:cNvSpPr/>
          <p:nvPr/>
        </p:nvSpPr>
        <p:spPr>
          <a:xfrm>
            <a:off x="7207821" y="3887763"/>
            <a:ext cx="1325389" cy="392906"/>
          </a:xfrm>
          <a:prstGeom prst="roundRect">
            <a:avLst>
              <a:gd name="adj" fmla="val 19394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4" name="Text 136"/>
          <p:cNvSpPr/>
          <p:nvPr/>
        </p:nvSpPr>
        <p:spPr>
          <a:xfrm>
            <a:off x="7211392" y="3891335"/>
            <a:ext cx="257175" cy="385763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5" name="Text 137"/>
          <p:cNvSpPr/>
          <p:nvPr/>
        </p:nvSpPr>
        <p:spPr>
          <a:xfrm>
            <a:off x="7211392" y="3891335"/>
            <a:ext cx="2571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</a:t>
            </a:r>
            <a:endParaRPr lang="en-US" sz="800" dirty="0"/>
          </a:p>
        </p:txBody>
      </p:sp>
      <p:sp>
        <p:nvSpPr>
          <p:cNvPr id="156" name="Text 138"/>
          <p:cNvSpPr/>
          <p:nvPr/>
        </p:nvSpPr>
        <p:spPr>
          <a:xfrm>
            <a:off x="7554292" y="3967460"/>
            <a:ext cx="47877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44" b="1" kern="0" spc="-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44" dirty="0"/>
          </a:p>
        </p:txBody>
      </p:sp>
      <p:sp>
        <p:nvSpPr>
          <p:cNvPr id="158" name="Text 140"/>
          <p:cNvSpPr/>
          <p:nvPr/>
        </p:nvSpPr>
        <p:spPr>
          <a:xfrm>
            <a:off x="7996294" y="3978203"/>
            <a:ext cx="479672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9" name="Text 141"/>
          <p:cNvSpPr/>
          <p:nvPr/>
        </p:nvSpPr>
        <p:spPr>
          <a:xfrm>
            <a:off x="7971381" y="3989561"/>
            <a:ext cx="5294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votes</a:t>
            </a:r>
            <a:endParaRPr lang="en-US" sz="800" dirty="0"/>
          </a:p>
        </p:txBody>
      </p:sp>
      <p:pic>
        <p:nvPicPr>
          <p:cNvPr id="16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55691"/>
            <a:ext cx="8229600" cy="357188"/>
          </a:xfrm>
          <a:prstGeom prst="rect">
            <a:avLst/>
          </a:prstGeom>
        </p:spPr>
      </p:pic>
      <p:sp>
        <p:nvSpPr>
          <p:cNvPr id="161" name="Text 142"/>
          <p:cNvSpPr/>
          <p:nvPr/>
        </p:nvSpPr>
        <p:spPr>
          <a:xfrm>
            <a:off x="460772" y="4459263"/>
            <a:ext cx="8222456" cy="350044"/>
          </a:xfrm>
          <a:prstGeom prst="roundRect">
            <a:avLst>
              <a:gd name="adj" fmla="val 32653"/>
            </a:avLst>
          </a:prstGeom>
          <a:noFill/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2" name="Text 143"/>
          <p:cNvSpPr/>
          <p:nvPr/>
        </p:nvSpPr>
        <p:spPr>
          <a:xfrm>
            <a:off x="592931" y="4512841"/>
            <a:ext cx="141233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PARTICIPANTS</a:t>
            </a:r>
            <a:endParaRPr lang="en-US" sz="800" dirty="0"/>
          </a:p>
        </p:txBody>
      </p:sp>
      <p:sp>
        <p:nvSpPr>
          <p:cNvPr id="163" name="Text 144"/>
          <p:cNvSpPr/>
          <p:nvPr/>
        </p:nvSpPr>
        <p:spPr>
          <a:xfrm>
            <a:off x="592931" y="4627141"/>
            <a:ext cx="121406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cross-functional members</a:t>
            </a:r>
            <a:endParaRPr lang="en-US" sz="675" dirty="0"/>
          </a:p>
        </p:txBody>
      </p:sp>
      <p:pic>
        <p:nvPicPr>
          <p:cNvPr id="164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9942" y="4541416"/>
            <a:ext cx="7144" cy="185738"/>
          </a:xfrm>
          <a:prstGeom prst="rect">
            <a:avLst/>
          </a:prstGeom>
        </p:spPr>
      </p:pic>
      <p:sp>
        <p:nvSpPr>
          <p:cNvPr id="165" name="Text 145"/>
          <p:cNvSpPr/>
          <p:nvPr/>
        </p:nvSpPr>
        <p:spPr>
          <a:xfrm>
            <a:off x="2009961" y="4512841"/>
            <a:ext cx="19587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800" dirty="0"/>
          </a:p>
        </p:txBody>
      </p:sp>
      <p:sp>
        <p:nvSpPr>
          <p:cNvPr id="166" name="Text 146"/>
          <p:cNvSpPr/>
          <p:nvPr/>
        </p:nvSpPr>
        <p:spPr>
          <a:xfrm>
            <a:off x="2009961" y="4627141"/>
            <a:ext cx="15505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Brainstorm + Multi-vote (5 dots each)</a:t>
            </a:r>
            <a:endParaRPr lang="en-US" sz="675" dirty="0"/>
          </a:p>
        </p:txBody>
      </p:sp>
      <p:pic>
        <p:nvPicPr>
          <p:cNvPr id="167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8507" y="4541416"/>
            <a:ext cx="7144" cy="185738"/>
          </a:xfrm>
          <a:prstGeom prst="rect">
            <a:avLst/>
          </a:prstGeom>
        </p:spPr>
      </p:pic>
      <p:sp>
        <p:nvSpPr>
          <p:cNvPr id="168" name="Text 147"/>
          <p:cNvSpPr/>
          <p:nvPr/>
        </p:nvSpPr>
        <p:spPr>
          <a:xfrm>
            <a:off x="3738525" y="4512841"/>
            <a:ext cx="20008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CRITERIA</a:t>
            </a:r>
            <a:endParaRPr lang="en-US" sz="800" dirty="0"/>
          </a:p>
        </p:txBody>
      </p:sp>
      <p:sp>
        <p:nvSpPr>
          <p:cNvPr id="169" name="Text 148"/>
          <p:cNvSpPr/>
          <p:nvPr/>
        </p:nvSpPr>
        <p:spPr>
          <a:xfrm>
            <a:off x="3738525" y="4627141"/>
            <a:ext cx="158379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SQDCPM alignment + impact potential</a:t>
            </a:r>
            <a:endParaRPr lang="en-US" sz="675" dirty="0"/>
          </a:p>
        </p:txBody>
      </p:sp>
      <p:sp>
        <p:nvSpPr>
          <p:cNvPr id="170" name="Text 149"/>
          <p:cNvSpPr/>
          <p:nvPr/>
        </p:nvSpPr>
        <p:spPr>
          <a:xfrm>
            <a:off x="3103625" y="28126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171" name="Text 150"/>
          <p:cNvSpPr/>
          <p:nvPr/>
        </p:nvSpPr>
        <p:spPr>
          <a:xfrm>
            <a:off x="5778289" y="28126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688" dirty="0"/>
          </a:p>
        </p:txBody>
      </p:sp>
      <p:sp>
        <p:nvSpPr>
          <p:cNvPr id="172" name="Text 151"/>
          <p:cNvSpPr/>
          <p:nvPr/>
        </p:nvSpPr>
        <p:spPr>
          <a:xfrm>
            <a:off x="457200" y="4868466"/>
            <a:ext cx="7857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· THEME SELECTION</a:t>
            </a:r>
            <a:endParaRPr lang="en-US" sz="800" dirty="0"/>
          </a:p>
        </p:txBody>
      </p:sp>
      <p:sp>
        <p:nvSpPr>
          <p:cNvPr id="173" name="Text 152"/>
          <p:cNvSpPr/>
          <p:nvPr/>
        </p:nvSpPr>
        <p:spPr>
          <a:xfrm>
            <a:off x="8329166" y="4868466"/>
            <a:ext cx="5278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375" y="-571500"/>
            <a:ext cx="2000250" cy="2000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714375" y="-571500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714750"/>
            <a:ext cx="1857375" cy="18573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858125" y="3714750"/>
            <a:ext cx="1857375" cy="1857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7537326" y="160734"/>
            <a:ext cx="42863" cy="42863"/>
          </a:xfrm>
          <a:prstGeom prst="ellipse">
            <a:avLst/>
          </a:prstGeom>
          <a:solidFill>
            <a:srgbClr val="22D3EE"/>
          </a:solidFill>
          <a:ln/>
          <a:effectLst>
            <a:outerShdw blurRad="76200" dist="50800" dir="16200000" algn="bl" rotWithShape="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637338" y="128588"/>
            <a:ext cx="1265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8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 · METHODOLOGY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460772" y="175022"/>
            <a:ext cx="1696975" cy="182166"/>
          </a:xfrm>
          <a:prstGeom prst="roundRect">
            <a:avLst>
              <a:gd name="adj" fmla="val 20915"/>
            </a:avLst>
          </a:prstGeom>
          <a:solidFill>
            <a:srgbClr val="22D3EE">
              <a:alpha val="14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57200" y="171450"/>
            <a:ext cx="1704119" cy="20474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· BRAINSTORM + MULTI-VOTE</a:t>
            </a:r>
            <a:endParaRPr lang="en-US" sz="619" dirty="0"/>
          </a:p>
        </p:txBody>
      </p:sp>
      <p:sp>
        <p:nvSpPr>
          <p:cNvPr id="17" name="Text 11"/>
          <p:cNvSpPr/>
          <p:nvPr/>
        </p:nvSpPr>
        <p:spPr>
          <a:xfrm>
            <a:off x="457200" y="403622"/>
            <a:ext cx="8636000" cy="591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How the 5 SFM Themes Were </a:t>
            </a:r>
            <a:r>
              <a:rPr lang="en-US" sz="2025" b="1" kern="0" spc="-2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</a:t>
            </a:r>
            <a:endParaRPr lang="en-US" sz="2025" dirty="0"/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89FF48A2-34B2-45C9-9402-A7129241E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22" y="952996"/>
            <a:ext cx="7230292" cy="41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6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08721" y="-214312"/>
            <a:ext cx="7035279" cy="138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0125" b="1" kern="0" spc="-405" dirty="0">
                <a:solidFill>
                  <a:srgbClr val="3B82F6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CADENCE</a:t>
            </a:r>
            <a:endParaRPr lang="en-US" sz="10125" dirty="0"/>
          </a:p>
        </p:txBody>
      </p:sp>
      <p:sp>
        <p:nvSpPr>
          <p:cNvPr id="4" name="Text 2"/>
          <p:cNvSpPr/>
          <p:nvPr/>
        </p:nvSpPr>
        <p:spPr>
          <a:xfrm>
            <a:off x="460772" y="289322"/>
            <a:ext cx="2349624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369" y="328613"/>
            <a:ext cx="2071018" cy="13965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SFM AGENDA · AWARENESS · COACHING · TRAINING</a:t>
            </a:r>
            <a:endParaRPr lang="en-US" sz="619" dirty="0"/>
          </a:p>
        </p:txBody>
      </p:sp>
      <p:sp>
        <p:nvSpPr>
          <p:cNvPr id="6" name="Text 4"/>
          <p:cNvSpPr/>
          <p:nvPr/>
        </p:nvSpPr>
        <p:spPr>
          <a:xfrm>
            <a:off x="53578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575072"/>
            <a:ext cx="8636000" cy="31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repeatable weekly cadence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57200" y="913619"/>
            <a:ext cx="6429375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weekday carries a fixed theme — leaders walk the floor, verify standards, coach teams, and close the loop with recognition.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0772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344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47216" y="1898563"/>
            <a:ext cx="462794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7841" y="1909279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1503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6206" y="2459348"/>
            <a:ext cx="14993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walks &amp; awareness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4356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356" y="2720094"/>
            <a:ext cx="1363005" cy="1172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PPE, assembly points, emergency contacts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ESD, oil/coolant spills, gangway clearance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Electrical &amp; fire-extinguisher access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Kaizens as applicable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23815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27386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27386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TUESDAY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2216426" y="1898563"/>
            <a:ext cx="26907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27399" y="1909279"/>
            <a:ext cx="2471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94546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2127386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assessment &amp; zones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27399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27399" y="2720094"/>
            <a:ext cx="1363005" cy="8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assessor + line selection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12-question 5S evaluation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Colour-coding standardization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5S Zone — monthly trophy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86857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90429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90429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871814" y="1898563"/>
            <a:ext cx="502938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45346" y="1909279"/>
            <a:ext cx="5558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57588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3790429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verification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90442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90442" y="2720094"/>
            <a:ext cx="1363005" cy="8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NC part handling on line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Supermarket trolley &amp; part ID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 mix-up detection method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documentation &amp; WIP control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49900" y="1491369"/>
            <a:ext cx="1570174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453472" y="1494941"/>
            <a:ext cx="1563030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53472" y="1494941"/>
            <a:ext cx="1563030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</a:t>
            </a:r>
            <a:endParaRPr lang="en-US" sz="1013" dirty="0"/>
          </a:p>
        </p:txBody>
      </p:sp>
      <p:sp>
        <p:nvSpPr>
          <p:cNvPr id="39" name="Text 37"/>
          <p:cNvSpPr/>
          <p:nvPr/>
        </p:nvSpPr>
        <p:spPr>
          <a:xfrm>
            <a:off x="5539661" y="1898563"/>
            <a:ext cx="37322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53484" y="1909279"/>
            <a:ext cx="34557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0631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5453472" y="2459348"/>
            <a:ext cx="15630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problem-solving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53484" y="2641513"/>
            <a:ext cx="1363005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53484" y="2720094"/>
            <a:ext cx="1363005" cy="10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PPSR review — leader presents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Right use of problem-solving tools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Coaching by Coach per stage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PPSR — monthly cash prize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2943" y="1491369"/>
            <a:ext cx="1570286" cy="2921794"/>
          </a:xfrm>
          <a:prstGeom prst="roundRect">
            <a:avLst>
              <a:gd name="adj" fmla="val 60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16514" y="1494941"/>
            <a:ext cx="1563142" cy="314325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116514" y="1494941"/>
            <a:ext cx="1563142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7199619" y="1898563"/>
            <a:ext cx="456526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187110" y="1909279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83785" y="21735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7116514" y="2459348"/>
            <a:ext cx="15631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&amp; waste walk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16527" y="2641513"/>
            <a:ext cx="1363117" cy="7144"/>
          </a:xfrm>
          <a:prstGeom prst="rect">
            <a:avLst/>
          </a:prstGeom>
          <a:solidFill>
            <a:srgbClr val="60A5FA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16527" y="2720094"/>
            <a:ext cx="1363117" cy="10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 — collect all suggestions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select kaizens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CFT feasibility &amp; implementation</a:t>
            </a:r>
            <a:endParaRPr lang="en-US" sz="800" dirty="0"/>
          </a:p>
          <a:p>
            <a:pPr marL="0" indent="0" algn="l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Kaizen — monthly cash prize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539965"/>
            <a:ext cx="71438" cy="71438"/>
          </a:xfrm>
          <a:prstGeom prst="roundRect">
            <a:avLst>
              <a:gd name="adj" fmla="val 266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4516748"/>
            <a:ext cx="852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 THEME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35757" y="4539965"/>
            <a:ext cx="71438" cy="71438"/>
          </a:xfrm>
          <a:prstGeom prst="roundRect">
            <a:avLst>
              <a:gd name="adj" fmla="val 2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235757" y="4516748"/>
            <a:ext cx="54779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 LEVER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77968" y="4516748"/>
            <a:ext cx="20615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 → Fri · Pune Plant · Shop Floor Management</a:t>
            </a:r>
            <a:endParaRPr lang="en-US" sz="619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457200" y="4868466"/>
            <a:ext cx="76372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CADENCE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077398" y="4868466"/>
            <a:ext cx="784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10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211535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494" y="35952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21494" y="38238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21494" y="4052404"/>
            <a:ext cx="398621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393" y="9041"/>
            <a:ext cx="5029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274391"/>
            <a:ext cx="1011287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7219" y="328613"/>
            <a:ext cx="83983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 · SAFETY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844" dirty="0"/>
          </a:p>
        </p:txBody>
      </p:sp>
      <p:sp>
        <p:nvSpPr>
          <p:cNvPr id="13" name="Text 10"/>
          <p:cNvSpPr/>
          <p:nvPr/>
        </p:nvSpPr>
        <p:spPr>
          <a:xfrm>
            <a:off x="1482775" y="305395"/>
            <a:ext cx="3146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01 / 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0050" y="575072"/>
            <a:ext cx="42291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Stewart Team — daily walks, weekly audits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0050" y="1322263"/>
            <a:ext cx="42291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dedicated Safety Stewart is assigned to every production line — Pump Lines 1-4, Actuator Lines 1-2, EMEGR Lines 1-2, Module Lines 1-2, PEGR Line, ETB, BPV, and EAM+GEN4+ — conducting daily walks and escalating unsafe acts and conditions in the SFM meeting.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03622" y="1905707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07206" y="1995004"/>
            <a:ext cx="13678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799145" y="2173598"/>
            <a:ext cx="5708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OFI RAISED</a:t>
            </a:r>
            <a:endParaRPr lang="en-US" sz="619" dirty="0"/>
          </a:p>
        </p:txBody>
      </p:sp>
      <p:sp>
        <p:nvSpPr>
          <p:cNvPr id="19" name="Text 16"/>
          <p:cNvSpPr/>
          <p:nvPr/>
        </p:nvSpPr>
        <p:spPr>
          <a:xfrm>
            <a:off x="2561034" y="1905707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64619" y="1995004"/>
            <a:ext cx="13411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51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3929081" y="2173598"/>
            <a:ext cx="5929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OFI CLOSED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403622" y="2491494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580791"/>
            <a:ext cx="10521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415095" y="2759385"/>
            <a:ext cx="9494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AFTER SFM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2561034" y="2491494"/>
            <a:ext cx="2064544" cy="492919"/>
          </a:xfrm>
          <a:prstGeom prst="roundRect">
            <a:avLst>
              <a:gd name="adj" fmla="val 11594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64619" y="2580791"/>
            <a:ext cx="10254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2475" dirty="0"/>
          </a:p>
        </p:txBody>
      </p:sp>
      <p:sp>
        <p:nvSpPr>
          <p:cNvPr id="27" name="Text 24"/>
          <p:cNvSpPr/>
          <p:nvPr/>
        </p:nvSpPr>
        <p:spPr>
          <a:xfrm>
            <a:off x="3539591" y="2759385"/>
            <a:ext cx="9824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04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CLOSED AFTER SFM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403622" y="3091569"/>
            <a:ext cx="4221956" cy="1289447"/>
          </a:xfrm>
          <a:prstGeom prst="roundRect">
            <a:avLst>
              <a:gd name="adj" fmla="val 5910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494" y="3195154"/>
            <a:ext cx="3986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ROLES &amp; FREQUENCY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494" y="3416610"/>
            <a:ext cx="35905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walk at respective lines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148188" y="3396893"/>
            <a:ext cx="373346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131255" y="3405894"/>
            <a:ext cx="407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1494" y="3645210"/>
            <a:ext cx="35905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Escalation of unsafe act/condition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48188" y="3625493"/>
            <a:ext cx="373346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131255" y="3634494"/>
            <a:ext cx="407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1494" y="3873810"/>
            <a:ext cx="35063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meeting with Line OEs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060659" y="3854093"/>
            <a:ext cx="464241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052008" y="3863094"/>
            <a:ext cx="48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21494" y="4102410"/>
            <a:ext cx="35063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audits with Safety Officer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060659" y="4082693"/>
            <a:ext cx="464241" cy="168021"/>
          </a:xfrm>
          <a:prstGeom prst="roundRect">
            <a:avLst>
              <a:gd name="adj" fmla="val 17007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052008" y="4091694"/>
            <a:ext cx="48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56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7213" y="4477457"/>
            <a:ext cx="2571348" cy="12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PUNE PLANT · SAFETY, HEALTH &amp; ENVIRONMENT SUMMARY</a:t>
            </a:r>
            <a:endParaRPr lang="en-US" sz="619" dirty="0"/>
          </a:p>
        </p:txBody>
      </p:sp>
      <p:sp>
        <p:nvSpPr>
          <p:cNvPr id="43" name="Text 40"/>
          <p:cNvSpPr/>
          <p:nvPr/>
        </p:nvSpPr>
        <p:spPr>
          <a:xfrm>
            <a:off x="400050" y="44792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984" dirty="0"/>
          </a:p>
        </p:txBody>
      </p:sp>
      <p:sp>
        <p:nvSpPr>
          <p:cNvPr id="44" name="Text 41"/>
          <p:cNvSpPr/>
          <p:nvPr/>
        </p:nvSpPr>
        <p:spPr>
          <a:xfrm>
            <a:off x="400050" y="4824571"/>
            <a:ext cx="69978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MONDAY · SAFETY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93211" y="4779169"/>
            <a:ext cx="1679339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STEWART TEAM · PUNE PLANT</a:t>
            </a:r>
            <a:endParaRPr lang="en-US" sz="8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031125E-6638-4525-B042-1D5C9F2F91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754"/>
          <a:stretch/>
        </p:blipFill>
        <p:spPr>
          <a:xfrm>
            <a:off x="5147072" y="198002"/>
            <a:ext cx="3888432" cy="243163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BD83046-96FC-44A8-AB75-B0E532D2E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933" y="2692994"/>
            <a:ext cx="3581340" cy="2413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197248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91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5" name="Image 0" descr="/tmp/h2p-fit-1785461419856-e0sk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8" y="0"/>
            <a:ext cx="4557713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274391"/>
            <a:ext cx="844860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219" y="328613"/>
            <a:ext cx="67341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TUESDAY · 5S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1316348" y="305395"/>
            <a:ext cx="2855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02 / 05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0050" y="575072"/>
            <a:ext cx="37719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5S zones, leaders, and a 12-question audit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0050" y="1307976"/>
            <a:ext cx="37719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Pune plant is divided into 19 numbered 5S zones, each with a named Zonal leader drawn from PM, SAP, IT, BE, Sales, Engineering, HR, Purchase, FICO, and Front Office — making 5S a plant-wide discipline, not just a shop-floor one.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03622" y="1891419"/>
            <a:ext cx="3764756" cy="910828"/>
          </a:xfrm>
          <a:prstGeom prst="roundRect">
            <a:avLst>
              <a:gd name="adj" fmla="val 836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0081" y="2002148"/>
            <a:ext cx="95522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CRITERIA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494" y="20110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521494" y="2184313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1494" y="218431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21519" y="2184313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Available and ready for assessment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2350294" y="2184313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4ADE80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50294" y="2184313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550319" y="2184313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Available but not accessible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521494" y="2370051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21494" y="2370051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21519" y="2370051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than three observations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2350294" y="2370051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350294" y="2370051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50319" y="2370051"/>
            <a:ext cx="15001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than five observations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521494" y="2555788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494" y="2555788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21519" y="2555788"/>
            <a:ext cx="1500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available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03622" y="2909404"/>
            <a:ext cx="3764756" cy="1025128"/>
          </a:xfrm>
          <a:prstGeom prst="roundRect">
            <a:avLst>
              <a:gd name="adj" fmla="val 7433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50081" y="3020132"/>
            <a:ext cx="130970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AUDIT QUESTIONS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1494" y="30290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410766" y="3188010"/>
            <a:ext cx="3764755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013"/>
              </a:lnSpc>
              <a:spcAft>
                <a:spcPts val="338"/>
              </a:spcAft>
              <a:buFont typeface="Wingdings" panose="05000000000000000000" pitchFamily="2" charset="2"/>
              <a:buChar char="v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 5S standard available at the line?</a:t>
            </a:r>
            <a:endParaRPr lang="en-US" sz="800" dirty="0"/>
          </a:p>
          <a:p>
            <a:pPr marL="171450" indent="-171450" algn="l">
              <a:lnSpc>
                <a:spcPts val="1013"/>
              </a:lnSpc>
              <a:spcAft>
                <a:spcPts val="338"/>
              </a:spcAft>
              <a:buFont typeface="Wingdings" panose="05000000000000000000" pitchFamily="2" charset="2"/>
              <a:buChar char="v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place for everything &amp; everything in place?</a:t>
            </a:r>
            <a:endParaRPr lang="en-US" sz="800" dirty="0"/>
          </a:p>
          <a:p>
            <a:pPr marL="171450" indent="-171450" algn="l">
              <a:lnSpc>
                <a:spcPts val="1013"/>
              </a:lnSpc>
              <a:spcAft>
                <a:spcPts val="338"/>
              </a:spcAft>
              <a:buFont typeface="Wingdings" panose="05000000000000000000" pitchFamily="2" charset="2"/>
              <a:buChar char="v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Raw material (blue), FG (green), empty bins (orange) floor markings?</a:t>
            </a:r>
            <a:endParaRPr lang="en-US" sz="800" dirty="0"/>
          </a:p>
          <a:p>
            <a:pPr marL="171450" indent="-171450" algn="l">
              <a:lnSpc>
                <a:spcPts val="1013"/>
              </a:lnSpc>
              <a:spcAft>
                <a:spcPts val="338"/>
              </a:spcAft>
              <a:buFont typeface="Wingdings" panose="05000000000000000000" pitchFamily="2" charset="2"/>
              <a:buChar char="v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&amp; dustbins in red marking or red bins?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7213" y="4045260"/>
            <a:ext cx="2712058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RECOGNITION — BEST 5S ZONE OF THE MONTH TROPHY.</a:t>
            </a:r>
            <a:endParaRPr lang="en-US" sz="619" dirty="0"/>
          </a:p>
        </p:txBody>
      </p:sp>
      <p:sp>
        <p:nvSpPr>
          <p:cNvPr id="36" name="Text 33"/>
          <p:cNvSpPr/>
          <p:nvPr/>
        </p:nvSpPr>
        <p:spPr>
          <a:xfrm>
            <a:off x="400050" y="40470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37" name="Text 34"/>
          <p:cNvSpPr/>
          <p:nvPr/>
        </p:nvSpPr>
        <p:spPr>
          <a:xfrm>
            <a:off x="400050" y="4691658"/>
            <a:ext cx="916298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TUESDAY · 5S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418450" y="4782741"/>
            <a:ext cx="1550529" cy="200025"/>
          </a:xfrm>
          <a:prstGeom prst="roundRect">
            <a:avLst>
              <a:gd name="adj" fmla="val 14286"/>
            </a:avLst>
          </a:prstGeom>
          <a:solidFill>
            <a:srgbClr val="0E1116">
              <a:alpha val="6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414878" y="4779169"/>
            <a:ext cx="1557672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 / EHS OBSERVATION TRACKING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0050" y="1197248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0050" y="1919994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8378" y="1916423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0050" y="2480779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0766" y="1916423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050" y="2559360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8378" y="2555788"/>
            <a:ext cx="0" cy="439341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050" y="2991557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0766" y="2555788"/>
            <a:ext cx="0" cy="439341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050" y="3070138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8378" y="3066566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050" y="3630923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0766" y="3066566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0" y="3709504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8378" y="3705932"/>
            <a:ext cx="0" cy="567928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" y="4270288"/>
            <a:ext cx="3771900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766" y="3705932"/>
            <a:ext cx="0" cy="56792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91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78" y="0"/>
            <a:ext cx="4572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00050" y="274391"/>
            <a:ext cx="1204503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7219" y="328613"/>
            <a:ext cx="103305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· QUALITY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1675991" y="305395"/>
            <a:ext cx="24959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DAY 03 / 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00050" y="575072"/>
            <a:ext cx="37719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Verification, detection, and documentation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16909" y="1192678"/>
            <a:ext cx="37719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shifts the focus to quality at the source — verifying NC (non-conforming) part handling, supermarket trolley discipline, part-mix-up detection methods, line documentation, and WIP control to keep flow clean and capacity honored.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0050" y="1916423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2919" y="199500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778669" y="1995004"/>
            <a:ext cx="330041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NC part handling on line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8669" y="2148594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of how non-conforming parts are segregated, labelled, and routed at each station.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00050" y="2555788"/>
            <a:ext cx="3771900" cy="439341"/>
          </a:xfrm>
          <a:prstGeom prst="roundRect">
            <a:avLst>
              <a:gd name="adj" fmla="val 13008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2919" y="26343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5" name="Text 32"/>
          <p:cNvSpPr/>
          <p:nvPr/>
        </p:nvSpPr>
        <p:spPr>
          <a:xfrm>
            <a:off x="778669" y="2634369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Supermarket trolley &amp; parts identification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8669" y="2787960"/>
            <a:ext cx="33004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trolley discipline, parts identification labels, and replenishment triggers.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00050" y="3066566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2919" y="31451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9" name="Text 36"/>
          <p:cNvSpPr/>
          <p:nvPr/>
        </p:nvSpPr>
        <p:spPr>
          <a:xfrm>
            <a:off x="778669" y="3145148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 mix-up detection method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78669" y="3298738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the poka-yoke or detection method that prevents wrong-part / wrong-operation mix-ups.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050" y="3705932"/>
            <a:ext cx="3771900" cy="567928"/>
          </a:xfrm>
          <a:prstGeom prst="roundRect">
            <a:avLst>
              <a:gd name="adj" fmla="val 10063"/>
            </a:avLst>
          </a:prstGeom>
          <a:solidFill>
            <a:srgbClr val="1428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92919" y="37845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778669" y="3784513"/>
            <a:ext cx="341014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documentation &amp; WIP control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78669" y="3938104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control plans, job element sheets, and that WIP does not exceed defined capacity.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60170" y="4431023"/>
            <a:ext cx="9407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KPIS TOUCHED: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23690" y="4391732"/>
            <a:ext cx="2482755" cy="196453"/>
          </a:xfrm>
          <a:prstGeom prst="roundRect">
            <a:avLst>
              <a:gd name="adj" fmla="val 1939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1255275" y="4404642"/>
            <a:ext cx="2837520" cy="139654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· DELIVERY · COST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205843" y="444709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844" dirty="0"/>
          </a:p>
        </p:txBody>
      </p:sp>
      <p:sp>
        <p:nvSpPr>
          <p:cNvPr id="49" name="Text 46"/>
          <p:cNvSpPr/>
          <p:nvPr/>
        </p:nvSpPr>
        <p:spPr>
          <a:xfrm>
            <a:off x="377628" y="4787066"/>
            <a:ext cx="1128213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WEDNESDAY · QUALITY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308391" y="4782741"/>
            <a:ext cx="1660587" cy="200025"/>
          </a:xfrm>
          <a:prstGeom prst="roundRect">
            <a:avLst>
              <a:gd name="adj" fmla="val 14286"/>
            </a:avLst>
          </a:prstGeom>
          <a:solidFill>
            <a:srgbClr val="0E1116">
              <a:alpha val="6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304819" y="4779169"/>
            <a:ext cx="1667731" cy="31821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VERIFICATION · SHOP FLOOR</a:t>
            </a:r>
            <a:endParaRPr lang="en-US" sz="8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5B75A2E-44B0-4D35-AF05-405F8A116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197" y="1153111"/>
            <a:ext cx="4620781" cy="160233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1ED72A1-1E57-4E46-B15B-8C604F0FA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65" y="2818430"/>
            <a:ext cx="4602585" cy="1950181"/>
          </a:xfrm>
          <a:prstGeom prst="rect">
            <a:avLst/>
          </a:prstGeom>
        </p:spPr>
      </p:pic>
      <p:sp>
        <p:nvSpPr>
          <p:cNvPr id="57" name="Text 24">
            <a:extLst>
              <a:ext uri="{FF2B5EF4-FFF2-40B4-BE49-F238E27FC236}">
                <a16:creationId xmlns:a16="http://schemas.microsoft.com/office/drawing/2014/main" id="{779B195B-13DD-4CD7-9671-7694DD2AD04C}"/>
              </a:ext>
            </a:extLst>
          </p:cNvPr>
          <p:cNvSpPr/>
          <p:nvPr/>
        </p:nvSpPr>
        <p:spPr>
          <a:xfrm>
            <a:off x="4313925" y="571187"/>
            <a:ext cx="377190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Layered Process Audit :  Spinning Wheel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-857250"/>
            <a:ext cx="3429000" cy="342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0" y="-857250"/>
            <a:ext cx="3429000" cy="3429000"/>
          </a:xfrm>
          <a:prstGeom prst="ellipse">
            <a:avLst/>
          </a:prstGeom>
          <a:solidFill>
            <a:srgbClr val="3B82F6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1500" y="3286125"/>
            <a:ext cx="3000375" cy="30003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-571500" y="3286125"/>
            <a:ext cx="3000375" cy="3000375"/>
          </a:xfrm>
          <a:prstGeom prst="ellipse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457200" y="426839"/>
            <a:ext cx="300038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857250" y="378619"/>
            <a:ext cx="27162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· SECTION DIVIDER</a:t>
            </a:r>
            <a:endParaRPr lang="en-US" sz="800" dirty="0"/>
          </a:p>
        </p:txBody>
      </p:sp>
      <p:sp>
        <p:nvSpPr>
          <p:cNvPr id="11" name="Text 4"/>
          <p:cNvSpPr/>
          <p:nvPr/>
        </p:nvSpPr>
        <p:spPr>
          <a:xfrm>
            <a:off x="7498259" y="331541"/>
            <a:ext cx="133352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760010" y="342900"/>
            <a:ext cx="92679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 OF 05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514350" y="204311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0" dirty="0"/>
          </a:p>
        </p:txBody>
      </p:sp>
      <p:sp>
        <p:nvSpPr>
          <p:cNvPr id="14" name="Text 7"/>
          <p:cNvSpPr/>
          <p:nvPr/>
        </p:nvSpPr>
        <p:spPr>
          <a:xfrm>
            <a:off x="457200" y="198596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9090" y="1714500"/>
            <a:ext cx="7144" cy="20002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069134" y="169106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7" name="Text 9"/>
          <p:cNvSpPr/>
          <p:nvPr/>
        </p:nvSpPr>
        <p:spPr>
          <a:xfrm>
            <a:off x="3354884" y="1721421"/>
            <a:ext cx="4143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1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VIA PROBLEM SOLVING</a:t>
            </a:r>
            <a:endParaRPr lang="en-US" sz="800" dirty="0"/>
          </a:p>
        </p:txBody>
      </p:sp>
      <p:sp>
        <p:nvSpPr>
          <p:cNvPr id="18" name="Text 10"/>
          <p:cNvSpPr/>
          <p:nvPr/>
        </p:nvSpPr>
        <p:spPr>
          <a:xfrm>
            <a:off x="3069134" y="2019672"/>
            <a:ext cx="566928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</a:t>
            </a:r>
            <a:endParaRPr lang="en-US" sz="3600" dirty="0"/>
          </a:p>
        </p:txBody>
      </p:sp>
      <p:sp>
        <p:nvSpPr>
          <p:cNvPr id="19" name="Shape 11"/>
          <p:cNvSpPr/>
          <p:nvPr/>
        </p:nvSpPr>
        <p:spPr>
          <a:xfrm>
            <a:off x="3069134" y="263894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069134" y="2778249"/>
            <a:ext cx="4143375" cy="103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via structured problem solving. Thursday and Friday turn analysis into permanent improvements — PPSR projects eliminate root causes, and Kaizen turns every operator into an improver.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7748089" y="4430611"/>
            <a:ext cx="961571" cy="297066"/>
          </a:xfrm>
          <a:prstGeom prst="roundRect">
            <a:avLst>
              <a:gd name="adj" fmla="val 320315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7899536" y="4514850"/>
            <a:ext cx="6586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81" dirty="0">
                <a:solidFill>
                  <a:srgbClr val="0A16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8429625" y="4514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16"/>
          <p:cNvSpPr/>
          <p:nvPr/>
        </p:nvSpPr>
        <p:spPr>
          <a:xfrm>
            <a:off x="457200" y="4607719"/>
            <a:ext cx="551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9184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11844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131846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151849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17185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1930671" y="4607719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05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— IMPROVE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190" y="274391"/>
            <a:ext cx="1055444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07219" y="328613"/>
            <a:ext cx="72397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 · PPSR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478631" y="3375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400050" y="603647"/>
            <a:ext cx="465201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— Practical Problem Solving Reports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00050" y="977243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0050" y="1116546"/>
            <a:ext cx="42291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Thursday, the SFM team reviews live PPSRs. Each PPSR leader presents their project, the coach walks through every stage of the problem-solving tool, and the best PPSRs are selected for external competition and monthly recognition.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00050" y="1724992"/>
            <a:ext cx="1894523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133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400050" y="2167905"/>
            <a:ext cx="1479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PPSRS CLOSED </a:t>
            </a:r>
          </a:p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 2024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698427" y="1810717"/>
            <a:ext cx="1948672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₹7.55 Cr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698427" y="2167905"/>
            <a:ext cx="164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SCRAP-COST AVOIDANCE (INR)</a:t>
            </a:r>
            <a:endParaRPr lang="en-US" sz="619" dirty="0"/>
          </a:p>
        </p:txBody>
      </p:sp>
      <p:sp>
        <p:nvSpPr>
          <p:cNvPr id="14" name="Text 10"/>
          <p:cNvSpPr/>
          <p:nvPr/>
        </p:nvSpPr>
        <p:spPr>
          <a:xfrm>
            <a:off x="3335127" y="1810717"/>
            <a:ext cx="1656350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-49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€8.21 L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3335127" y="2167905"/>
            <a:ext cx="1397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SCRAP-COST AVOIDANCE (EUR)</a:t>
            </a:r>
            <a:endParaRPr lang="en-US" sz="619" dirty="0"/>
          </a:p>
        </p:txBody>
      </p:sp>
      <p:sp>
        <p:nvSpPr>
          <p:cNvPr id="16" name="Text 12"/>
          <p:cNvSpPr/>
          <p:nvPr/>
        </p:nvSpPr>
        <p:spPr>
          <a:xfrm>
            <a:off x="403622" y="2417936"/>
            <a:ext cx="4221956" cy="610791"/>
          </a:xfrm>
          <a:prstGeom prst="roundRect">
            <a:avLst>
              <a:gd name="adj" fmla="val 18713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1494" y="2521521"/>
            <a:ext cx="32894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 LIFECYCLE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25255" y="2526878"/>
            <a:ext cx="6824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CADENCE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21494" y="2698028"/>
            <a:ext cx="554645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20879" y="2710830"/>
            <a:ext cx="5558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33289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1319026" y="2698028"/>
            <a:ext cx="458651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319026" y="2710830"/>
            <a:ext cx="4586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COACH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834828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2020565" y="2698028"/>
            <a:ext cx="621506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016216" y="2710830"/>
            <a:ext cx="6302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699221" y="27536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4"/>
          <p:cNvSpPr/>
          <p:nvPr/>
        </p:nvSpPr>
        <p:spPr>
          <a:xfrm>
            <a:off x="2884959" y="2698028"/>
            <a:ext cx="659011" cy="239916"/>
          </a:xfrm>
          <a:prstGeom prst="roundRect">
            <a:avLst>
              <a:gd name="adj" fmla="val 1588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2862197" y="2710830"/>
            <a:ext cx="7045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RECOGNIZE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00050" y="47416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571500" y="4739878"/>
            <a:ext cx="4057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PPSR of the Month — Appreciation Certificate &amp; Cash Prize.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33" name="Image 2" descr="/tmp/h2p-fit-1785461420382-ghzvd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76701" y="4799957"/>
            <a:ext cx="94728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8099561" y="4811316"/>
            <a:ext cx="9015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PPSR · 2024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THURSDAY · PPSR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943645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77219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 · KAIZEN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472282" y="264319"/>
            <a:ext cx="721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DAILY SFM CALENDAR · DAY 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89347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Tree — 441 ideas, ₹11.74 L saved in 2024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09365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Friday, the SFM team visits the Kaizen Tree, collects every suggestion, reviews each one, and assigns the implementable ideas to a designated owner. The Cross-Functional Team then evaluates effectiveness across PQCDSM.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208522"/>
            <a:ext cx="2626221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92931" y="1340681"/>
            <a:ext cx="2039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PROCESS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607462" y="1346039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STEPS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592931" y="1744303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592931" y="1572853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92956" y="1572853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up a blank form from the bin.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2931" y="1962187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592931" y="1790737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92956" y="1790737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Fill in the kaizen details, hang on tree.</a:t>
            </a:r>
            <a:endParaRPr lang="en-US" sz="675" dirty="0"/>
          </a:p>
        </p:txBody>
      </p:sp>
      <p:sp>
        <p:nvSpPr>
          <p:cNvPr id="19" name="Shape 15"/>
          <p:cNvSpPr/>
          <p:nvPr/>
        </p:nvSpPr>
        <p:spPr>
          <a:xfrm>
            <a:off x="592931" y="2180072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592931" y="2008622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92956" y="2008622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Reviewed weekly by SFM team — assigned.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92931" y="2397956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592931" y="2226506"/>
            <a:ext cx="205740" cy="125016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92956" y="2226506"/>
            <a:ext cx="216187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Placed in Rejected or Implemented box.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92931" y="244439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92956" y="2444390"/>
            <a:ext cx="21618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Implemented ideas awarded gift coupon at All-Hands.</a:t>
            </a:r>
            <a:endParaRPr lang="en-US" sz="675" dirty="0"/>
          </a:p>
        </p:txBody>
      </p:sp>
      <p:sp>
        <p:nvSpPr>
          <p:cNvPr id="27" name="Shape 23"/>
          <p:cNvSpPr/>
          <p:nvPr/>
        </p:nvSpPr>
        <p:spPr>
          <a:xfrm>
            <a:off x="592931" y="2987315"/>
            <a:ext cx="2361902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2931" y="3065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84" dirty="0"/>
          </a:p>
        </p:txBody>
      </p:sp>
      <p:sp>
        <p:nvSpPr>
          <p:cNvPr id="29" name="Text 25"/>
          <p:cNvSpPr/>
          <p:nvPr/>
        </p:nvSpPr>
        <p:spPr>
          <a:xfrm>
            <a:off x="735806" y="3062325"/>
            <a:ext cx="221902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CFT REVIEW · PQCDSM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08437" y="1208522"/>
            <a:ext cx="2955503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340596" y="1340681"/>
            <a:ext cx="26911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 — AIR FLOW NOISE REDUCTION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340596" y="1487128"/>
            <a:ext cx="2800913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MF2-EMEGR 2 · Station 20 · Team: Nilam Dhuri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321808" y="1665079"/>
            <a:ext cx="507278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334675" y="1676437"/>
            <a:ext cx="4815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pic>
        <p:nvPicPr>
          <p:cNvPr id="35" name="Image 2" descr="/tmp/h2p-fit-1785461426160-e4lqy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596" y="1908609"/>
            <a:ext cx="1309874" cy="1071563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05820" y="1665079"/>
            <a:ext cx="43434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719386" y="1676437"/>
            <a:ext cx="4072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pic>
        <p:nvPicPr>
          <p:cNvPr id="38" name="Image 3" descr="/tmp/h2p-fit-1785461426432-wa0n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907" y="1908609"/>
            <a:ext cx="1309874" cy="107156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340596" y="30605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84" dirty="0"/>
          </a:p>
        </p:txBody>
      </p:sp>
      <p:sp>
        <p:nvSpPr>
          <p:cNvPr id="40" name="Text 34"/>
          <p:cNvSpPr/>
          <p:nvPr/>
        </p:nvSpPr>
        <p:spPr>
          <a:xfrm>
            <a:off x="3483471" y="3051609"/>
            <a:ext cx="254831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 reduced 109 dB → 75 dB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285384" y="1208522"/>
            <a:ext cx="2397844" cy="2093119"/>
          </a:xfrm>
          <a:prstGeom prst="roundRect">
            <a:avLst>
              <a:gd name="adj" fmla="val 546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417543" y="1340681"/>
            <a:ext cx="14625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IMPACT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894402" y="1346039"/>
            <a:ext cx="656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VS AFTER</a:t>
            </a:r>
            <a:endParaRPr lang="en-US" sz="600" dirty="0"/>
          </a:p>
        </p:txBody>
      </p:sp>
      <p:sp>
        <p:nvSpPr>
          <p:cNvPr id="44" name="Text 38"/>
          <p:cNvSpPr/>
          <p:nvPr/>
        </p:nvSpPr>
        <p:spPr>
          <a:xfrm>
            <a:off x="6399894" y="1519275"/>
            <a:ext cx="476537" cy="200025"/>
          </a:xfrm>
          <a:prstGeom prst="roundRect">
            <a:avLst>
              <a:gd name="adj" fmla="val 19048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397391" y="1529990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417543" y="1765734"/>
            <a:ext cx="13777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417543" y="1880034"/>
            <a:ext cx="93287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Heavy noise — 109 dB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6417543" y="1989981"/>
            <a:ext cx="7561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ear-plug use</a:t>
            </a:r>
            <a:endParaRPr lang="en-US" sz="619" dirty="0"/>
          </a:p>
        </p:txBody>
      </p:sp>
      <p:sp>
        <p:nvSpPr>
          <p:cNvPr id="49" name="Text 43"/>
          <p:cNvSpPr/>
          <p:nvPr/>
        </p:nvSpPr>
        <p:spPr>
          <a:xfrm>
            <a:off x="6417543" y="2157078"/>
            <a:ext cx="13777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MORALE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6417543" y="2271378"/>
            <a:ext cx="91510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Excess noise each cycle</a:t>
            </a:r>
            <a:endParaRPr lang="en-US" sz="619" dirty="0"/>
          </a:p>
        </p:txBody>
      </p:sp>
      <p:sp>
        <p:nvSpPr>
          <p:cNvPr id="51" name="Text 45"/>
          <p:cNvSpPr/>
          <p:nvPr/>
        </p:nvSpPr>
        <p:spPr>
          <a:xfrm>
            <a:off x="7504826" y="1519275"/>
            <a:ext cx="410355" cy="200025"/>
          </a:xfrm>
          <a:prstGeom prst="roundRect">
            <a:avLst>
              <a:gd name="adj" fmla="val 19048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7506397" y="1529990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7520025" y="1765734"/>
            <a:ext cx="10310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7520025" y="1880034"/>
            <a:ext cx="9879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Reduced noise — 75 dB</a:t>
            </a:r>
            <a:endParaRPr lang="en-US" sz="619" dirty="0"/>
          </a:p>
        </p:txBody>
      </p:sp>
      <p:sp>
        <p:nvSpPr>
          <p:cNvPr id="55" name="Text 49"/>
          <p:cNvSpPr/>
          <p:nvPr/>
        </p:nvSpPr>
        <p:spPr>
          <a:xfrm>
            <a:off x="7520025" y="1989981"/>
            <a:ext cx="772492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Ear-plug eliminated</a:t>
            </a:r>
            <a:endParaRPr lang="en-US" sz="619" dirty="0"/>
          </a:p>
        </p:txBody>
      </p:sp>
      <p:sp>
        <p:nvSpPr>
          <p:cNvPr id="56" name="Text 50"/>
          <p:cNvSpPr/>
          <p:nvPr/>
        </p:nvSpPr>
        <p:spPr>
          <a:xfrm>
            <a:off x="7520025" y="2157078"/>
            <a:ext cx="10310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b="1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MORALE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520025" y="2271378"/>
            <a:ext cx="961573" cy="2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Improved operator working condition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6417543" y="2987315"/>
            <a:ext cx="2133526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17543" y="3065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0" name="Text 54"/>
          <p:cNvSpPr/>
          <p:nvPr/>
        </p:nvSpPr>
        <p:spPr>
          <a:xfrm>
            <a:off x="6560418" y="3062325"/>
            <a:ext cx="19906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IMPLEMENTED &amp; SUSTAINED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460772" y="3408797"/>
            <a:ext cx="8222456" cy="567928"/>
          </a:xfrm>
          <a:prstGeom prst="roundRect">
            <a:avLst>
              <a:gd name="adj" fmla="val 20126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1767743" y="3498093"/>
            <a:ext cx="47702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441</a:t>
            </a:r>
            <a:endParaRPr lang="en-US" sz="1350" dirty="0"/>
          </a:p>
        </p:txBody>
      </p:sp>
      <p:sp>
        <p:nvSpPr>
          <p:cNvPr id="63" name="Text 57"/>
          <p:cNvSpPr/>
          <p:nvPr/>
        </p:nvSpPr>
        <p:spPr>
          <a:xfrm>
            <a:off x="1240097" y="3769556"/>
            <a:ext cx="13535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KAIZENS IMPLEMENTED (2024)</a:t>
            </a:r>
            <a:endParaRPr lang="en-US" sz="619" dirty="0"/>
          </a:p>
        </p:txBody>
      </p:sp>
      <p:sp>
        <p:nvSpPr>
          <p:cNvPr id="64" name="Text 58"/>
          <p:cNvSpPr/>
          <p:nvPr/>
        </p:nvSpPr>
        <p:spPr>
          <a:xfrm>
            <a:off x="3240807" y="3498093"/>
            <a:ext cx="7144" cy="389334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4041519" y="3498093"/>
            <a:ext cx="1211157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₹11,74,000</a:t>
            </a:r>
            <a:endParaRPr lang="en-US" sz="1350" dirty="0"/>
          </a:p>
        </p:txBody>
      </p:sp>
      <p:sp>
        <p:nvSpPr>
          <p:cNvPr id="66" name="Text 60"/>
          <p:cNvSpPr/>
          <p:nvPr/>
        </p:nvSpPr>
        <p:spPr>
          <a:xfrm>
            <a:off x="4267651" y="3769556"/>
            <a:ext cx="60847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SAVED (INR)</a:t>
            </a:r>
            <a:endParaRPr lang="en-US" sz="619" dirty="0"/>
          </a:p>
        </p:txBody>
      </p:sp>
      <p:sp>
        <p:nvSpPr>
          <p:cNvPr id="67" name="Text 61"/>
          <p:cNvSpPr/>
          <p:nvPr/>
        </p:nvSpPr>
        <p:spPr>
          <a:xfrm>
            <a:off x="5895938" y="3498093"/>
            <a:ext cx="7144" cy="389334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7019739" y="3498093"/>
            <a:ext cx="663476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2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350" dirty="0"/>
          </a:p>
        </p:txBody>
      </p:sp>
      <p:sp>
        <p:nvSpPr>
          <p:cNvPr id="69" name="Text 63"/>
          <p:cNvSpPr/>
          <p:nvPr/>
        </p:nvSpPr>
        <p:spPr>
          <a:xfrm>
            <a:off x="6384968" y="3769556"/>
            <a:ext cx="168421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 ASSESSMENT SCORE 2023 &amp; 2024</a:t>
            </a:r>
            <a:endParaRPr lang="en-US" sz="619" dirty="0"/>
          </a:p>
        </p:txBody>
      </p:sp>
      <p:sp>
        <p:nvSpPr>
          <p:cNvPr id="70" name="Text 64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FRIDAY · KAIZEN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-857250"/>
            <a:ext cx="3429000" cy="342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0" y="-857250"/>
            <a:ext cx="3429000" cy="3429000"/>
          </a:xfrm>
          <a:prstGeom prst="ellipse">
            <a:avLst/>
          </a:prstGeom>
          <a:solidFill>
            <a:srgbClr val="3B82F6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1500" y="3286125"/>
            <a:ext cx="3000375" cy="30003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-571500" y="3286125"/>
            <a:ext cx="3000375" cy="3000375"/>
          </a:xfrm>
          <a:prstGeom prst="ellipse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457200" y="426839"/>
            <a:ext cx="300038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857250" y="378619"/>
            <a:ext cx="27162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· SECTION DIVIDER</a:t>
            </a:r>
            <a:endParaRPr lang="en-US" sz="800" dirty="0"/>
          </a:p>
        </p:txBody>
      </p:sp>
      <p:sp>
        <p:nvSpPr>
          <p:cNvPr id="11" name="Text 4"/>
          <p:cNvSpPr/>
          <p:nvPr/>
        </p:nvSpPr>
        <p:spPr>
          <a:xfrm>
            <a:off x="7737150" y="331541"/>
            <a:ext cx="972510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760010" y="342900"/>
            <a:ext cx="92679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OF 05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514350" y="204311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0" dirty="0"/>
          </a:p>
        </p:txBody>
      </p:sp>
      <p:sp>
        <p:nvSpPr>
          <p:cNvPr id="14" name="Text 7"/>
          <p:cNvSpPr/>
          <p:nvPr/>
        </p:nvSpPr>
        <p:spPr>
          <a:xfrm>
            <a:off x="457200" y="1985963"/>
            <a:ext cx="3070384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b="1" kern="0" spc="-540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9090" y="1714500"/>
            <a:ext cx="7144" cy="20002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069134" y="169106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7" name="Text 9"/>
          <p:cNvSpPr/>
          <p:nvPr/>
        </p:nvSpPr>
        <p:spPr>
          <a:xfrm>
            <a:off x="3354884" y="1721421"/>
            <a:ext cx="4143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17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&amp; SUSTAIN</a:t>
            </a:r>
            <a:endParaRPr lang="en-US" sz="800" dirty="0"/>
          </a:p>
        </p:txBody>
      </p:sp>
      <p:sp>
        <p:nvSpPr>
          <p:cNvPr id="18" name="Text 10"/>
          <p:cNvSpPr/>
          <p:nvPr/>
        </p:nvSpPr>
        <p:spPr>
          <a:xfrm>
            <a:off x="3069134" y="2019672"/>
            <a:ext cx="566928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</a:t>
            </a:r>
            <a:endParaRPr lang="en-US" sz="3600" dirty="0"/>
          </a:p>
        </p:txBody>
      </p:sp>
      <p:sp>
        <p:nvSpPr>
          <p:cNvPr id="19" name="Shape 11"/>
          <p:cNvSpPr/>
          <p:nvPr/>
        </p:nvSpPr>
        <p:spPr>
          <a:xfrm>
            <a:off x="3069134" y="2638946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069134" y="2778249"/>
            <a:ext cx="4143375" cy="103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and sustain the gains. A structured training pipeline builds problem-solvers, and the resulting culture shift shows up in the numbers — fewer breakdowns, better OEE, and ownership at every level.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7748089" y="4430611"/>
            <a:ext cx="961571" cy="297066"/>
          </a:xfrm>
          <a:prstGeom prst="roundRect">
            <a:avLst>
              <a:gd name="adj" fmla="val 320315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7899536" y="4514850"/>
            <a:ext cx="6586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81" dirty="0">
                <a:solidFill>
                  <a:srgbClr val="0A16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8429625" y="4514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16"/>
          <p:cNvSpPr/>
          <p:nvPr/>
        </p:nvSpPr>
        <p:spPr>
          <a:xfrm>
            <a:off x="457200" y="4607719"/>
            <a:ext cx="551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9184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11844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131846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1518493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64748B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1718518" y="4647009"/>
            <a:ext cx="157163" cy="28575"/>
          </a:xfrm>
          <a:prstGeom prst="roundRect">
            <a:avLst>
              <a:gd name="adj" fmla="val 6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1930671" y="4607719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05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05 — CONTROL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1207740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103629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736378" y="264319"/>
            <a:ext cx="69504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· PIPELINE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89347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diploma to O-Level — a structured skill pipeline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09365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Operating Engineers pass through a 5-stage selection and training flow, then progress through three skill modules (L, U, O) over several years — each gated by a qualification assessment and a skill-matrix update.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8650" y="1262100"/>
            <a:ext cx="1794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OPERATING ENGINEERS TRAINING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2361567" y="1262100"/>
            <a:ext cx="6325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STAGES · ENTRY PIPELINE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0772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50069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0069" y="1535348"/>
            <a:ext cx="9137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465031" y="1521632"/>
            <a:ext cx="352490" cy="156020"/>
          </a:xfrm>
          <a:prstGeom prst="roundRect">
            <a:avLst>
              <a:gd name="adj" fmla="val 18315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437670" y="1529990"/>
            <a:ext cx="4072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50069" y="1712156"/>
            <a:ext cx="1329662" cy="131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31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Diploma candidates selection</a:t>
            </a:r>
            <a:endParaRPr lang="en-US" sz="731" dirty="0"/>
          </a:p>
        </p:txBody>
      </p:sp>
      <p:sp>
        <p:nvSpPr>
          <p:cNvPr id="18" name="Text 14"/>
          <p:cNvSpPr/>
          <p:nvPr/>
        </p:nvSpPr>
        <p:spPr>
          <a:xfrm>
            <a:off x="550069" y="1871104"/>
            <a:ext cx="132966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Entry point — diploma engineers.</a:t>
            </a:r>
            <a:endParaRPr lang="en-US" sz="619" dirty="0"/>
          </a:p>
        </p:txBody>
      </p:sp>
      <p:sp>
        <p:nvSpPr>
          <p:cNvPr id="19" name="Text 15"/>
          <p:cNvSpPr/>
          <p:nvPr/>
        </p:nvSpPr>
        <p:spPr>
          <a:xfrm>
            <a:off x="1940198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20" name="Text 16"/>
          <p:cNvSpPr/>
          <p:nvPr/>
        </p:nvSpPr>
        <p:spPr>
          <a:xfrm>
            <a:off x="2158082" y="1440693"/>
            <a:ext cx="1433103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247379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247379" y="1535348"/>
            <a:ext cx="8341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079568" y="1521632"/>
            <a:ext cx="438564" cy="156020"/>
          </a:xfrm>
          <a:prstGeom prst="roundRect">
            <a:avLst>
              <a:gd name="adj" fmla="val 18315"/>
            </a:avLst>
          </a:prstGeom>
          <a:solidFill>
            <a:srgbClr val="142844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020913" y="1529990"/>
            <a:ext cx="55587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247379" y="1712156"/>
            <a:ext cx="1254509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check-up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247379" y="1871104"/>
            <a:ext cx="1329780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Medically fit candidates selected.</a:t>
            </a:r>
            <a:endParaRPr lang="en-US" sz="619" dirty="0"/>
          </a:p>
        </p:txBody>
      </p:sp>
      <p:sp>
        <p:nvSpPr>
          <p:cNvPr id="27" name="Text 23"/>
          <p:cNvSpPr/>
          <p:nvPr/>
        </p:nvSpPr>
        <p:spPr>
          <a:xfrm>
            <a:off x="3637620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28" name="Text 24"/>
          <p:cNvSpPr/>
          <p:nvPr/>
        </p:nvSpPr>
        <p:spPr>
          <a:xfrm>
            <a:off x="3855504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944801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944801" y="1535348"/>
            <a:ext cx="8829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827724" y="1521632"/>
            <a:ext cx="385763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800214" y="1529990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DAYS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944801" y="1712156"/>
            <a:ext cx="1254398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Dexterity training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944801" y="1871104"/>
            <a:ext cx="132966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senses, fitment, sorting, measurement, defect identification — min 90% to qualify.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334930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36" name="Text 32"/>
          <p:cNvSpPr/>
          <p:nvPr/>
        </p:nvSpPr>
        <p:spPr>
          <a:xfrm>
            <a:off x="5552815" y="1440693"/>
            <a:ext cx="1433103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642111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642111" y="1535348"/>
            <a:ext cx="8830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525146" y="1521632"/>
            <a:ext cx="385763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497636" y="1529990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642111" y="1712156"/>
            <a:ext cx="1254509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Classroom training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642111" y="1871104"/>
            <a:ext cx="132978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EHS induction, EFQM, calibration, ESD, processes, Poka-Yoke — min 60% to qualify.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032352" y="1851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44" name="Text 40"/>
          <p:cNvSpPr/>
          <p:nvPr/>
        </p:nvSpPr>
        <p:spPr>
          <a:xfrm>
            <a:off x="7250237" y="1440693"/>
            <a:ext cx="1432992" cy="992981"/>
          </a:xfrm>
          <a:prstGeom prst="roundRect">
            <a:avLst>
              <a:gd name="adj" fmla="val 9592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7339533" y="1535348"/>
            <a:ext cx="171450" cy="12858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7339533" y="1535348"/>
            <a:ext cx="8392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177067" y="1521632"/>
            <a:ext cx="432898" cy="156020"/>
          </a:xfrm>
          <a:prstGeom prst="roundRect">
            <a:avLst>
              <a:gd name="adj" fmla="val 1831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8135960" y="1529990"/>
            <a:ext cx="5151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 DAYS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339533" y="1712156"/>
            <a:ext cx="1254398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On-the-Job Training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339533" y="1871104"/>
            <a:ext cx="132966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OJT workbook, supervisor assessment — min 60% to qualify, then deployed to line &amp; skill matrix updated.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628650" y="2537259"/>
            <a:ext cx="1816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 UPGRADE — L / U / O MODULES</a:t>
            </a:r>
            <a:endParaRPr lang="en-US" sz="619" dirty="0"/>
          </a:p>
        </p:txBody>
      </p:sp>
      <p:sp>
        <p:nvSpPr>
          <p:cNvPr id="52" name="Text 48"/>
          <p:cNvSpPr/>
          <p:nvPr/>
        </p:nvSpPr>
        <p:spPr>
          <a:xfrm>
            <a:off x="2382329" y="2537259"/>
            <a:ext cx="63044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MODULES · MULTI-YEAR PROGRESSION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460772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67928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4356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935831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L-Module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939403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935831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564356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60" name="Text 56"/>
          <p:cNvSpPr/>
          <p:nvPr/>
        </p:nvSpPr>
        <p:spPr>
          <a:xfrm>
            <a:off x="700088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 YEAR ON FLOOR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564356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5S, Kaizen, Hydraulics &amp; Pneumatics, 8D, Fishbone, Why-Why, CNC, Tools &amp; Preset, TPM, PLC, Troubleshooting.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3071813" y="31623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63" name="Text 59"/>
          <p:cNvSpPr/>
          <p:nvPr/>
        </p:nvSpPr>
        <p:spPr>
          <a:xfrm>
            <a:off x="3289697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3396853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3393281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endParaRPr lang="en-US" sz="1800" dirty="0"/>
          </a:p>
        </p:txBody>
      </p:sp>
      <p:sp>
        <p:nvSpPr>
          <p:cNvPr id="66" name="Text 62"/>
          <p:cNvSpPr/>
          <p:nvPr/>
        </p:nvSpPr>
        <p:spPr>
          <a:xfrm>
            <a:off x="3764756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U-Module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3768328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3764756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69" name="Text 65"/>
          <p:cNvSpPr/>
          <p:nvPr/>
        </p:nvSpPr>
        <p:spPr>
          <a:xfrm>
            <a:off x="3393281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70" name="Text 66"/>
          <p:cNvSpPr/>
          <p:nvPr/>
        </p:nvSpPr>
        <p:spPr>
          <a:xfrm>
            <a:off x="3529013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 YEARS ON FLOOR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3393281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MSA, SPC, APQP, PPAP, PFMEA, IATF, SFM, SMED, Problem Solving, TPM, Process orientation, Customer orientation.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5900738" y="31623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73" name="Text 69"/>
          <p:cNvSpPr/>
          <p:nvPr/>
        </p:nvSpPr>
        <p:spPr>
          <a:xfrm>
            <a:off x="6118622" y="2715853"/>
            <a:ext cx="2564606" cy="1064419"/>
          </a:xfrm>
          <a:prstGeom prst="roundRect">
            <a:avLst>
              <a:gd name="adj" fmla="val 894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6225778" y="2823009"/>
            <a:ext cx="292894" cy="292894"/>
          </a:xfrm>
          <a:prstGeom prst="roundRect">
            <a:avLst>
              <a:gd name="adj" fmla="val 19512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6222206" y="2819437"/>
            <a:ext cx="3357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</a:t>
            </a:r>
            <a:endParaRPr lang="en-US" sz="1800" dirty="0"/>
          </a:p>
        </p:txBody>
      </p:sp>
      <p:sp>
        <p:nvSpPr>
          <p:cNvPr id="76" name="Text 72"/>
          <p:cNvSpPr/>
          <p:nvPr/>
        </p:nvSpPr>
        <p:spPr>
          <a:xfrm>
            <a:off x="6593681" y="2831046"/>
            <a:ext cx="16164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O-Module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6597253" y="2972135"/>
            <a:ext cx="1255737" cy="132159"/>
          </a:xfrm>
          <a:prstGeom prst="roundRect">
            <a:avLst>
              <a:gd name="adj" fmla="val 21622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6593681" y="2968563"/>
            <a:ext cx="1262881" cy="237744"/>
          </a:xfrm>
          <a:prstGeom prst="rect">
            <a:avLst/>
          </a:prstGeom>
          <a:noFill/>
          <a:ln/>
        </p:spPr>
        <p:txBody>
          <a:bodyPr wrap="none" lIns="50006" tIns="14288" rIns="50006" bIns="14288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b="1" kern="0" spc="4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 · CLASSROOM + ON-FLOOR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6222206" y="318376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80" name="Text 76"/>
          <p:cNvSpPr/>
          <p:nvPr/>
        </p:nvSpPr>
        <p:spPr>
          <a:xfrm>
            <a:off x="6357938" y="3176625"/>
            <a:ext cx="2221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 YEARS ON FLOOR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6222206" y="3326643"/>
            <a:ext cx="23574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 shadowing, supervisory development, analytical thinking, problem solving, establishing focus, result orientation.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&amp; SKILL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7241"/>
            <a:ext cx="1088306" cy="212027"/>
          </a:xfrm>
          <a:prstGeom prst="roundRect">
            <a:avLst>
              <a:gd name="adj" fmla="val 17969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64369" y="271463"/>
            <a:ext cx="91685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BENEFITS &amp; IMPACT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535781" y="28039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1616943" y="264319"/>
            <a:ext cx="70698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· KPI DASHBOARD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475059"/>
            <a:ext cx="8636000" cy="2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4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vs After SFM — the numbers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457200" y="800770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— fewer breakdowns, better OEE, higher productivity. Qualitative — ownership, culture shift, faster problem-solving. All four KPIs moved decisively after SFM was deployed.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%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150269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618523" y="1521396"/>
            <a:ext cx="1649029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21506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6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83.51%</a:t>
            </a:r>
            <a:r>
              <a:rPr lang="en-US" sz="67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6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87.2%</a:t>
            </a: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675" dirty="0"/>
          </a:p>
        </p:txBody>
      </p:sp>
      <p:sp>
        <p:nvSpPr>
          <p:cNvPr id="15" name="Shape 11"/>
          <p:cNvSpPr/>
          <p:nvPr/>
        </p:nvSpPr>
        <p:spPr>
          <a:xfrm>
            <a:off x="621506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506" y="2552216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1912025" y="2493152"/>
            <a:ext cx="380940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826205" y="2498638"/>
            <a:ext cx="538292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 85%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621506" y="2720094"/>
            <a:ext cx="294233" cy="164306"/>
          </a:xfrm>
          <a:prstGeom prst="roundRect">
            <a:avLst>
              <a:gd name="adj" fmla="val 1159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2372" y="2627226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58602" y="2577219"/>
            <a:ext cx="294345" cy="307181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949524" y="2484351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84.8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295809" y="2627226"/>
            <a:ext cx="294345" cy="257175"/>
          </a:xfrm>
          <a:prstGeom prst="roundRect">
            <a:avLst>
              <a:gd name="adj" fmla="val 740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286731" y="2534357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633017" y="2412913"/>
            <a:ext cx="294345" cy="471488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623938" y="2320044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86.2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970224" y="2298613"/>
            <a:ext cx="294345" cy="585788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961146" y="2205744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87.2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21506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70299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207506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1544713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793617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2150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08779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10482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1104826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21506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8646" y="3403131"/>
            <a:ext cx="801283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55905" y="3414489"/>
            <a:ext cx="8867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TARGET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907120" y="3460924"/>
            <a:ext cx="4115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+3.7 PTS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2546747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2707481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 COST %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236244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125" dirty="0"/>
          </a:p>
        </p:txBody>
      </p:sp>
      <p:sp>
        <p:nvSpPr>
          <p:cNvPr id="45" name="Text 41"/>
          <p:cNvSpPr/>
          <p:nvPr/>
        </p:nvSpPr>
        <p:spPr>
          <a:xfrm>
            <a:off x="2704498" y="1521396"/>
            <a:ext cx="1649029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0.22%</a:t>
            </a:r>
            <a:endParaRPr lang="en-US" sz="3600" dirty="0"/>
          </a:p>
        </p:txBody>
      </p:sp>
      <p:sp>
        <p:nvSpPr>
          <p:cNvPr id="46" name="Text 42"/>
          <p:cNvSpPr/>
          <p:nvPr/>
        </p:nvSpPr>
        <p:spPr>
          <a:xfrm>
            <a:off x="2707481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6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0.43%</a:t>
            </a:r>
            <a:r>
              <a:rPr lang="en-US" sz="67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6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0.22%</a:t>
            </a: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675" dirty="0"/>
          </a:p>
        </p:txBody>
      </p:sp>
      <p:sp>
        <p:nvSpPr>
          <p:cNvPr id="47" name="Shape 43"/>
          <p:cNvSpPr/>
          <p:nvPr/>
        </p:nvSpPr>
        <p:spPr>
          <a:xfrm>
            <a:off x="2707481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707481" y="2323616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49" name="Text 45"/>
          <p:cNvSpPr/>
          <p:nvPr/>
        </p:nvSpPr>
        <p:spPr>
          <a:xfrm>
            <a:off x="4044782" y="2264552"/>
            <a:ext cx="332359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3970189" y="2270038"/>
            <a:ext cx="467258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0.40%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2707481" y="2277182"/>
            <a:ext cx="294233" cy="607219"/>
          </a:xfrm>
          <a:prstGeom prst="roundRect">
            <a:avLst>
              <a:gd name="adj" fmla="val 647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698347" y="2184313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3044577" y="2370051"/>
            <a:ext cx="294345" cy="514350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3035499" y="2277182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0.36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3381784" y="2427201"/>
            <a:ext cx="294345" cy="457200"/>
          </a:xfrm>
          <a:prstGeom prst="roundRect">
            <a:avLst>
              <a:gd name="adj" fmla="val 64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3372706" y="2334332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3718992" y="2505782"/>
            <a:ext cx="294345" cy="378619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3709913" y="2412913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0.26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4056199" y="2555788"/>
            <a:ext cx="294345" cy="328613"/>
          </a:xfrm>
          <a:prstGeom prst="roundRect">
            <a:avLst>
              <a:gd name="adj" fmla="val 647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047121" y="2462919"/>
            <a:ext cx="312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707481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2956274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293481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3630688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3879592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270748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2694754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319080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3190801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70" name="Shape 66"/>
          <p:cNvSpPr/>
          <p:nvPr/>
        </p:nvSpPr>
        <p:spPr>
          <a:xfrm>
            <a:off x="2707481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2684621" y="3403131"/>
            <a:ext cx="86401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2646271" y="3414489"/>
            <a:ext cx="9407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49% REDUCTION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3994267" y="3460924"/>
            <a:ext cx="4115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−0.21 PT</a:t>
            </a:r>
            <a:endParaRPr lang="en-US" sz="600" dirty="0"/>
          </a:p>
        </p:txBody>
      </p:sp>
      <p:sp>
        <p:nvSpPr>
          <p:cNvPr id="74" name="Text 70"/>
          <p:cNvSpPr/>
          <p:nvPr/>
        </p:nvSpPr>
        <p:spPr>
          <a:xfrm>
            <a:off x="4632722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4793456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AID &amp; NEAR-MISS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6322219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125" dirty="0"/>
          </a:p>
        </p:txBody>
      </p:sp>
      <p:sp>
        <p:nvSpPr>
          <p:cNvPr id="77" name="Text 73"/>
          <p:cNvSpPr/>
          <p:nvPr/>
        </p:nvSpPr>
        <p:spPr>
          <a:xfrm>
            <a:off x="4793456" y="1521396"/>
            <a:ext cx="1643063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3600" dirty="0"/>
          </a:p>
        </p:txBody>
      </p:sp>
      <p:sp>
        <p:nvSpPr>
          <p:cNvPr id="78" name="Text 74"/>
          <p:cNvSpPr/>
          <p:nvPr/>
        </p:nvSpPr>
        <p:spPr>
          <a:xfrm>
            <a:off x="4793456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800" dirty="0"/>
          </a:p>
        </p:txBody>
      </p:sp>
      <p:sp>
        <p:nvSpPr>
          <p:cNvPr id="79" name="Shape 75"/>
          <p:cNvSpPr/>
          <p:nvPr/>
        </p:nvSpPr>
        <p:spPr>
          <a:xfrm>
            <a:off x="4793456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4793456" y="2277182"/>
            <a:ext cx="378619" cy="607219"/>
          </a:xfrm>
          <a:prstGeom prst="roundRect">
            <a:avLst>
              <a:gd name="adj" fmla="val 503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4793456" y="2184313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5214938" y="2362907"/>
            <a:ext cx="378619" cy="521494"/>
          </a:xfrm>
          <a:prstGeom prst="roundRect">
            <a:avLst>
              <a:gd name="adj" fmla="val 503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5214938" y="2270038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5636419" y="2741526"/>
            <a:ext cx="378619" cy="142875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5636419" y="2648657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86" name="Text 82"/>
          <p:cNvSpPr/>
          <p:nvPr/>
        </p:nvSpPr>
        <p:spPr>
          <a:xfrm>
            <a:off x="6057900" y="2762957"/>
            <a:ext cx="378619" cy="121444"/>
          </a:xfrm>
          <a:prstGeom prst="roundRect">
            <a:avLst>
              <a:gd name="adj" fmla="val 1568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6057900" y="2670088"/>
            <a:ext cx="378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4793456" y="2927263"/>
            <a:ext cx="4922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5101352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5522833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5830729" y="2927263"/>
            <a:ext cx="605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479345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9"/>
          <p:cNvSpPr/>
          <p:nvPr/>
        </p:nvSpPr>
        <p:spPr>
          <a:xfrm>
            <a:off x="4780729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94" name="Text 90"/>
          <p:cNvSpPr/>
          <p:nvPr/>
        </p:nvSpPr>
        <p:spPr>
          <a:xfrm>
            <a:off x="5276776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1"/>
          <p:cNvSpPr/>
          <p:nvPr/>
        </p:nvSpPr>
        <p:spPr>
          <a:xfrm>
            <a:off x="5276776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96" name="Shape 92"/>
          <p:cNvSpPr/>
          <p:nvPr/>
        </p:nvSpPr>
        <p:spPr>
          <a:xfrm>
            <a:off x="4793456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4770596" y="3403131"/>
            <a:ext cx="864014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4"/>
          <p:cNvSpPr/>
          <p:nvPr/>
        </p:nvSpPr>
        <p:spPr>
          <a:xfrm>
            <a:off x="4732246" y="3414489"/>
            <a:ext cx="9407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 REDUCTION</a:t>
            </a:r>
            <a:endParaRPr lang="en-US" sz="800" dirty="0"/>
          </a:p>
        </p:txBody>
      </p:sp>
      <p:sp>
        <p:nvSpPr>
          <p:cNvPr id="99" name="Text 95"/>
          <p:cNvSpPr/>
          <p:nvPr/>
        </p:nvSpPr>
        <p:spPr>
          <a:xfrm>
            <a:off x="5963553" y="3460924"/>
            <a:ext cx="5382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−50 EVENTS</a:t>
            </a:r>
            <a:endParaRPr lang="en-US" sz="600" dirty="0"/>
          </a:p>
        </p:txBody>
      </p:sp>
      <p:sp>
        <p:nvSpPr>
          <p:cNvPr id="100" name="Text 96"/>
          <p:cNvSpPr/>
          <p:nvPr/>
        </p:nvSpPr>
        <p:spPr>
          <a:xfrm>
            <a:off x="6718697" y="1199927"/>
            <a:ext cx="1964531" cy="2564606"/>
          </a:xfrm>
          <a:prstGeom prst="roundRect">
            <a:avLst>
              <a:gd name="adj" fmla="val 4848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7"/>
          <p:cNvSpPr/>
          <p:nvPr/>
        </p:nvSpPr>
        <p:spPr>
          <a:xfrm>
            <a:off x="6879431" y="1360661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INCIDENTS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8408194" y="13624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3" name="Text 99"/>
          <p:cNvSpPr/>
          <p:nvPr/>
        </p:nvSpPr>
        <p:spPr>
          <a:xfrm>
            <a:off x="6879431" y="1521396"/>
            <a:ext cx="1643063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108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3600" dirty="0"/>
          </a:p>
        </p:txBody>
      </p:sp>
      <p:sp>
        <p:nvSpPr>
          <p:cNvPr id="104" name="Text 100"/>
          <p:cNvSpPr/>
          <p:nvPr/>
        </p:nvSpPr>
        <p:spPr>
          <a:xfrm>
            <a:off x="6879431" y="2035746"/>
            <a:ext cx="174164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(2021) →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(post-SFM)</a:t>
            </a:r>
            <a:endParaRPr lang="en-US" sz="800" dirty="0"/>
          </a:p>
        </p:txBody>
      </p:sp>
      <p:sp>
        <p:nvSpPr>
          <p:cNvPr id="105" name="Shape 101"/>
          <p:cNvSpPr/>
          <p:nvPr/>
        </p:nvSpPr>
        <p:spPr>
          <a:xfrm>
            <a:off x="6879431" y="2895116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879431" y="2530785"/>
            <a:ext cx="1643063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</p:sp>
      <p:sp>
        <p:nvSpPr>
          <p:cNvPr id="107" name="Text 103"/>
          <p:cNvSpPr/>
          <p:nvPr/>
        </p:nvSpPr>
        <p:spPr>
          <a:xfrm>
            <a:off x="8306919" y="2471721"/>
            <a:ext cx="240835" cy="85982"/>
          </a:xfrm>
          <a:prstGeom prst="rect">
            <a:avLst/>
          </a:prstGeom>
          <a:solidFill>
            <a:srgbClr val="1B335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4"/>
          <p:cNvSpPr/>
          <p:nvPr/>
        </p:nvSpPr>
        <p:spPr>
          <a:xfrm>
            <a:off x="8254900" y="2477207"/>
            <a:ext cx="330586" cy="91440"/>
          </a:xfrm>
          <a:prstGeom prst="rect">
            <a:avLst/>
          </a:prstGeom>
          <a:noFill/>
          <a:ln/>
        </p:spPr>
        <p:txBody>
          <a:bodyPr wrap="square" lIns="21431" tIns="0" rIns="21431" bIns="0" rtlCol="0" anchor="t"/>
          <a:lstStyle/>
          <a:p>
            <a:pPr marL="0" indent="0" algn="l">
              <a:lnSpc>
                <a:spcPts val="591"/>
              </a:lnSpc>
              <a:buNone/>
            </a:pPr>
            <a:r>
              <a:rPr lang="en-US" sz="600" b="1" kern="0" spc="24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TGT 25</a:t>
            </a:r>
            <a:endParaRPr lang="en-US" sz="600" dirty="0"/>
          </a:p>
        </p:txBody>
      </p:sp>
      <p:sp>
        <p:nvSpPr>
          <p:cNvPr id="109" name="Text 105"/>
          <p:cNvSpPr/>
          <p:nvPr/>
        </p:nvSpPr>
        <p:spPr>
          <a:xfrm>
            <a:off x="6879431" y="2277182"/>
            <a:ext cx="294233" cy="607219"/>
          </a:xfrm>
          <a:prstGeom prst="roundRect">
            <a:avLst>
              <a:gd name="adj" fmla="val 647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6"/>
          <p:cNvSpPr/>
          <p:nvPr/>
        </p:nvSpPr>
        <p:spPr>
          <a:xfrm>
            <a:off x="6879431" y="2184313"/>
            <a:ext cx="294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endParaRPr lang="en-US" sz="800" dirty="0"/>
          </a:p>
        </p:txBody>
      </p:sp>
      <p:sp>
        <p:nvSpPr>
          <p:cNvPr id="111" name="Text 107"/>
          <p:cNvSpPr/>
          <p:nvPr/>
        </p:nvSpPr>
        <p:spPr>
          <a:xfrm>
            <a:off x="7216527" y="2741526"/>
            <a:ext cx="294345" cy="142875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8"/>
          <p:cNvSpPr/>
          <p:nvPr/>
        </p:nvSpPr>
        <p:spPr>
          <a:xfrm>
            <a:off x="7216527" y="2648657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113" name="Text 109"/>
          <p:cNvSpPr/>
          <p:nvPr/>
        </p:nvSpPr>
        <p:spPr>
          <a:xfrm>
            <a:off x="7553734" y="2755813"/>
            <a:ext cx="294345" cy="128588"/>
          </a:xfrm>
          <a:prstGeom prst="roundRect">
            <a:avLst>
              <a:gd name="adj" fmla="val 14815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0"/>
          <p:cNvSpPr/>
          <p:nvPr/>
        </p:nvSpPr>
        <p:spPr>
          <a:xfrm>
            <a:off x="7553734" y="2662944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15" name="Text 111"/>
          <p:cNvSpPr/>
          <p:nvPr/>
        </p:nvSpPr>
        <p:spPr>
          <a:xfrm>
            <a:off x="7890942" y="2812963"/>
            <a:ext cx="294345" cy="71438"/>
          </a:xfrm>
          <a:prstGeom prst="roundRect">
            <a:avLst>
              <a:gd name="adj" fmla="val 2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2"/>
          <p:cNvSpPr/>
          <p:nvPr/>
        </p:nvSpPr>
        <p:spPr>
          <a:xfrm>
            <a:off x="7890942" y="2720094"/>
            <a:ext cx="2943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7" name="Text 113"/>
          <p:cNvSpPr/>
          <p:nvPr/>
        </p:nvSpPr>
        <p:spPr>
          <a:xfrm>
            <a:off x="8228149" y="2670088"/>
            <a:ext cx="294345" cy="214313"/>
          </a:xfrm>
          <a:prstGeom prst="roundRect">
            <a:avLst>
              <a:gd name="adj" fmla="val 8889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4"/>
          <p:cNvSpPr/>
          <p:nvPr/>
        </p:nvSpPr>
        <p:spPr>
          <a:xfrm>
            <a:off x="8228149" y="2577219"/>
            <a:ext cx="294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119" name="Text 115"/>
          <p:cNvSpPr/>
          <p:nvPr/>
        </p:nvSpPr>
        <p:spPr>
          <a:xfrm>
            <a:off x="6879431" y="2927263"/>
            <a:ext cx="382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2021</a:t>
            </a:r>
            <a:endParaRPr lang="en-US" sz="800" dirty="0"/>
          </a:p>
        </p:txBody>
      </p:sp>
      <p:sp>
        <p:nvSpPr>
          <p:cNvPr id="120" name="Text 116"/>
          <p:cNvSpPr/>
          <p:nvPr/>
        </p:nvSpPr>
        <p:spPr>
          <a:xfrm>
            <a:off x="7128224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21" name="Text 117"/>
          <p:cNvSpPr/>
          <p:nvPr/>
        </p:nvSpPr>
        <p:spPr>
          <a:xfrm>
            <a:off x="7465431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7802638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D4</a:t>
            </a:r>
            <a:endParaRPr lang="en-US" sz="800" dirty="0"/>
          </a:p>
        </p:txBody>
      </p:sp>
      <p:sp>
        <p:nvSpPr>
          <p:cNvPr id="123" name="Text 119"/>
          <p:cNvSpPr/>
          <p:nvPr/>
        </p:nvSpPr>
        <p:spPr>
          <a:xfrm>
            <a:off x="8051542" y="2927263"/>
            <a:ext cx="470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kern="0" spc="1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D5</a:t>
            </a:r>
            <a:endParaRPr lang="en-US" sz="800" dirty="0"/>
          </a:p>
        </p:txBody>
      </p:sp>
      <p:sp>
        <p:nvSpPr>
          <p:cNvPr id="124" name="Text 120"/>
          <p:cNvSpPr/>
          <p:nvPr/>
        </p:nvSpPr>
        <p:spPr>
          <a:xfrm>
            <a:off x="687943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21"/>
          <p:cNvSpPr/>
          <p:nvPr/>
        </p:nvSpPr>
        <p:spPr>
          <a:xfrm>
            <a:off x="6866704" y="3055851"/>
            <a:ext cx="535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PRE-SFM</a:t>
            </a:r>
            <a:endParaRPr lang="en-US" sz="800" dirty="0"/>
          </a:p>
        </p:txBody>
      </p:sp>
      <p:sp>
        <p:nvSpPr>
          <p:cNvPr id="126" name="Text 122"/>
          <p:cNvSpPr/>
          <p:nvPr/>
        </p:nvSpPr>
        <p:spPr>
          <a:xfrm>
            <a:off x="7362751" y="3075161"/>
            <a:ext cx="57150" cy="5715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3"/>
          <p:cNvSpPr/>
          <p:nvPr/>
        </p:nvSpPr>
        <p:spPr>
          <a:xfrm>
            <a:off x="7362751" y="3055851"/>
            <a:ext cx="11597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POST-SFM</a:t>
            </a:r>
            <a:endParaRPr lang="en-US" sz="800" dirty="0"/>
          </a:p>
        </p:txBody>
      </p:sp>
      <p:sp>
        <p:nvSpPr>
          <p:cNvPr id="128" name="Shape 124"/>
          <p:cNvSpPr/>
          <p:nvPr/>
        </p:nvSpPr>
        <p:spPr>
          <a:xfrm>
            <a:off x="6879431" y="3353767"/>
            <a:ext cx="16430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29" name="Text 125"/>
          <p:cNvSpPr/>
          <p:nvPr/>
        </p:nvSpPr>
        <p:spPr>
          <a:xfrm>
            <a:off x="6856571" y="3403131"/>
            <a:ext cx="823273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26"/>
          <p:cNvSpPr/>
          <p:nvPr/>
        </p:nvSpPr>
        <p:spPr>
          <a:xfrm>
            <a:off x="6787660" y="3414489"/>
            <a:ext cx="96109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WITHIN TARGET</a:t>
            </a:r>
            <a:endParaRPr lang="en-US" sz="800" dirty="0"/>
          </a:p>
        </p:txBody>
      </p:sp>
      <p:sp>
        <p:nvSpPr>
          <p:cNvPr id="131" name="Text 127"/>
          <p:cNvSpPr/>
          <p:nvPr/>
        </p:nvSpPr>
        <p:spPr>
          <a:xfrm>
            <a:off x="8149589" y="3460924"/>
            <a:ext cx="4267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4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−30 EVTS</a:t>
            </a:r>
            <a:endParaRPr lang="en-US" sz="600" dirty="0"/>
          </a:p>
        </p:txBody>
      </p:sp>
      <p:sp>
        <p:nvSpPr>
          <p:cNvPr id="132" name="Text 128"/>
          <p:cNvSpPr/>
          <p:nvPr/>
        </p:nvSpPr>
        <p:spPr>
          <a:xfrm>
            <a:off x="460772" y="3871689"/>
            <a:ext cx="8222456" cy="517922"/>
          </a:xfrm>
          <a:prstGeom prst="roundRect">
            <a:avLst>
              <a:gd name="adj" fmla="val 18391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Text 129"/>
          <p:cNvSpPr/>
          <p:nvPr/>
        </p:nvSpPr>
        <p:spPr>
          <a:xfrm>
            <a:off x="625078" y="4005635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30"/>
          <p:cNvSpPr/>
          <p:nvPr/>
        </p:nvSpPr>
        <p:spPr>
          <a:xfrm>
            <a:off x="656868" y="40374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35" name="Text 131"/>
          <p:cNvSpPr/>
          <p:nvPr/>
        </p:nvSpPr>
        <p:spPr>
          <a:xfrm>
            <a:off x="978694" y="3975274"/>
            <a:ext cx="1906511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441 KAIZENS · ₹11.74 L SAVED</a:t>
            </a:r>
            <a:endParaRPr lang="en-US" sz="1013" dirty="0"/>
          </a:p>
        </p:txBody>
      </p:sp>
      <p:sp>
        <p:nvSpPr>
          <p:cNvPr id="136" name="Text 132"/>
          <p:cNvSpPr/>
          <p:nvPr/>
        </p:nvSpPr>
        <p:spPr>
          <a:xfrm>
            <a:off x="978694" y="4168155"/>
            <a:ext cx="20783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KAIZEN OUTCOMES (2024)</a:t>
            </a:r>
            <a:endParaRPr lang="en-US" sz="800" dirty="0"/>
          </a:p>
        </p:txBody>
      </p:sp>
      <p:sp>
        <p:nvSpPr>
          <p:cNvPr id="137" name="Text 133"/>
          <p:cNvSpPr/>
          <p:nvPr/>
        </p:nvSpPr>
        <p:spPr>
          <a:xfrm>
            <a:off x="3047479" y="4002063"/>
            <a:ext cx="7144" cy="257175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34"/>
          <p:cNvSpPr/>
          <p:nvPr/>
        </p:nvSpPr>
        <p:spPr>
          <a:xfrm>
            <a:off x="3361804" y="4005635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FD23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5"/>
          <p:cNvSpPr/>
          <p:nvPr/>
        </p:nvSpPr>
        <p:spPr>
          <a:xfrm>
            <a:off x="3393594" y="403742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40" name="Text 136"/>
          <p:cNvSpPr/>
          <p:nvPr/>
        </p:nvSpPr>
        <p:spPr>
          <a:xfrm>
            <a:off x="3715420" y="3975274"/>
            <a:ext cx="2421142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133 PPSRs CLOSED · ₹7.55 Cr AVOIDED</a:t>
            </a:r>
            <a:endParaRPr lang="en-US" sz="1013" dirty="0"/>
          </a:p>
        </p:txBody>
      </p:sp>
      <p:sp>
        <p:nvSpPr>
          <p:cNvPr id="141" name="Text 137"/>
          <p:cNvSpPr/>
          <p:nvPr/>
        </p:nvSpPr>
        <p:spPr>
          <a:xfrm>
            <a:off x="3715420" y="4168155"/>
            <a:ext cx="242114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PPSR SCRAP-COST AVOIDANCE (2024)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6260716" y="4002063"/>
            <a:ext cx="7144" cy="257175"/>
          </a:xfrm>
          <a:prstGeom prst="rect">
            <a:avLst/>
          </a:prstGeom>
          <a:solidFill>
            <a:srgbClr val="60A5FA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39"/>
          <p:cNvSpPr/>
          <p:nvPr/>
        </p:nvSpPr>
        <p:spPr>
          <a:xfrm>
            <a:off x="6571357" y="40663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44" name="Text 140"/>
          <p:cNvSpPr/>
          <p:nvPr/>
        </p:nvSpPr>
        <p:spPr>
          <a:xfrm>
            <a:off x="6771382" y="4071714"/>
            <a:ext cx="1856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4 KPIS MOVED DECISIVELY POST-SFM</a:t>
            </a:r>
            <a:endParaRPr lang="en-US" sz="619" dirty="0"/>
          </a:p>
        </p:txBody>
      </p:sp>
      <p:sp>
        <p:nvSpPr>
          <p:cNvPr id="145" name="Text 141"/>
          <p:cNvSpPr/>
          <p:nvPr/>
        </p:nvSpPr>
        <p:spPr>
          <a:xfrm>
            <a:off x="457200" y="4868466"/>
            <a:ext cx="78837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DASHBOARD</a:t>
            </a:r>
            <a:endParaRPr lang="en-US" sz="800" dirty="0"/>
          </a:p>
        </p:txBody>
      </p:sp>
      <p:sp>
        <p:nvSpPr>
          <p:cNvPr id="146" name="Text 142"/>
          <p:cNvSpPr/>
          <p:nvPr/>
        </p:nvSpPr>
        <p:spPr>
          <a:xfrm>
            <a:off x="8355285" y="4868466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42863" cy="8572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0772" y="853343"/>
            <a:ext cx="2587265" cy="182166"/>
          </a:xfrm>
          <a:prstGeom prst="roundRect">
            <a:avLst>
              <a:gd name="adj" fmla="val 20915"/>
            </a:avLst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64369" y="892634"/>
            <a:ext cx="2308659" cy="13965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TATA Motors Supplier Meet</a:t>
            </a:r>
            <a:endParaRPr lang="en-US" sz="619" dirty="0"/>
          </a:p>
        </p:txBody>
      </p:sp>
      <p:sp>
        <p:nvSpPr>
          <p:cNvPr id="7" name="Text 3"/>
          <p:cNvSpPr/>
          <p:nvPr/>
        </p:nvSpPr>
        <p:spPr>
          <a:xfrm>
            <a:off x="535781" y="9015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844" dirty="0"/>
          </a:p>
        </p:txBody>
      </p:sp>
      <p:sp>
        <p:nvSpPr>
          <p:cNvPr id="8" name="Text 4"/>
          <p:cNvSpPr/>
          <p:nvPr/>
        </p:nvSpPr>
        <p:spPr>
          <a:xfrm>
            <a:off x="457200" y="1296256"/>
            <a:ext cx="5266944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b="1" kern="0" spc="-8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4275" dirty="0"/>
          </a:p>
        </p:txBody>
      </p:sp>
      <p:sp>
        <p:nvSpPr>
          <p:cNvPr id="9" name="Shape 5"/>
          <p:cNvSpPr/>
          <p:nvPr/>
        </p:nvSpPr>
        <p:spPr>
          <a:xfrm>
            <a:off x="457200" y="2007059"/>
            <a:ext cx="457200" cy="0"/>
          </a:xfrm>
          <a:prstGeom prst="line">
            <a:avLst/>
          </a:prstGeom>
          <a:noFill/>
          <a:ln w="7144">
            <a:solidFill>
              <a:srgbClr val="F1F5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174937"/>
            <a:ext cx="3429000" cy="671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 Floor Management is not a programme — it is the daily cadence that turns strategy into execution at the point of value creation.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460772" y="2957178"/>
            <a:ext cx="3278981" cy="986507"/>
          </a:xfrm>
          <a:prstGeom prst="roundRect">
            <a:avLst>
              <a:gd name="adj" fmla="val 9655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92931" y="3089337"/>
            <a:ext cx="2886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62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493294" y="30911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592931" y="3264359"/>
            <a:ext cx="3124391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Santosh Wankhede · Ajay Alam · Ganesh Hole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2931" y="3461482"/>
            <a:ext cx="3014663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 Department · Rheinmetall India · Pune Plant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2931" y="3622216"/>
            <a:ext cx="3014663" cy="0"/>
          </a:xfrm>
          <a:prstGeom prst="line">
            <a:avLst/>
          </a:prstGeom>
          <a:noFill/>
          <a:ln w="7144">
            <a:solidFill>
              <a:srgbClr val="60A5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2931" y="370079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8" name="Text 14"/>
          <p:cNvSpPr/>
          <p:nvPr/>
        </p:nvSpPr>
        <p:spPr>
          <a:xfrm>
            <a:off x="728663" y="3682938"/>
            <a:ext cx="28789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August 2026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57200" y="4093061"/>
            <a:ext cx="441461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200" y="4104419"/>
            <a:ext cx="4414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GEMBA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41524" y="4093061"/>
            <a:ext cx="446150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923827" y="4104419"/>
            <a:ext cx="4815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KAIZEN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430536" y="4093061"/>
            <a:ext cx="367568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430536" y="4104419"/>
            <a:ext cx="36756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PPSR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840967" y="4093061"/>
            <a:ext cx="265547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840967" y="4104419"/>
            <a:ext cx="2655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149376" y="4093061"/>
            <a:ext cx="1079153" cy="212027"/>
          </a:xfrm>
          <a:prstGeom prst="roundRect">
            <a:avLst>
              <a:gd name="adj" fmla="val 17969"/>
            </a:avLst>
          </a:prstGeom>
          <a:solidFill>
            <a:srgbClr val="1B3358"/>
          </a:solidFill>
          <a:ln w="7144">
            <a:solidFill>
              <a:srgbClr val="60A5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149376" y="4104419"/>
            <a:ext cx="10791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DEVELOPMENT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036344" y="0"/>
            <a:ext cx="0" cy="514350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pic>
        <p:nvPicPr>
          <p:cNvPr id="30" name="Image 2" descr="/tmp/h2p-fit-1785461432585-ed84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8" y="0"/>
            <a:ext cx="4100513" cy="5143500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488" y="4286250"/>
            <a:ext cx="4100513" cy="8572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74928" y="188666"/>
            <a:ext cx="791907" cy="212027"/>
          </a:xfrm>
          <a:prstGeom prst="roundRect">
            <a:avLst>
              <a:gd name="adj" fmla="val 17969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8141286" y="200025"/>
            <a:ext cx="8591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50 · 2025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5243513" y="4633503"/>
            <a:ext cx="3900488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CELEBRATING THE PEOPLE BEHIND THE NUMBERS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243513" y="4779950"/>
            <a:ext cx="3700463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50 best performers — recognition for ownership, kaizens &amp; PPSR excellence.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2745</Words>
  <PresentationFormat>On-screen Show (16:9)</PresentationFormat>
  <Paragraphs>707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Carlito</vt:lpstr>
      <vt:lpstr>Courier New</vt:lpstr>
      <vt:lpstr>Liberation Sans Narrow</vt:lpstr>
      <vt:lpstr>Segoe UI 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2026-07-31T01:30:32Z</dcterms:created>
  <dcterms:modified xsi:type="dcterms:W3CDTF">2026-07-31T05:35:12Z</dcterms:modified>
</cp:coreProperties>
</file>