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ile" ContentType="image/file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99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Purpose: open with the four-pillar analytics framework — descriptive, diagnostic, predictive, prescriptive.
- Call out the four headline KPIs: 726 events, 450.4 h downtime, 6.50 h MTBF, 3.69 breakdowns/day.
- Frame this deck as decision-grade for plant leadership — anchored on numbers, not anecdotes.
- Set expectation: data window is 197 days (Jan–Jul 2026), Mechanical &amp; Pareto concentrations drive the story.
- Transition: "Let's anchor on the at-a-glance KPIs and the five headline findings."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Anchor on MTBF = 6.50 h — the single most important number; line is highly unstable.
- Mechanical faults are the #1 investment area: 69% of events, 59% of downtime.
- Pareto concentration: top 5 machines = 35.9% of all events — focus investment here.
- Planned Maintenance: a quick classification win — 161 min/event average signals mis-scoped work.
- Trend trajectory sets up slide 7 forecast: ~29 events / 20.3 h per week by week +4.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July is the spike month — 228 events and 155.5 h, ~3× the January baseline.
- Count-vs-downtime asymmetry: low-count months (Feb, May) carry longer events — instability signature.
- 7-day rolling average never dipped below 2 events/day across the entire window — chronic instability.
- Links to forecast slide 7: trajectory continues upward without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OP-40 is the single biggest offender — 67 events, 36.3 h, 9.2% of all breakdowns.
- Top 5 = 35.9%; Top 12 = &gt;70% — classic Pareto concentration.
- Pareto shifts when ranked by downtime — OP-90.1 and OP-105.1 climb above OP-40.
- Sets up Action 8 (RCM pilot on top 5 stations)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 bullets:
 • Headline: 7 in 10 breakdowns are mechanical — 501 events, 267.3 h downtime.
 • Electrical events are rarer but take longer — 42.6 vs 32 min average.
 • Planned Maintenance: 161 min/event average — hidden 15.5% downtime share, red flag for mis-classification.
 • Severity tail (Major + Critical ≈ 23%) drives most of the loss — 92 events over 60 min.
 • Sets up Action 5 on slide 9 — re-scope and re-classify planned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 bullets:
 • Driver 1 — PM discipline: highest-leverage opportunity; recurring action phrases prove PM is reactive.
 • Driver 2 — Component wear: easiest fix — add per-station cycle counters, replace at 80% wear life.
 • Driver 3 — Sensor/pneumatic drift: structural fix — torque verify, thread-lock, scheduled air-leak audit.
 • Driver 4 — Quality stops: production-eng problem, not maintenance — 47 Production-tagged events.
 • Driver 5 — Night shift: mysterious — recommend a 2-week focused Shift C study.
 • Transition: these five drivers translate directly into the 8-action plan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 bullets:
 • Week +4 projection: 29 events / 20.3 h downtime per week — the trajectory keeps climbing.
 • Annualised cost of inaction: ≈1,341 breakdowns / 835 h / 35 production days lost per year.
 • Acknowledge low R² (0.010) — forecast is directional, not precision; treat as a guidance lever.
 • Use this slide as the urgency lever to unblock investment approval for the slide 9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Recurrence rate is the leading indicator — more diagnostic than raw event count.
 - Red-zone machines (OP-160.2, OP-105.3, OP-90.2, OP-40, OP-105.1) become the RCFA targets — Action 3 on slide 9.
 - Scenario table quantifies the leverage of the action plan — targeted PM alone cuts 25–35% in 8 weeks.
 - Transition phrase: "Now let's translate this into the 8-Action Roadmap."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A1 + A2 are the highest-ROI Quick Wins — start in week 1.
 - A3 RCFA is cheap leverage on chronic repeat-failures (red-zone machines from slide 8).
 - A4 pneumatic audit is the structural backbone fix — only ~$2k capex.
 - A7 dashboard eliminates the manual-data-quality tax surfaced in slide 5.
 - A8 RCM pilot is the systemic play; success template rolls out line-wide.
 - Total capex ~$2k — most actions are labour-only. Transition: "Slide 10 is the decision ask."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4-cadence loop as the mechanism that turns the report into continuous improvement.
 - Name the 4 explicit decisions requested today: A1+A2, A4 capex, A6 owner, A7 sponsor.
 - Anchor the cost of inaction back to slide 7 — 35 production days lost per year.
 - Thank leadership for their time and invite Q&amp;A.
 - Close with: "Decisions on A1, A2, A4, A6 can start within 14 days — that's the unlock."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file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file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26587" y="2286000"/>
            <a:ext cx="5817413" cy="246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 kern="0" spc="-720" dirty="0">
                <a:solidFill>
                  <a:srgbClr val="3B82F6">
                    <a:alpha val="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103</a:t>
            </a:r>
            <a:endParaRPr lang="en-US" sz="18000" dirty="0"/>
          </a:p>
        </p:txBody>
      </p:sp>
      <p:sp>
        <p:nvSpPr>
          <p:cNvPr id="5" name="Text 1"/>
          <p:cNvSpPr/>
          <p:nvPr/>
        </p:nvSpPr>
        <p:spPr>
          <a:xfrm>
            <a:off x="428625" y="4868466"/>
            <a:ext cx="24108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MAINTENANCE ANALYTICS TEAM</a:t>
            </a:r>
            <a:endParaRPr lang="en-US" sz="619" dirty="0"/>
          </a:p>
        </p:txBody>
      </p:sp>
      <p:sp>
        <p:nvSpPr>
          <p:cNvPr id="6" name="Text 2"/>
          <p:cNvSpPr/>
          <p:nvPr/>
        </p:nvSpPr>
        <p:spPr>
          <a:xfrm>
            <a:off x="6112371" y="4868466"/>
            <a:ext cx="29454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PERIOD 2026-01-16 → 2026-07-31 · 197 DAYS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03622" y="346472"/>
            <a:ext cx="2163440" cy="167878"/>
          </a:xfrm>
          <a:prstGeom prst="roundRect">
            <a:avLst>
              <a:gd name="adj" fmla="val 5668089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385763"/>
            <a:ext cx="6047631" cy="119703"/>
          </a:xfrm>
          <a:prstGeom prst="rect">
            <a:avLst/>
          </a:prstGeom>
          <a:noFill/>
          <a:ln/>
        </p:spPr>
        <p:txBody>
          <a:bodyPr wrap="squar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LINE MAINTENANCE REPORT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78631" y="38040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10" name="Text 6"/>
          <p:cNvSpPr/>
          <p:nvPr/>
        </p:nvSpPr>
        <p:spPr>
          <a:xfrm>
            <a:off x="6686996" y="346472"/>
            <a:ext cx="2053382" cy="167878"/>
          </a:xfrm>
          <a:prstGeom prst="roundRect">
            <a:avLst>
              <a:gd name="adj" fmla="val 5668089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04881" y="385763"/>
            <a:ext cx="1839069" cy="119703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INTERNAL USE ONLY</a:t>
            </a:r>
            <a:endParaRPr lang="en-US" sz="619" dirty="0"/>
          </a:p>
        </p:txBody>
      </p:sp>
      <p:sp>
        <p:nvSpPr>
          <p:cNvPr id="12" name="Text 8"/>
          <p:cNvSpPr/>
          <p:nvPr/>
        </p:nvSpPr>
        <p:spPr>
          <a:xfrm>
            <a:off x="6762006" y="38040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984" dirty="0"/>
          </a:p>
        </p:txBody>
      </p:sp>
      <p:sp>
        <p:nvSpPr>
          <p:cNvPr id="13" name="Text 9"/>
          <p:cNvSpPr/>
          <p:nvPr/>
        </p:nvSpPr>
        <p:spPr>
          <a:xfrm>
            <a:off x="557213" y="1103709"/>
            <a:ext cx="205237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BREAKDOWN ANALYSIS · 2026-08-17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00050" y="109835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15" name="Text 11"/>
          <p:cNvSpPr/>
          <p:nvPr/>
        </p:nvSpPr>
        <p:spPr>
          <a:xfrm>
            <a:off x="400050" y="141870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13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813" dirty="0"/>
          </a:p>
        </p:txBody>
      </p:sp>
      <p:sp>
        <p:nvSpPr>
          <p:cNvPr id="16" name="Text 12"/>
          <p:cNvSpPr/>
          <p:nvPr/>
        </p:nvSpPr>
        <p:spPr>
          <a:xfrm>
            <a:off x="800100" y="1321594"/>
            <a:ext cx="794385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Line 103 Breakdown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00050" y="1915864"/>
            <a:ext cx="5857875" cy="49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1"/>
              </a:lnSpc>
              <a:buNone/>
            </a:pPr>
            <a:r>
              <a:rPr lang="en-US" sz="1575" kern="0" spc="-1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Analysis Report — Descriptive · Diagnostic · Predictive · Prescriptive</a:t>
            </a:r>
            <a:endParaRPr lang="en-US" sz="1575" dirty="0"/>
          </a:p>
        </p:txBody>
      </p:sp>
      <p:sp>
        <p:nvSpPr>
          <p:cNvPr id="18" name="Text 14"/>
          <p:cNvSpPr/>
          <p:nvPr/>
        </p:nvSpPr>
        <p:spPr>
          <a:xfrm>
            <a:off x="400050" y="2504331"/>
            <a:ext cx="428625" cy="14288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861518"/>
            <a:ext cx="1978819" cy="884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3622" y="2865090"/>
            <a:ext cx="1971675" cy="877230"/>
          </a:xfrm>
          <a:prstGeom prst="roundRect">
            <a:avLst>
              <a:gd name="adj" fmla="val 8686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64356" y="2997250"/>
            <a:ext cx="1650206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b="1" kern="0" spc="-4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726</a:t>
            </a:r>
            <a:endParaRPr lang="en-US" sz="2025" dirty="0"/>
          </a:p>
        </p:txBody>
      </p:sp>
      <p:sp>
        <p:nvSpPr>
          <p:cNvPr id="22" name="Text 17"/>
          <p:cNvSpPr/>
          <p:nvPr/>
        </p:nvSpPr>
        <p:spPr>
          <a:xfrm>
            <a:off x="564356" y="3324411"/>
            <a:ext cx="165020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BREAKDOWN EVENTS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64356" y="3470858"/>
            <a:ext cx="17492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Slip entries, Jan–Jul 2026</a:t>
            </a:r>
            <a:endParaRPr lang="en-US" sz="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744" y="2861518"/>
            <a:ext cx="1978819" cy="884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25316" y="2865090"/>
            <a:ext cx="1971675" cy="877230"/>
          </a:xfrm>
          <a:prstGeom prst="roundRect">
            <a:avLst>
              <a:gd name="adj" fmla="val 8686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686050" y="2997250"/>
            <a:ext cx="1650206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b="1" kern="0" spc="-4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450.4</a:t>
            </a:r>
            <a:r>
              <a:rPr lang="en-US" sz="1238" b="1" kern="0" spc="-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025" dirty="0"/>
          </a:p>
        </p:txBody>
      </p:sp>
      <p:sp>
        <p:nvSpPr>
          <p:cNvPr id="27" name="Text 21"/>
          <p:cNvSpPr/>
          <p:nvPr/>
        </p:nvSpPr>
        <p:spPr>
          <a:xfrm>
            <a:off x="2686050" y="3324411"/>
            <a:ext cx="165020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DOWNTIME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2686050" y="3470858"/>
            <a:ext cx="17492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18.8 production days lost</a:t>
            </a:r>
            <a:endParaRPr lang="en-US" sz="8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2861518"/>
            <a:ext cx="1978819" cy="88437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47009" y="2865090"/>
            <a:ext cx="1971675" cy="877230"/>
          </a:xfrm>
          <a:prstGeom prst="roundRect">
            <a:avLst>
              <a:gd name="adj" fmla="val 8686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807744" y="2997250"/>
            <a:ext cx="1650206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b="1" kern="0" spc="-4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6.50</a:t>
            </a:r>
            <a:r>
              <a:rPr lang="en-US" sz="1238" b="1" kern="0" spc="-4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025" dirty="0"/>
          </a:p>
        </p:txBody>
      </p:sp>
      <p:sp>
        <p:nvSpPr>
          <p:cNvPr id="32" name="Text 25"/>
          <p:cNvSpPr/>
          <p:nvPr/>
        </p:nvSpPr>
        <p:spPr>
          <a:xfrm>
            <a:off x="4807744" y="3324411"/>
            <a:ext cx="165020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MTBF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807744" y="3470858"/>
            <a:ext cx="17492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 breakdown every ~6.5 hours</a:t>
            </a:r>
            <a:endParaRPr lang="en-US" sz="8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131" y="2861518"/>
            <a:ext cx="1978819" cy="88437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8703" y="2865090"/>
            <a:ext cx="1971675" cy="877230"/>
          </a:xfrm>
          <a:prstGeom prst="roundRect">
            <a:avLst>
              <a:gd name="adj" fmla="val 8686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929438" y="2997250"/>
            <a:ext cx="1650206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2025" b="1" kern="0" spc="-4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3.69</a:t>
            </a:r>
            <a:r>
              <a:rPr lang="en-US" sz="1238" b="1" kern="0" spc="-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/day</a:t>
            </a:r>
            <a:endParaRPr lang="en-US" sz="2025" dirty="0"/>
          </a:p>
        </p:txBody>
      </p:sp>
      <p:sp>
        <p:nvSpPr>
          <p:cNvPr id="37" name="Text 29"/>
          <p:cNvSpPr/>
          <p:nvPr/>
        </p:nvSpPr>
        <p:spPr>
          <a:xfrm>
            <a:off x="6929438" y="3324411"/>
            <a:ext cx="1650206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BREAKDOWN FREQUENCY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6929438" y="3470858"/>
            <a:ext cx="1650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25.8 events per week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24612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EXECUTIVE SUMMARY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517922"/>
            <a:ext cx="690086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Line 103 — At a Glance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903684"/>
            <a:ext cx="657225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726 breakdown events across 197 days — mechanical faults dominate, a few machines drive most of the loss, and the trend is bending upward.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7650755" y="360974"/>
            <a:ext cx="1116055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895072" y="414338"/>
            <a:ext cx="84887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DECISION-GRADE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7752197" y="40898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475184"/>
            <a:ext cx="1625873" cy="817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3622" y="1478756"/>
            <a:ext cx="1618729" cy="810481"/>
          </a:xfrm>
          <a:prstGeom prst="roundRect">
            <a:avLst>
              <a:gd name="adj" fmla="val 9402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07206" y="1568053"/>
            <a:ext cx="1411560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726</a:t>
            </a:r>
            <a:endParaRPr lang="en-US" sz="1463" dirty="0"/>
          </a:p>
        </p:txBody>
      </p:sp>
      <p:sp>
        <p:nvSpPr>
          <p:cNvPr id="13" name="Text 8"/>
          <p:cNvSpPr/>
          <p:nvPr/>
        </p:nvSpPr>
        <p:spPr>
          <a:xfrm>
            <a:off x="507206" y="1791630"/>
            <a:ext cx="141156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BREAKDOWNS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07206" y="1913074"/>
            <a:ext cx="1411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slip entries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648" y="1475184"/>
            <a:ext cx="1625873" cy="8176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115220" y="1478756"/>
            <a:ext cx="1618729" cy="810481"/>
          </a:xfrm>
          <a:prstGeom prst="roundRect">
            <a:avLst>
              <a:gd name="adj" fmla="val 9402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2218804" y="1568053"/>
            <a:ext cx="1411560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450.4</a:t>
            </a:r>
            <a:r>
              <a:rPr lang="en-US" sz="900" b="1" kern="0" spc="-2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</a:t>
            </a:r>
            <a:endParaRPr lang="en-US" sz="1463" dirty="0"/>
          </a:p>
        </p:txBody>
      </p:sp>
      <p:sp>
        <p:nvSpPr>
          <p:cNvPr id="18" name="Text 12"/>
          <p:cNvSpPr/>
          <p:nvPr/>
        </p:nvSpPr>
        <p:spPr>
          <a:xfrm>
            <a:off x="2218804" y="1791630"/>
            <a:ext cx="141156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DOWNTIME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2218804" y="1913074"/>
            <a:ext cx="1411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18.8 prod days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378534"/>
            <a:ext cx="1625873" cy="8177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3622" y="2382106"/>
            <a:ext cx="1618729" cy="810592"/>
          </a:xfrm>
          <a:prstGeom prst="roundRect">
            <a:avLst>
              <a:gd name="adj" fmla="val 9401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07206" y="2471403"/>
            <a:ext cx="1411560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41.6</a:t>
            </a:r>
            <a:r>
              <a:rPr lang="en-US" sz="900" b="1" kern="0" spc="-2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endParaRPr lang="en-US" sz="1463" dirty="0"/>
          </a:p>
        </p:txBody>
      </p:sp>
      <p:sp>
        <p:nvSpPr>
          <p:cNvPr id="23" name="Text 16"/>
          <p:cNvSpPr/>
          <p:nvPr/>
        </p:nvSpPr>
        <p:spPr>
          <a:xfrm>
            <a:off x="507206" y="2694980"/>
            <a:ext cx="141156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MTTR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507206" y="2816423"/>
            <a:ext cx="1411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across non-zero</a:t>
            </a:r>
            <a:endParaRPr lang="en-US" sz="8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648" y="2378534"/>
            <a:ext cx="1625873" cy="8177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115220" y="2382106"/>
            <a:ext cx="1618729" cy="810592"/>
          </a:xfrm>
          <a:prstGeom prst="roundRect">
            <a:avLst>
              <a:gd name="adj" fmla="val 9401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2218804" y="2471403"/>
            <a:ext cx="1411560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r>
              <a:rPr lang="en-US" sz="900" b="1" kern="0" spc="-2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endParaRPr lang="en-US" sz="1463" dirty="0"/>
          </a:p>
        </p:txBody>
      </p:sp>
      <p:sp>
        <p:nvSpPr>
          <p:cNvPr id="28" name="Text 20"/>
          <p:cNvSpPr/>
          <p:nvPr/>
        </p:nvSpPr>
        <p:spPr>
          <a:xfrm>
            <a:off x="2218804" y="2694980"/>
            <a:ext cx="141156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MTTR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2218804" y="2816423"/>
            <a:ext cx="1411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half repaired faster</a:t>
            </a:r>
            <a:endParaRPr lang="en-US" sz="8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281995"/>
            <a:ext cx="1625873" cy="817736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00050" y="3285567"/>
            <a:ext cx="1625873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2022351" y="3281995"/>
            <a:ext cx="0" cy="817736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00050" y="4096159"/>
            <a:ext cx="1625873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10766" y="3281995"/>
            <a:ext cx="0" cy="817736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521494" y="3374864"/>
            <a:ext cx="1397273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6.50</a:t>
            </a:r>
            <a:r>
              <a:rPr lang="en-US" sz="900" b="1" kern="0" spc="-29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</a:t>
            </a:r>
            <a:endParaRPr lang="en-US" sz="1463" dirty="0"/>
          </a:p>
        </p:txBody>
      </p:sp>
      <p:sp>
        <p:nvSpPr>
          <p:cNvPr id="36" name="Text 27"/>
          <p:cNvSpPr/>
          <p:nvPr/>
        </p:nvSpPr>
        <p:spPr>
          <a:xfrm>
            <a:off x="521494" y="3598441"/>
            <a:ext cx="139727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MTBF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521494" y="3719885"/>
            <a:ext cx="13972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highly unstable</a:t>
            </a:r>
            <a:endParaRPr lang="en-US" sz="8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648" y="3281995"/>
            <a:ext cx="1625873" cy="81773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2115220" y="3285567"/>
            <a:ext cx="1618729" cy="810592"/>
          </a:xfrm>
          <a:prstGeom prst="roundRect">
            <a:avLst>
              <a:gd name="adj" fmla="val 9401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2218804" y="3374864"/>
            <a:ext cx="1411560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463" b="1" kern="0" spc="-2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75.6</a:t>
            </a:r>
            <a:r>
              <a:rPr lang="en-US" sz="900" b="1" kern="0" spc="-2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63" dirty="0"/>
          </a:p>
        </p:txBody>
      </p:sp>
      <p:sp>
        <p:nvSpPr>
          <p:cNvPr id="41" name="Text 31"/>
          <p:cNvSpPr/>
          <p:nvPr/>
        </p:nvSpPr>
        <p:spPr>
          <a:xfrm>
            <a:off x="2218804" y="3598441"/>
            <a:ext cx="141156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WITH BREAKDOWNS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2218804" y="3719885"/>
            <a:ext cx="1411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149 / 197 days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3908971" y="1475184"/>
            <a:ext cx="5006318" cy="2624547"/>
          </a:xfrm>
          <a:prstGeom prst="roundRect">
            <a:avLst>
              <a:gd name="adj" fmla="val 217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34"/>
          <p:cNvSpPr/>
          <p:nvPr/>
        </p:nvSpPr>
        <p:spPr>
          <a:xfrm>
            <a:off x="3908971" y="1478756"/>
            <a:ext cx="50063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911717" y="1475184"/>
            <a:ext cx="0" cy="262454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3908971" y="4096159"/>
            <a:ext cx="50063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3919686" y="1475184"/>
            <a:ext cx="0" cy="2624547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064704" y="1600414"/>
            <a:ext cx="1116055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4309021" y="1653778"/>
            <a:ext cx="338546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FINDINGS</a:t>
            </a:r>
            <a:endParaRPr lang="en-US" sz="800" dirty="0"/>
          </a:p>
        </p:txBody>
      </p:sp>
      <p:sp>
        <p:nvSpPr>
          <p:cNvPr id="50" name="Text 40"/>
          <p:cNvSpPr/>
          <p:nvPr/>
        </p:nvSpPr>
        <p:spPr>
          <a:xfrm>
            <a:off x="4166146" y="164842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51" name="Text 41"/>
          <p:cNvSpPr/>
          <p:nvPr/>
        </p:nvSpPr>
        <p:spPr>
          <a:xfrm>
            <a:off x="7708776" y="1639491"/>
            <a:ext cx="1042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 EVIDENCE</a:t>
            </a:r>
            <a:endParaRPr lang="en-US" sz="619" dirty="0"/>
          </a:p>
        </p:txBody>
      </p:sp>
      <p:sp>
        <p:nvSpPr>
          <p:cNvPr id="52" name="Shape 42"/>
          <p:cNvSpPr/>
          <p:nvPr/>
        </p:nvSpPr>
        <p:spPr>
          <a:xfrm>
            <a:off x="4087564" y="2265127"/>
            <a:ext cx="4663418" cy="0"/>
          </a:xfrm>
          <a:prstGeom prst="line">
            <a:avLst/>
          </a:prstGeom>
          <a:noFill/>
          <a:ln w="7144">
            <a:solidFill>
              <a:srgbClr val="1A2B45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4071000" y="1914525"/>
            <a:ext cx="23315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54" name="Text 44"/>
          <p:cNvSpPr/>
          <p:nvPr/>
        </p:nvSpPr>
        <p:spPr>
          <a:xfrm>
            <a:off x="4373314" y="1914525"/>
            <a:ext cx="437766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Severe line instability</a:t>
            </a:r>
            <a:endParaRPr lang="en-US" sz="800" dirty="0"/>
          </a:p>
        </p:txBody>
      </p:sp>
      <p:sp>
        <p:nvSpPr>
          <p:cNvPr id="55" name="Text 45"/>
          <p:cNvSpPr/>
          <p:nvPr/>
        </p:nvSpPr>
        <p:spPr>
          <a:xfrm>
            <a:off x="4373314" y="2065883"/>
            <a:ext cx="437766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3.69 breakdowns/day, MTBF only 6.50 h, 76% of days had events.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4087564" y="2690738"/>
            <a:ext cx="4663418" cy="0"/>
          </a:xfrm>
          <a:prstGeom prst="line">
            <a:avLst/>
          </a:prstGeom>
          <a:noFill/>
          <a:ln w="7144">
            <a:solidFill>
              <a:srgbClr val="1A2B45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4071000" y="2340136"/>
            <a:ext cx="23315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58" name="Text 48"/>
          <p:cNvSpPr/>
          <p:nvPr/>
        </p:nvSpPr>
        <p:spPr>
          <a:xfrm>
            <a:off x="4373314" y="2340136"/>
            <a:ext cx="4487396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Mechanical faults dominate</a:t>
            </a:r>
            <a:endParaRPr lang="en-US" sz="800" dirty="0"/>
          </a:p>
        </p:txBody>
      </p:sp>
      <p:sp>
        <p:nvSpPr>
          <p:cNvPr id="59" name="Text 49"/>
          <p:cNvSpPr/>
          <p:nvPr/>
        </p:nvSpPr>
        <p:spPr>
          <a:xfrm>
            <a:off x="4373314" y="2491494"/>
            <a:ext cx="437766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69.0% of events (501/726) and 59.3% of downtime (267.3 h).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4087564" y="3116349"/>
            <a:ext cx="4663418" cy="0"/>
          </a:xfrm>
          <a:prstGeom prst="line">
            <a:avLst/>
          </a:prstGeom>
          <a:noFill/>
          <a:ln w="7144">
            <a:solidFill>
              <a:srgbClr val="1A2B45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4071000" y="2765747"/>
            <a:ext cx="23315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62" name="Text 52"/>
          <p:cNvSpPr/>
          <p:nvPr/>
        </p:nvSpPr>
        <p:spPr>
          <a:xfrm>
            <a:off x="4373314" y="2765747"/>
            <a:ext cx="437766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Pareto concentration</a:t>
            </a:r>
            <a:endParaRPr lang="en-US" sz="800" dirty="0"/>
          </a:p>
        </p:txBody>
      </p:sp>
      <p:sp>
        <p:nvSpPr>
          <p:cNvPr id="63" name="Text 53"/>
          <p:cNvSpPr/>
          <p:nvPr/>
        </p:nvSpPr>
        <p:spPr>
          <a:xfrm>
            <a:off x="4373314" y="2917106"/>
            <a:ext cx="437766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5 machines = 35.9% of events; OP-40 alone = 67 events / 36.3 h.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4087564" y="3541961"/>
            <a:ext cx="4663418" cy="0"/>
          </a:xfrm>
          <a:prstGeom prst="line">
            <a:avLst/>
          </a:prstGeom>
          <a:noFill/>
          <a:ln w="7144">
            <a:solidFill>
              <a:srgbClr val="1A2B45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4071000" y="3191359"/>
            <a:ext cx="23315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66" name="Text 56"/>
          <p:cNvSpPr/>
          <p:nvPr/>
        </p:nvSpPr>
        <p:spPr>
          <a:xfrm>
            <a:off x="4373314" y="3191359"/>
            <a:ext cx="4487396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Maintenance oversized</a:t>
            </a:r>
            <a:endParaRPr lang="en-US" sz="800" dirty="0"/>
          </a:p>
        </p:txBody>
      </p:sp>
      <p:sp>
        <p:nvSpPr>
          <p:cNvPr id="67" name="Text 57"/>
          <p:cNvSpPr/>
          <p:nvPr/>
        </p:nvSpPr>
        <p:spPr>
          <a:xfrm>
            <a:off x="4373314" y="3342717"/>
            <a:ext cx="437766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3.6% of count but 15.5% of downtime (161 min/event avg).</a:t>
            </a:r>
            <a:endParaRPr lang="en-US" sz="800" dirty="0"/>
          </a:p>
        </p:txBody>
      </p:sp>
      <p:sp>
        <p:nvSpPr>
          <p:cNvPr id="68" name="Text 58"/>
          <p:cNvSpPr/>
          <p:nvPr/>
        </p:nvSpPr>
        <p:spPr>
          <a:xfrm>
            <a:off x="4071000" y="3616970"/>
            <a:ext cx="23315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13" dirty="0"/>
          </a:p>
        </p:txBody>
      </p:sp>
      <p:sp>
        <p:nvSpPr>
          <p:cNvPr id="69" name="Text 59"/>
          <p:cNvSpPr/>
          <p:nvPr/>
        </p:nvSpPr>
        <p:spPr>
          <a:xfrm>
            <a:off x="4373314" y="3616970"/>
            <a:ext cx="437766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Negative trend</a:t>
            </a:r>
            <a:endParaRPr lang="en-US" sz="800" dirty="0"/>
          </a:p>
        </p:txBody>
      </p:sp>
      <p:sp>
        <p:nvSpPr>
          <p:cNvPr id="70" name="Text 60"/>
          <p:cNvSpPr/>
          <p:nvPr/>
        </p:nvSpPr>
        <p:spPr>
          <a:xfrm>
            <a:off x="4373314" y="3768328"/>
            <a:ext cx="437766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+0.204 events/week, projected ~29 events / 20.3 h by week +4.</a:t>
            </a:r>
            <a:endParaRPr lang="en-US" sz="800" dirty="0"/>
          </a:p>
        </p:txBody>
      </p:sp>
      <p:sp>
        <p:nvSpPr>
          <p:cNvPr id="71" name="Text 61"/>
          <p:cNvSpPr/>
          <p:nvPr/>
        </p:nvSpPr>
        <p:spPr>
          <a:xfrm>
            <a:off x="428625" y="4868466"/>
            <a:ext cx="333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REPORT DATE 2026-08-17</a:t>
            </a:r>
            <a:endParaRPr lang="en-US" sz="619" dirty="0"/>
          </a:p>
        </p:txBody>
      </p:sp>
      <p:sp>
        <p:nvSpPr>
          <p:cNvPr id="72" name="Text 62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DESCRIPTIVE ANALYTICS · TEMPORAL PATTERNS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517922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Trends — Count vs Downtime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75109"/>
            <a:ext cx="83439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March and July were the worst months; lower-count months carried higher-severity events.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3622" y="1207294"/>
            <a:ext cx="5166047" cy="3589734"/>
          </a:xfrm>
          <a:prstGeom prst="roundRect">
            <a:avLst>
              <a:gd name="adj" fmla="val 1592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1494" y="1310878"/>
            <a:ext cx="23730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937421" y="1310878"/>
            <a:ext cx="25143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Breakdown Count vs Total Downtime — Line 103 (Jan–Jul 2026)</a:t>
            </a:r>
            <a:endParaRPr lang="en-US" sz="619" dirty="0"/>
          </a:p>
        </p:txBody>
      </p:sp>
      <p:pic>
        <p:nvPicPr>
          <p:cNvPr id="10" name="Image 2" descr="https://chat.z.ai/api/v1/sandbox/version/file?path=download%2Fslides%2Fchart_monthly.png&amp;chatId=def9e0ec-67f6-478d-b5a3-6ac9e1dddb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485900"/>
            <a:ext cx="4930304" cy="25637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6116" y="1203722"/>
            <a:ext cx="3170597" cy="775097"/>
          </a:xfrm>
          <a:prstGeom prst="roundRect">
            <a:avLst>
              <a:gd name="adj" fmla="val 737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716116" y="1207294"/>
            <a:ext cx="317059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883142" y="1203722"/>
            <a:ext cx="0" cy="77509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716116" y="1975247"/>
            <a:ext cx="317059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726832" y="1203722"/>
            <a:ext cx="0" cy="775097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28987" y="1286089"/>
            <a:ext cx="1028209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851847" y="1296591"/>
            <a:ext cx="9824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OBSERVATION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636682" y="13198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9" name="Text 14"/>
          <p:cNvSpPr/>
          <p:nvPr/>
        </p:nvSpPr>
        <p:spPr>
          <a:xfrm>
            <a:off x="5851847" y="1500188"/>
            <a:ext cx="29134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 2026 is the worst month by far: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228 events (3.1× the Jan baseline) and 155.5 h downtime. The line has been getting worse, not better, across the observation window.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716116" y="2064544"/>
            <a:ext cx="3170597" cy="775097"/>
          </a:xfrm>
          <a:prstGeom prst="roundRect">
            <a:avLst>
              <a:gd name="adj" fmla="val 737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5716116" y="2068116"/>
            <a:ext cx="317059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883142" y="2064544"/>
            <a:ext cx="0" cy="77509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16116" y="2836069"/>
            <a:ext cx="317059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26832" y="2064544"/>
            <a:ext cx="0" cy="775097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828987" y="2146911"/>
            <a:ext cx="1083126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851847" y="2157413"/>
            <a:ext cx="103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INVERSE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636682" y="21806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3"/>
          <p:cNvSpPr/>
          <p:nvPr/>
        </p:nvSpPr>
        <p:spPr>
          <a:xfrm>
            <a:off x="5851847" y="2361009"/>
            <a:ext cx="29134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low-count months (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Feb, May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avg duration per event climbs (</a:t>
            </a: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34.6 / 23.6 min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Fewer events but bigger — characteristic of an unstable line where the occasional major fault drives the production loss.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719688" y="2928938"/>
            <a:ext cx="3163453" cy="1868091"/>
          </a:xfrm>
          <a:prstGeom prst="roundRect">
            <a:avLst>
              <a:gd name="adj" fmla="val 3059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823272" y="3003947"/>
            <a:ext cx="23246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TABLE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145975" y="3009305"/>
            <a:ext cx="649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JAN–JUL 2026</a:t>
            </a:r>
            <a:endParaRPr lang="en-US" sz="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3272" y="3150394"/>
          <a:ext cx="2956284" cy="1832616"/>
        </p:xfrm>
        <a:graphic>
          <a:graphicData uri="http://schemas.openxmlformats.org/drawingml/2006/table">
            <a:tbl>
              <a:tblPr/>
              <a:tblGrid>
                <a:gridCol w="727546"/>
                <a:gridCol w="727546"/>
                <a:gridCol w="150119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Month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Downtime (hr)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Feb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70.8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39.8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Jun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49.4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Jul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155.5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35719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27"/>
          <p:cNvSpPr/>
          <p:nvPr/>
        </p:nvSpPr>
        <p:spPr>
          <a:xfrm>
            <a:off x="428625" y="4868466"/>
            <a:ext cx="327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DESCRIPTIVE ANALYTICS</a:t>
            </a:r>
            <a:endParaRPr lang="en-US" sz="619" dirty="0"/>
          </a:p>
        </p:txBody>
      </p:sp>
      <p:sp>
        <p:nvSpPr>
          <p:cNvPr id="34" name="Text 28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DESCRIPTIVE ANALYTICS · MACHINE CONCENTRATION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517922"/>
            <a:ext cx="8636000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Pareto — Top 12 Machines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75109"/>
            <a:ext cx="83439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machines = </a:t>
            </a:r>
            <a:r>
              <a:rPr lang="en-US" sz="112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35.9%</a:t>
            </a:r>
            <a:r>
              <a:rPr lang="en-US" sz="112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of all events · Top 12 = </a:t>
            </a:r>
            <a:r>
              <a:rPr lang="en-US" sz="112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&gt;70%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Concentrate reliability investment here.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3622" y="1207294"/>
            <a:ext cx="5332921" cy="3086323"/>
          </a:xfrm>
          <a:prstGeom prst="roundRect">
            <a:avLst>
              <a:gd name="adj" fmla="val 1852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1494" y="1310878"/>
            <a:ext cx="2938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502782" y="1310878"/>
            <a:ext cx="21158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Pareto Analysis — Top 12 Machines by Breakdown Frequency</a:t>
            </a:r>
            <a:endParaRPr lang="en-US" sz="619" dirty="0"/>
          </a:p>
        </p:txBody>
      </p:sp>
      <p:pic>
        <p:nvPicPr>
          <p:cNvPr id="10" name="Image 2" descr="https://chat.z.ai/api/v1/sandbox/version/file?path=download%2Fslides%2Fchart_pareto.png&amp;chatId=def9e0ec-67f6-478d-b5a3-6ac9e1dddb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485900"/>
            <a:ext cx="5097177" cy="27184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2990" y="1203722"/>
            <a:ext cx="3003724" cy="1718072"/>
          </a:xfrm>
          <a:prstGeom prst="roundRect">
            <a:avLst>
              <a:gd name="adj" fmla="val 332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882990" y="1207294"/>
            <a:ext cx="3003724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883142" y="1203722"/>
            <a:ext cx="0" cy="1718072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882990" y="2918222"/>
            <a:ext cx="3003724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893705" y="1203722"/>
            <a:ext cx="0" cy="1718072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81573" y="1286089"/>
            <a:ext cx="1171084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225890" y="1339453"/>
            <a:ext cx="181908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5 OFFENDERS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083015" y="133409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9" name="Text 14"/>
          <p:cNvSpPr/>
          <p:nvPr/>
        </p:nvSpPr>
        <p:spPr>
          <a:xfrm>
            <a:off x="8046413" y="1330523"/>
            <a:ext cx="7459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6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EVENT COUNT</a:t>
            </a:r>
            <a:endParaRPr lang="en-US" sz="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4433" y="1500188"/>
          <a:ext cx="2775124" cy="914400"/>
        </p:xfrm>
        <a:graphic>
          <a:graphicData uri="http://schemas.openxmlformats.org/drawingml/2006/table">
            <a:tbl>
              <a:tblPr/>
              <a:tblGrid>
                <a:gridCol w="675642"/>
                <a:gridCol w="603089"/>
                <a:gridCol w="820638"/>
                <a:gridCol w="67575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Machine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 (hr)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Total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OP-40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OP-90.1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16.7%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OP-20.1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26.4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23.8%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OP-105.1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OP-100.1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5882990" y="3007519"/>
            <a:ext cx="3003724" cy="402841"/>
          </a:xfrm>
          <a:prstGeom prst="roundRect">
            <a:avLst>
              <a:gd name="adj" fmla="val 9458"/>
            </a:avLst>
          </a:prstGeom>
          <a:solidFill>
            <a:srgbClr val="FBBF2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5893705" y="3007519"/>
            <a:ext cx="0" cy="402841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882990" y="3007519"/>
            <a:ext cx="3003724" cy="461134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OP-40 alone = 9.2%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all breakdowns. Fixing this single station would yield disproportionate gains.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886562" y="3499656"/>
            <a:ext cx="2996580" cy="757238"/>
          </a:xfrm>
          <a:prstGeom prst="roundRect">
            <a:avLst>
              <a:gd name="adj" fmla="val 7547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967286" y="3564164"/>
            <a:ext cx="808092" cy="196025"/>
          </a:xfrm>
          <a:prstGeom prst="roundRect">
            <a:avLst>
              <a:gd name="adj" fmla="val 4854215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965115" y="3574666"/>
            <a:ext cx="8124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DOWNTIME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665257" y="360502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5990146" y="3778262"/>
            <a:ext cx="2899139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OP-90.1 / OP-105.1 climb above OP-40.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990146" y="3924709"/>
            <a:ext cx="27894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Machines that fail often but are quick to fix are a different problem from machines that fail rarely but take long to fix.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28625" y="4868466"/>
            <a:ext cx="327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DESCRIPTIVE ANALYTICS</a:t>
            </a:r>
            <a:endParaRPr lang="en-US" sz="619" dirty="0"/>
          </a:p>
        </p:txBody>
      </p:sp>
      <p:sp>
        <p:nvSpPr>
          <p:cNvPr id="31" name="Text 25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DESCRIPTIVE ANALYTICS · FAULT TYPE &amp; SEVERITY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Mechanical Dominance — 7 in 10 Breakdowns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Electrical events are rarer but take longer; Planned Maintenance is a hidden 15.5% downtime share.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3622" y="1150144"/>
            <a:ext cx="4107656" cy="2246709"/>
          </a:xfrm>
          <a:prstGeom prst="roundRect">
            <a:avLst>
              <a:gd name="adj" fmla="val 2544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64356" y="1293019"/>
            <a:ext cx="2239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3 + FIG. 4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818544" y="1282303"/>
            <a:ext cx="1654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Fault Type Distribution &amp; Avg Duration</a:t>
            </a:r>
            <a:endParaRPr lang="en-US" sz="731" dirty="0"/>
          </a:p>
        </p:txBody>
      </p:sp>
      <p:pic>
        <p:nvPicPr>
          <p:cNvPr id="10" name="Image 2" descr="/tmp/h2p-fit-1786987665386-et412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" y="1478756"/>
            <a:ext cx="3786188" cy="17859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2722" y="1150144"/>
            <a:ext cx="4107656" cy="2246709"/>
          </a:xfrm>
          <a:prstGeom prst="roundRect">
            <a:avLst>
              <a:gd name="adj" fmla="val 2544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793456" y="1293019"/>
            <a:ext cx="2486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7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294438" y="1282303"/>
            <a:ext cx="13623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Breakdown Severity Distribution</a:t>
            </a:r>
            <a:endParaRPr lang="en-US" sz="731" dirty="0"/>
          </a:p>
        </p:txBody>
      </p:sp>
      <p:pic>
        <p:nvPicPr>
          <p:cNvPr id="14" name="Image 3" descr="/tmp/h2p-fit-1786987665359-6fuvs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1478756"/>
            <a:ext cx="3786188" cy="17859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0050" y="3486150"/>
            <a:ext cx="2705026" cy="1157288"/>
          </a:xfrm>
          <a:prstGeom prst="roundRect">
            <a:avLst>
              <a:gd name="adj" fmla="val 493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400050" y="3489722"/>
            <a:ext cx="2705026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101504" y="3486150"/>
            <a:ext cx="0" cy="1157288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00050" y="4639866"/>
            <a:ext cx="2705026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10766" y="3486150"/>
            <a:ext cx="0" cy="1157288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8644" y="3621881"/>
            <a:ext cx="23621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Mechanical — </a:t>
            </a:r>
            <a:r>
              <a:rPr lang="en-US" sz="1125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69%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578644" y="3836194"/>
            <a:ext cx="236212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501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events · 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267.3 h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downtime · 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min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avg · max 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1659 min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Primary failure surface — sensors, stoppers, cylinders, bits, knives, bowl feeders.</a:t>
            </a:r>
            <a:endParaRPr lang="en-US" sz="844" dirty="0"/>
          </a:p>
        </p:txBody>
      </p:sp>
      <p:sp>
        <p:nvSpPr>
          <p:cNvPr id="22" name="Text 16"/>
          <p:cNvSpPr/>
          <p:nvPr/>
        </p:nvSpPr>
        <p:spPr>
          <a:xfrm>
            <a:off x="3219376" y="3486150"/>
            <a:ext cx="2705137" cy="1157288"/>
          </a:xfrm>
          <a:prstGeom prst="roundRect">
            <a:avLst>
              <a:gd name="adj" fmla="val 493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3219376" y="3489722"/>
            <a:ext cx="270513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20941" y="3486150"/>
            <a:ext cx="0" cy="1157288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19376" y="4639866"/>
            <a:ext cx="270513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30091" y="3486150"/>
            <a:ext cx="0" cy="115728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397969" y="3621881"/>
            <a:ext cx="24719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Maint. —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161 min/event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3397969" y="3836194"/>
            <a:ext cx="2362237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events (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3.6%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but </a:t>
            </a: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69.8 h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lang="en-US" sz="844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15.5%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downtime. Suggests scope creep or mis-classification of corrective work as planned.</a:t>
            </a:r>
            <a:endParaRPr lang="en-US" sz="844" dirty="0"/>
          </a:p>
        </p:txBody>
      </p:sp>
      <p:sp>
        <p:nvSpPr>
          <p:cNvPr id="29" name="Text 23"/>
          <p:cNvSpPr/>
          <p:nvPr/>
        </p:nvSpPr>
        <p:spPr>
          <a:xfrm>
            <a:off x="6038813" y="3486150"/>
            <a:ext cx="2705026" cy="1157288"/>
          </a:xfrm>
          <a:prstGeom prst="roundRect">
            <a:avLst>
              <a:gd name="adj" fmla="val 493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6038813" y="3489722"/>
            <a:ext cx="2705026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740267" y="3486150"/>
            <a:ext cx="0" cy="1157288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038813" y="4639866"/>
            <a:ext cx="2705026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49528" y="3486150"/>
            <a:ext cx="0" cy="1157288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17407" y="3621881"/>
            <a:ext cx="2362126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Events — </a:t>
            </a:r>
            <a:r>
              <a:rPr lang="en-US" sz="1125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12.7%</a:t>
            </a:r>
            <a:endParaRPr lang="en-US" sz="1125" dirty="0"/>
          </a:p>
        </p:txBody>
      </p:sp>
      <p:sp>
        <p:nvSpPr>
          <p:cNvPr id="35" name="Text 29"/>
          <p:cNvSpPr/>
          <p:nvPr/>
        </p:nvSpPr>
        <p:spPr>
          <a:xfrm>
            <a:off x="6217407" y="3829050"/>
            <a:ext cx="2362126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 events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&gt;60 min. Priority target for RCFA — each one represents a significant production stop. Drive the bulk of production loss.</a:t>
            </a:r>
            <a:endParaRPr lang="en-US" sz="844" dirty="0"/>
          </a:p>
        </p:txBody>
      </p:sp>
      <p:sp>
        <p:nvSpPr>
          <p:cNvPr id="36" name="Text 30"/>
          <p:cNvSpPr/>
          <p:nvPr/>
        </p:nvSpPr>
        <p:spPr>
          <a:xfrm>
            <a:off x="428625" y="4868466"/>
            <a:ext cx="333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REPORT DATE 2026-08-17</a:t>
            </a:r>
            <a:endParaRPr lang="en-US" sz="619" dirty="0"/>
          </a:p>
        </p:txBody>
      </p:sp>
      <p:sp>
        <p:nvSpPr>
          <p:cNvPr id="37" name="Text 31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DIAGNOSTIC ANALYTICS · ROOT CAUSES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Why It Is Happening — 5 Drivers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Cleaning/adjustment recurrence + consumable wear + sensor/pneumatic drift + quality stops + shift risk.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3622" y="1150144"/>
            <a:ext cx="2495959" cy="2723555"/>
          </a:xfrm>
          <a:prstGeom prst="roundRect">
            <a:avLst>
              <a:gd name="adj" fmla="val 2290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64356" y="1293019"/>
            <a:ext cx="13846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9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963303" y="1282303"/>
            <a:ext cx="7755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Text-Mining Top 10</a:t>
            </a:r>
            <a:endParaRPr lang="en-US" sz="731" dirty="0"/>
          </a:p>
        </p:txBody>
      </p:sp>
      <p:pic>
        <p:nvPicPr>
          <p:cNvPr id="10" name="Image 2" descr="/tmp/h2p-fit-1786987665225-2ind3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" y="1478756"/>
            <a:ext cx="2174491" cy="22627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0050" y="3962995"/>
            <a:ext cx="2503103" cy="727770"/>
          </a:xfrm>
          <a:prstGeom prst="roundRect">
            <a:avLst>
              <a:gd name="adj" fmla="val 785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00050" y="3966567"/>
            <a:ext cx="2503103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899581" y="3962995"/>
            <a:ext cx="0" cy="72777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00050" y="4687193"/>
            <a:ext cx="2503103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10766" y="3962995"/>
            <a:ext cx="0" cy="72777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78644" y="4098727"/>
            <a:ext cx="2160203" cy="45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4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WELDING NOK</a:t>
            </a: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cluster on OP-90.x dominates the free-text mining — a process-welding reliability gap.</a:t>
            </a:r>
            <a:endParaRPr lang="en-US" sz="844" dirty="0"/>
          </a:p>
        </p:txBody>
      </p:sp>
      <p:sp>
        <p:nvSpPr>
          <p:cNvPr id="17" name="Text 12"/>
          <p:cNvSpPr/>
          <p:nvPr/>
        </p:nvSpPr>
        <p:spPr>
          <a:xfrm>
            <a:off x="3017453" y="1146572"/>
            <a:ext cx="1851682" cy="1606451"/>
          </a:xfrm>
          <a:prstGeom prst="roundRect">
            <a:avLst>
              <a:gd name="adj" fmla="val 355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3017453" y="1150144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5563" y="1146572"/>
            <a:ext cx="0" cy="1606451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017453" y="2749451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028169" y="1146572"/>
            <a:ext cx="0" cy="1606451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142469" y="1257300"/>
            <a:ext cx="1580443" cy="167878"/>
          </a:xfrm>
          <a:prstGeom prst="roundRect">
            <a:avLst>
              <a:gd name="adj" fmla="val 5668089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138897" y="1253728"/>
            <a:ext cx="1587587" cy="190452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LACK OF PM DISCIPLINE</a:t>
            </a:r>
            <a:endParaRPr lang="en-US" sz="619" dirty="0"/>
          </a:p>
        </p:txBody>
      </p:sp>
      <p:sp>
        <p:nvSpPr>
          <p:cNvPr id="24" name="Text 19"/>
          <p:cNvSpPr/>
          <p:nvPr/>
        </p:nvSpPr>
        <p:spPr>
          <a:xfrm>
            <a:off x="3138897" y="1471613"/>
            <a:ext cx="162308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Reactive cleaning instead of preventive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3138897" y="1843088"/>
            <a:ext cx="1623082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 field shows recurring phrases — clean mouth piece, set sensor, adjust stopper, reset MCB. Same machines, same actions, days apart. PM schedule is too infrequent or not executed as specified.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954860" y="1146572"/>
            <a:ext cx="1851682" cy="1606451"/>
          </a:xfrm>
          <a:prstGeom prst="roundRect">
            <a:avLst>
              <a:gd name="adj" fmla="val 355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4954860" y="1150144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02971" y="1146572"/>
            <a:ext cx="0" cy="1606451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54860" y="2749451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65576" y="1146572"/>
            <a:ext cx="0" cy="1606451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53444" y="1243227"/>
            <a:ext cx="1248214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076304" y="1253728"/>
            <a:ext cx="1202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COMPONENT WEAR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076304" y="1471613"/>
            <a:ext cx="1623082" cy="50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Knives, bits, screw sleeves wearing untracked</a:t>
            </a:r>
            <a:endParaRPr lang="en-US" sz="1125" dirty="0"/>
          </a:p>
        </p:txBody>
      </p:sp>
      <p:sp>
        <p:nvSpPr>
          <p:cNvPr id="34" name="Text 29"/>
          <p:cNvSpPr/>
          <p:nvPr/>
        </p:nvSpPr>
        <p:spPr>
          <a:xfrm>
            <a:off x="5076304" y="2007394"/>
            <a:ext cx="1623082" cy="63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Screwdriver bits, knives, screw-holding sleeves repeatedly cleaned/replaced. 20–40 min diagnosis before replacement. No per-station cycle counter, no predictive replacement.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892268" y="1146572"/>
            <a:ext cx="1851682" cy="1606451"/>
          </a:xfrm>
          <a:prstGeom prst="roundRect">
            <a:avLst>
              <a:gd name="adj" fmla="val 355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6892268" y="1150144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740378" y="1146572"/>
            <a:ext cx="0" cy="1606451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892268" y="2749451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902983" y="1146572"/>
            <a:ext cx="0" cy="1606451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017283" y="1257300"/>
            <a:ext cx="1615939" cy="285750"/>
          </a:xfrm>
          <a:prstGeom prst="roundRect">
            <a:avLst>
              <a:gd name="adj" fmla="val 3330000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7013711" y="1253728"/>
            <a:ext cx="1623082" cy="30832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SENSOR &amp; PNEUMATIC DRIFT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7013711" y="1589484"/>
            <a:ext cx="162308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Brackets loosen, air leaks creep in</a:t>
            </a:r>
            <a:endParaRPr lang="en-US" sz="1125" dirty="0"/>
          </a:p>
        </p:txBody>
      </p:sp>
      <p:sp>
        <p:nvSpPr>
          <p:cNvPr id="43" name="Text 38"/>
          <p:cNvSpPr/>
          <p:nvPr/>
        </p:nvSpPr>
        <p:spPr>
          <a:xfrm>
            <a:off x="7013711" y="1960959"/>
            <a:ext cx="1623082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position disturb, cylinder not in home position, pallet cylinder air leakage. Recurrence within 1–2 weeks. No thread-lock / torque verification / air-leak audit routine.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3017453" y="2838748"/>
            <a:ext cx="1851682" cy="1852017"/>
          </a:xfrm>
          <a:prstGeom prst="roundRect">
            <a:avLst>
              <a:gd name="adj" fmla="val 308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0"/>
          <p:cNvSpPr/>
          <p:nvPr/>
        </p:nvSpPr>
        <p:spPr>
          <a:xfrm>
            <a:off x="3017453" y="2842320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865563" y="2838748"/>
            <a:ext cx="0" cy="185201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017453" y="4687193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028169" y="2838748"/>
            <a:ext cx="0" cy="1852017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142469" y="2949476"/>
            <a:ext cx="1615939" cy="285750"/>
          </a:xfrm>
          <a:prstGeom prst="roundRect">
            <a:avLst>
              <a:gd name="adj" fmla="val 3330000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3138897" y="2945904"/>
            <a:ext cx="1623082" cy="30832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PROCESS / QUALITY STOPS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3138897" y="3281660"/>
            <a:ext cx="1623082" cy="50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Bowl-feeder / component-quality issues upstream</a:t>
            </a:r>
            <a:endParaRPr lang="en-US" sz="1125" dirty="0"/>
          </a:p>
        </p:txBody>
      </p:sp>
      <p:sp>
        <p:nvSpPr>
          <p:cNvPr id="52" name="Text 47"/>
          <p:cNvSpPr/>
          <p:nvPr/>
        </p:nvSpPr>
        <p:spPr>
          <a:xfrm>
            <a:off x="3138897" y="3817441"/>
            <a:ext cx="1623082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47 Production-tagged events. NOK / continue NOK / inserting problem. Root cause is upstream — component quality, feeder setting, operator handling. Production-eng intervention, not maintenance.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4954860" y="2838748"/>
            <a:ext cx="1851682" cy="1852017"/>
          </a:xfrm>
          <a:prstGeom prst="roundRect">
            <a:avLst>
              <a:gd name="adj" fmla="val 308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49"/>
          <p:cNvSpPr/>
          <p:nvPr/>
        </p:nvSpPr>
        <p:spPr>
          <a:xfrm>
            <a:off x="4954860" y="2842320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802971" y="2838748"/>
            <a:ext cx="0" cy="185201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954860" y="4687193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965576" y="2838748"/>
            <a:ext cx="0" cy="1852017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053444" y="2935403"/>
            <a:ext cx="1523248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5076304" y="2945904"/>
            <a:ext cx="1477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SHIFT-SPECIFIC RISK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5076304" y="3163788"/>
            <a:ext cx="162308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 C (night) carries highest load</a:t>
            </a:r>
            <a:endParaRPr lang="en-US" sz="1125" dirty="0"/>
          </a:p>
        </p:txBody>
      </p:sp>
      <p:sp>
        <p:nvSpPr>
          <p:cNvPr id="61" name="Text 56"/>
          <p:cNvSpPr/>
          <p:nvPr/>
        </p:nvSpPr>
        <p:spPr>
          <a:xfrm>
            <a:off x="5076304" y="3535263"/>
            <a:ext cx="162308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 &gt; B &gt; A. Drivers: reduced night support, accumulated drift by end of 24-h cycle, product-mix / rate differences, fatigue. Recommend 2-week focused night-shift study.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6892268" y="2838748"/>
            <a:ext cx="1851682" cy="1852017"/>
          </a:xfrm>
          <a:prstGeom prst="roundRect">
            <a:avLst>
              <a:gd name="adj" fmla="val 308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58"/>
          <p:cNvSpPr/>
          <p:nvPr/>
        </p:nvSpPr>
        <p:spPr>
          <a:xfrm>
            <a:off x="6892268" y="2842320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740378" y="2838748"/>
            <a:ext cx="0" cy="1852017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892268" y="4687193"/>
            <a:ext cx="1851682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902983" y="2838748"/>
            <a:ext cx="0" cy="1852017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6990851" y="2935403"/>
            <a:ext cx="753063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6977950" y="2945904"/>
            <a:ext cx="7788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7013711" y="3163788"/>
            <a:ext cx="1623082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Drivers → 8 Actions</a:t>
            </a:r>
            <a:endParaRPr lang="en-US" sz="1125" dirty="0"/>
          </a:p>
        </p:txBody>
      </p:sp>
      <p:sp>
        <p:nvSpPr>
          <p:cNvPr id="70" name="Text 65"/>
          <p:cNvSpPr/>
          <p:nvPr/>
        </p:nvSpPr>
        <p:spPr>
          <a:xfrm>
            <a:off x="7013711" y="3370957"/>
            <a:ext cx="1623082" cy="62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driver maps to specific actions on the slide 9 roadmap — </a:t>
            </a:r>
            <a:r>
              <a:rPr lang="en-US" sz="800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A1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PM checklist, </a:t>
            </a:r>
            <a:r>
              <a:rPr lang="en-US" sz="800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A2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cycle-counters, </a:t>
            </a:r>
            <a:r>
              <a:rPr lang="en-US" sz="800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A4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pneumatic audit, </a:t>
            </a:r>
            <a:r>
              <a:rPr lang="en-US" sz="800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A6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night-shift study.</a:t>
            </a:r>
            <a:endParaRPr lang="en-US" sz="800" dirty="0"/>
          </a:p>
        </p:txBody>
      </p:sp>
      <p:sp>
        <p:nvSpPr>
          <p:cNvPr id="71" name="Text 66"/>
          <p:cNvSpPr/>
          <p:nvPr/>
        </p:nvSpPr>
        <p:spPr>
          <a:xfrm>
            <a:off x="428625" y="4868466"/>
            <a:ext cx="333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REPORT DATE 2026-08-17</a:t>
            </a:r>
            <a:endParaRPr lang="en-US" sz="619" dirty="0"/>
          </a:p>
        </p:txBody>
      </p:sp>
      <p:sp>
        <p:nvSpPr>
          <p:cNvPr id="72" name="Text 67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PREDICTIVE ANALYTICS · 4-WEEK PROJECTION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Is Heading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470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slope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+0.204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events/week · downtime slope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+0.264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h/week · annualised cost of inaction ≈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1,341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events /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835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 / </a:t>
            </a:r>
            <a:r>
              <a:rPr lang="en-US" sz="11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prod-days lost.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3622" y="1371600"/>
            <a:ext cx="5166047" cy="3313137"/>
          </a:xfrm>
          <a:prstGeom prst="roundRect">
            <a:avLst>
              <a:gd name="adj" fmla="val 1725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64356" y="1514475"/>
            <a:ext cx="29642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12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542854" y="1503759"/>
            <a:ext cx="19758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Breakdown Count + 4-Week Projection</a:t>
            </a:r>
            <a:endParaRPr lang="en-US" sz="731" dirty="0"/>
          </a:p>
        </p:txBody>
      </p:sp>
      <p:pic>
        <p:nvPicPr>
          <p:cNvPr id="10" name="Image 2" descr="/tmp/h2p-fit-1786987665273-b5pz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" y="1700213"/>
            <a:ext cx="4844579" cy="23068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87541" y="1368028"/>
            <a:ext cx="3056409" cy="1685925"/>
          </a:xfrm>
          <a:prstGeom prst="roundRect">
            <a:avLst>
              <a:gd name="adj" fmla="val 3390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687541" y="1371600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40378" y="1368028"/>
            <a:ext cx="0" cy="1685925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687541" y="3050381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98257" y="1368028"/>
            <a:ext cx="0" cy="1685925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26844" y="1478756"/>
            <a:ext cx="1635472" cy="167878"/>
          </a:xfrm>
          <a:prstGeom prst="roundRect">
            <a:avLst>
              <a:gd name="adj" fmla="val 5668089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823272" y="1475184"/>
            <a:ext cx="2110532" cy="24439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 — NO INTERVENTION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948092" y="1503759"/>
            <a:ext cx="6744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 +1 → W +4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3272" y="1707356"/>
          <a:ext cx="2799234" cy="914400"/>
        </p:xfrm>
        <a:graphic>
          <a:graphicData uri="http://schemas.openxmlformats.org/drawingml/2006/table">
            <a:tbl>
              <a:tblPr/>
              <a:tblGrid>
                <a:gridCol w="763265"/>
                <a:gridCol w="733574"/>
                <a:gridCol w="1302395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Week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Downtime (hr)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Week +1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Week +2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Week +3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Week +4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4"/>
          <p:cNvSpPr/>
          <p:nvPr/>
        </p:nvSpPr>
        <p:spPr>
          <a:xfrm>
            <a:off x="5687541" y="3111103"/>
            <a:ext cx="3056409" cy="763600"/>
          </a:xfrm>
          <a:prstGeom prst="roundRect">
            <a:avLst>
              <a:gd name="adj" fmla="val 7484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687541" y="3114675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740378" y="3111103"/>
            <a:ext cx="0" cy="76360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87541" y="3871131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98257" y="3111103"/>
            <a:ext cx="0" cy="763600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826844" y="3207544"/>
            <a:ext cx="1635472" cy="167878"/>
          </a:xfrm>
          <a:prstGeom prst="roundRect">
            <a:avLst>
              <a:gd name="adj" fmla="val 5668089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823272" y="3203972"/>
            <a:ext cx="2799234" cy="24439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ANNUALISED COST OF INACTION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823272" y="3407569"/>
            <a:ext cx="2799234" cy="3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Extrapolating the current trajectory: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≈1,341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breakdowns and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≈835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downtime hours per year — equivalent to </a:t>
            </a: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production days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lost annually.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687541" y="3931853"/>
            <a:ext cx="3056409" cy="756456"/>
          </a:xfrm>
          <a:prstGeom prst="roundRect">
            <a:avLst>
              <a:gd name="adj" fmla="val 7555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5687541" y="3935425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740378" y="3931853"/>
            <a:ext cx="0" cy="756456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687541" y="4684737"/>
            <a:ext cx="3056409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698257" y="3931853"/>
            <a:ext cx="0" cy="756456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800412" y="4014220"/>
            <a:ext cx="1028209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823272" y="4024722"/>
            <a:ext cx="9824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MEANS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823272" y="4228319"/>
            <a:ext cx="2799234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Intentionally simple (linear on weekly aggregates, </a:t>
            </a: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 = 0.010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Treat as directional guidance, not precision. The value is to quantify the cost of inaction to unblock investment approval.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28625" y="4868466"/>
            <a:ext cx="333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103 BREAKDOWN ANALYSIS · REPORT DATE 2026-08-17</a:t>
            </a:r>
            <a:endParaRPr lang="en-US" sz="619" dirty="0"/>
          </a:p>
        </p:txBody>
      </p:sp>
      <p:sp>
        <p:nvSpPr>
          <p:cNvPr id="37" name="Text 31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PREDICTIVE ANALYTICS · RECURRENCE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Same-Machine Recurrence — Band-Aid Fixes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Machines with 24-hour recurrence ≥ 30% are chronic band-aid candidates. Symptom cleared, root cause not fixed.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03622" y="1085850"/>
            <a:ext cx="4953409" cy="3711178"/>
          </a:xfrm>
          <a:prstGeom prst="roundRect">
            <a:avLst>
              <a:gd name="adj" fmla="val 1540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35781" y="1189434"/>
            <a:ext cx="30509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13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01008" y="1189434"/>
            <a:ext cx="1721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RECURRENCE 24H — TOP 10 MACHINES</a:t>
            </a:r>
            <a:endParaRPr lang="en-US" sz="619" dirty="0"/>
          </a:p>
        </p:txBody>
      </p:sp>
      <p:pic>
        <p:nvPicPr>
          <p:cNvPr id="10" name="Image 2" descr="/tmp/h2p-fit-1786987665479-y75dj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1856705"/>
            <a:ext cx="4689091" cy="23444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74903" y="1082278"/>
            <a:ext cx="3269047" cy="1810941"/>
          </a:xfrm>
          <a:prstGeom prst="roundRect">
            <a:avLst>
              <a:gd name="adj" fmla="val 315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474903" y="1085850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40378" y="1082278"/>
            <a:ext cx="0" cy="1810941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474903" y="2889647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5619" y="1082278"/>
            <a:ext cx="0" cy="1810941"/>
          </a:xfrm>
          <a:prstGeom prst="line">
            <a:avLst/>
          </a:prstGeom>
          <a:noFill/>
          <a:ln w="21431">
            <a:solidFill>
              <a:srgbClr val="EF444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599919" y="1164431"/>
            <a:ext cx="1580443" cy="167878"/>
          </a:xfrm>
          <a:prstGeom prst="roundRect">
            <a:avLst>
              <a:gd name="adj" fmla="val 5668089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596347" y="1160859"/>
            <a:ext cx="2911859" cy="24439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RED ZONE — ≥30% RECURRENCE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522494" y="11912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125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96347" y="1378744"/>
          <a:ext cx="3040447" cy="914400"/>
        </p:xfrm>
        <a:graphic>
          <a:graphicData uri="http://schemas.openxmlformats.org/drawingml/2006/table">
            <a:tbl>
              <a:tblPr/>
              <a:tblGrid>
                <a:gridCol w="847204"/>
                <a:gridCol w="1100584"/>
                <a:gridCol w="1092659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Machine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Recurrence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OP-160.2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 RCFA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OP-105.3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 RCFA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OP-90.2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 RCFA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OP-40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P1 PM Checklist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OP-105.1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 RCFA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4"/>
          <p:cNvSpPr/>
          <p:nvPr/>
        </p:nvSpPr>
        <p:spPr>
          <a:xfrm>
            <a:off x="5474903" y="2950369"/>
            <a:ext cx="3269047" cy="712812"/>
          </a:xfrm>
          <a:prstGeom prst="roundRect">
            <a:avLst>
              <a:gd name="adj" fmla="val 8018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474903" y="2953941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740378" y="2950369"/>
            <a:ext cx="0" cy="712812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74903" y="3659609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5619" y="2950369"/>
            <a:ext cx="0" cy="712812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573487" y="3025592"/>
            <a:ext cx="1358272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596347" y="3036094"/>
            <a:ext cx="13125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RECURRENCE MEANS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596347" y="3239691"/>
            <a:ext cx="3040447" cy="34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6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recurrence = technician cleared the symptom </a:t>
            </a:r>
            <a:r>
              <a:rPr lang="en-US" sz="80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("set the sensor and trial taken ok")</a:t>
            </a: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 not the underlying drift mechanism — same fault returns shortly after. Best leading indicator of incomplete root-cause fixing.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474903" y="3720331"/>
            <a:ext cx="3269047" cy="1325166"/>
          </a:xfrm>
          <a:prstGeom prst="roundRect">
            <a:avLst>
              <a:gd name="adj" fmla="val 431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5474903" y="3723903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740378" y="3720331"/>
            <a:ext cx="0" cy="1325166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74903" y="5041925"/>
            <a:ext cx="326904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5619" y="3720331"/>
            <a:ext cx="0" cy="1325166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73487" y="3795555"/>
            <a:ext cx="1358272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596347" y="3806056"/>
            <a:ext cx="13125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IMPLICATIONS</a:t>
            </a:r>
            <a:endParaRPr lang="en-US" sz="8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96347" y="4009653"/>
          <a:ext cx="3040447" cy="914400"/>
        </p:xfrm>
        <a:graphic>
          <a:graphicData uri="http://schemas.openxmlformats.org/drawingml/2006/table">
            <a:tbl>
              <a:tblPr/>
              <a:tblGrid>
                <a:gridCol w="1303623"/>
                <a:gridCol w="173682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Impact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 (no action)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 ev / 20.3h by W+4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Targeted PM (90%)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−25–35% minor+moderate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5E7E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Cycle-counter replace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−40–60 wear/qtr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9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PRESCRIPTIVE ANALYTICS · ACTION PLAN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8-Action Roadmap — 3 Workstreams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Wins (0–30d) stabilise · Structural (30–90d) builds capability · Strategic (90–180d) embeds system.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03622" y="1078706"/>
            <a:ext cx="2716969" cy="3718322"/>
          </a:xfrm>
          <a:prstGeom prst="roundRect">
            <a:avLst>
              <a:gd name="adj" fmla="val 2103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07194" y="1082278"/>
            <a:ext cx="2709825" cy="296466"/>
          </a:xfrm>
          <a:prstGeom prst="rect">
            <a:avLst/>
          </a:prstGeom>
          <a:solidFill>
            <a:srgbClr val="EF4444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07194" y="1375172"/>
            <a:ext cx="2709825" cy="0"/>
          </a:xfrm>
          <a:prstGeom prst="line">
            <a:avLst/>
          </a:prstGeom>
          <a:noFill/>
          <a:ln w="7144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0059" y="1128927"/>
            <a:ext cx="1413302" cy="196025"/>
          </a:xfrm>
          <a:prstGeom prst="roundRect">
            <a:avLst>
              <a:gd name="adj" fmla="val 4854215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92919" y="1139428"/>
            <a:ext cx="13675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QUICK WINS · 0–30 DAYS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589718" y="1168003"/>
            <a:ext cx="4539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 / P2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67916" y="1439466"/>
            <a:ext cx="2588382" cy="1054819"/>
          </a:xfrm>
          <a:prstGeom prst="roundRect">
            <a:avLst>
              <a:gd name="adj" fmla="val 5418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7213" y="1507974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7213" y="1518047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5149" y="1543943"/>
            <a:ext cx="213185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DAILY PM CHECKLIST (TOP 5)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99779" y="1503974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699779" y="1514475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57213" y="1718072"/>
            <a:ext cx="24097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HIGH · EFFORT LOW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57213" y="1853803"/>
            <a:ext cx="240978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15-min daily checklist on OP-40 / 90.1 / 20.1 / 105.1 / 100.1. Mouth piece, vacuum filter, sensor position, stopper, bowl feeder. Audited daily for 4 weeks.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7916" y="2558579"/>
            <a:ext cx="2588382" cy="1054931"/>
          </a:xfrm>
          <a:prstGeom prst="roundRect">
            <a:avLst>
              <a:gd name="adj" fmla="val 5417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57213" y="2655662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57213" y="2665735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35149" y="2633588"/>
            <a:ext cx="18360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CYCLE-COUNTER COMPONENT REPLACEMENT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699779" y="2651662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EF4444">
              <a:alpha val="15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699779" y="2662163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57213" y="2894335"/>
            <a:ext cx="24097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HIGH · EFFORT MED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57213" y="3030066"/>
            <a:ext cx="240978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Bits / knives / sealing sleeves on OP-90.1, OP-105.1 / 2 / 3, OP-70.2, OP-50.1, OP-160.2. Replace at 80% of documented wear life.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67916" y="3677803"/>
            <a:ext cx="2588382" cy="1054931"/>
          </a:xfrm>
          <a:prstGeom prst="roundRect">
            <a:avLst>
              <a:gd name="adj" fmla="val 5417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57213" y="3746312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57213" y="3756385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35149" y="3782281"/>
            <a:ext cx="213185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RECURRENCE HOT-SPOT RCFA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699779" y="3742311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2699779" y="3752813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57213" y="3956410"/>
            <a:ext cx="24097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MED · EFFORT LOW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57213" y="4092141"/>
            <a:ext cx="240978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3 machines from Fig 13 with ≥30% recurrence. 5-Why / fishbone. 8-week recurrence tracking post-fix.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213460" y="1078706"/>
            <a:ext cx="2716969" cy="3718322"/>
          </a:xfrm>
          <a:prstGeom prst="roundRect">
            <a:avLst>
              <a:gd name="adj" fmla="val 2103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3217032" y="1082278"/>
            <a:ext cx="2709825" cy="296466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5"/>
          <p:cNvSpPr/>
          <p:nvPr/>
        </p:nvSpPr>
        <p:spPr>
          <a:xfrm>
            <a:off x="3217032" y="1375172"/>
            <a:ext cx="2709825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79897" y="1128927"/>
            <a:ext cx="1468219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302757" y="1139428"/>
            <a:ext cx="14224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STRUCTURAL · 30–90 DAYS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399556" y="1168003"/>
            <a:ext cx="4539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 / P3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77753" y="1439466"/>
            <a:ext cx="2588382" cy="1054819"/>
          </a:xfrm>
          <a:prstGeom prst="roundRect">
            <a:avLst>
              <a:gd name="adj" fmla="val 5418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367050" y="1536549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3367050" y="1546622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A4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3644987" y="1514475"/>
            <a:ext cx="18360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MECHANICAL FASTENING &amp; PNEUMATIC AUDIT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5509617" y="1532549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509617" y="1543050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3367050" y="1775222"/>
            <a:ext cx="251951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HIGH · EFFORT MED-HIGH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3367050" y="1910953"/>
            <a:ext cx="2409788" cy="327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Line-wide torque verify + thread-lock + ultrasonic leak detection. </a:t>
            </a: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~$2,000 capex.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Schedule on a PM weekend.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3277753" y="2558579"/>
            <a:ext cx="2588382" cy="1054931"/>
          </a:xfrm>
          <a:prstGeom prst="roundRect">
            <a:avLst>
              <a:gd name="adj" fmla="val 5417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3367050" y="2627087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FBBF24">
              <a:alpha val="18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3367050" y="2637160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A5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3644987" y="2663056"/>
            <a:ext cx="195207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31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RE-CLASSIFY &amp; RESCOPE PLANNED MAINT.</a:t>
            </a:r>
            <a:endParaRPr lang="en-US" sz="731" dirty="0"/>
          </a:p>
        </p:txBody>
      </p:sp>
      <p:sp>
        <p:nvSpPr>
          <p:cNvPr id="55" name="Text 51"/>
          <p:cNvSpPr/>
          <p:nvPr/>
        </p:nvSpPr>
        <p:spPr>
          <a:xfrm>
            <a:off x="5509617" y="2623087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509617" y="2633588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3367050" y="2837185"/>
            <a:ext cx="24097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MED · EFFORT LOW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3367050" y="2972916"/>
            <a:ext cx="2409788" cy="49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26 planned-maint events (avg 161 min). Reclassify mis-tagged corrective work. Target avg </a:t>
            </a: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&lt;90 min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downtime share </a:t>
            </a: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&lt;8%</a:t>
            </a: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3277753" y="3677803"/>
            <a:ext cx="2588382" cy="1054931"/>
          </a:xfrm>
          <a:prstGeom prst="roundRect">
            <a:avLst>
              <a:gd name="adj" fmla="val 5417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3367050" y="3746312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3367050" y="3756385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A6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3644987" y="3782281"/>
            <a:ext cx="195207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NIGHT-SHIFT RELIABILITY STUDY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5509617" y="3742311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509617" y="3752813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P3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3367050" y="3956410"/>
            <a:ext cx="24097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MED · EFFORT MED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3367050" y="4092141"/>
            <a:ext cx="240978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2-week focused study on Shift C. Senior technician logs 30-sec RC first impression, audits handover condition, compares product mix.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6023297" y="1078706"/>
            <a:ext cx="2717081" cy="3718322"/>
          </a:xfrm>
          <a:prstGeom prst="roundRect">
            <a:avLst>
              <a:gd name="adj" fmla="val 2103"/>
            </a:avLst>
          </a:prstGeom>
          <a:noFill/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6026869" y="1082278"/>
            <a:ext cx="2709937" cy="296466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5"/>
          <p:cNvSpPr/>
          <p:nvPr/>
        </p:nvSpPr>
        <p:spPr>
          <a:xfrm>
            <a:off x="6026869" y="1375172"/>
            <a:ext cx="2709937" cy="0"/>
          </a:xfrm>
          <a:prstGeom prst="line">
            <a:avLst/>
          </a:prstGeom>
          <a:noFill/>
          <a:ln w="7144">
            <a:solidFill>
              <a:srgbClr val="3B82F6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089734" y="1128927"/>
            <a:ext cx="1468219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6112594" y="1139428"/>
            <a:ext cx="14224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STRATEGIC · 90–180 DAYS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8518504" y="1168003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P3</a:t>
            </a:r>
            <a:endParaRPr lang="en-US" sz="619" dirty="0"/>
          </a:p>
        </p:txBody>
      </p:sp>
      <p:sp>
        <p:nvSpPr>
          <p:cNvPr id="73" name="Text 69"/>
          <p:cNvSpPr/>
          <p:nvPr/>
        </p:nvSpPr>
        <p:spPr>
          <a:xfrm>
            <a:off x="6087591" y="1439466"/>
            <a:ext cx="2588493" cy="1343025"/>
          </a:xfrm>
          <a:prstGeom prst="roundRect">
            <a:avLst>
              <a:gd name="adj" fmla="val 4255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6176888" y="1507974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6176888" y="1518047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A7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6454825" y="1543943"/>
            <a:ext cx="19521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31" b="1" kern="0" spc="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&amp; DOWNTIME DASHBOARD</a:t>
            </a:r>
            <a:endParaRPr lang="en-US" sz="731" dirty="0"/>
          </a:p>
        </p:txBody>
      </p:sp>
      <p:sp>
        <p:nvSpPr>
          <p:cNvPr id="77" name="Text 73"/>
          <p:cNvSpPr/>
          <p:nvPr/>
        </p:nvSpPr>
        <p:spPr>
          <a:xfrm>
            <a:off x="8319567" y="1503974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8319567" y="1514475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P3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6176888" y="1718072"/>
            <a:ext cx="240989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HIGH · EFFORT HIGH</a:t>
            </a:r>
            <a:endParaRPr lang="en-US" sz="800" dirty="0"/>
          </a:p>
        </p:txBody>
      </p:sp>
      <p:sp>
        <p:nvSpPr>
          <p:cNvPr id="80" name="Text 76"/>
          <p:cNvSpPr/>
          <p:nvPr/>
        </p:nvSpPr>
        <p:spPr>
          <a:xfrm>
            <a:off x="6176888" y="1853803"/>
            <a:ext cx="2409899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PLC-fed live dashboard: OEE, current MTBF, top fault code, machines in alarm, 7-day rolling trend. Eliminates manual CMMS work. 8–12 weeks engineering.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6087591" y="2846784"/>
            <a:ext cx="2588493" cy="1343025"/>
          </a:xfrm>
          <a:prstGeom prst="roundRect">
            <a:avLst>
              <a:gd name="adj" fmla="val 4255"/>
            </a:avLst>
          </a:prstGeom>
          <a:solidFill>
            <a:srgbClr val="0F1E36"/>
          </a:solidFill>
          <a:ln w="7144">
            <a:solidFill>
              <a:srgbClr val="1A2B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6176888" y="2915293"/>
            <a:ext cx="220787" cy="188024"/>
          </a:xfrm>
          <a:prstGeom prst="roundRect">
            <a:avLst>
              <a:gd name="adj" fmla="val 20263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6176888" y="2925366"/>
            <a:ext cx="22078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3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A8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6454825" y="2951262"/>
            <a:ext cx="213196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800" b="1" kern="0" spc="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RCM PILOT ON TOP 5 MACHINES</a:t>
            </a:r>
            <a:endParaRPr lang="en-US" sz="800" dirty="0"/>
          </a:p>
        </p:txBody>
      </p:sp>
      <p:sp>
        <p:nvSpPr>
          <p:cNvPr id="85" name="Text 81"/>
          <p:cNvSpPr/>
          <p:nvPr/>
        </p:nvSpPr>
        <p:spPr>
          <a:xfrm>
            <a:off x="8319567" y="2911292"/>
            <a:ext cx="267221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8319567" y="2921794"/>
            <a:ext cx="267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P3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6176888" y="3125391"/>
            <a:ext cx="240989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HIGH · EFFORT HIGH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6176888" y="3261122"/>
            <a:ext cx="2409899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Formal RCM study on OP-40 / 90.1 / 20.1 / 105.1 / 100.1. Failure-mode register + evidence-based maintenance plan. Template for line-wide rollout.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6084019" y="4250531"/>
            <a:ext cx="2595637" cy="485775"/>
          </a:xfrm>
          <a:prstGeom prst="roundRect">
            <a:avLst>
              <a:gd name="adj" fmla="val 11765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Shape 86"/>
          <p:cNvSpPr/>
          <p:nvPr/>
        </p:nvSpPr>
        <p:spPr>
          <a:xfrm>
            <a:off x="6084019" y="4254103"/>
            <a:ext cx="259563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8676084" y="4250531"/>
            <a:ext cx="0" cy="485775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6084019" y="4732734"/>
            <a:ext cx="259563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6094735" y="4250531"/>
            <a:ext cx="0" cy="485775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6205463" y="43523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95" name="Text 91"/>
          <p:cNvSpPr/>
          <p:nvPr/>
        </p:nvSpPr>
        <p:spPr>
          <a:xfrm>
            <a:off x="6391201" y="4318611"/>
            <a:ext cx="872430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2"/>
          <p:cNvSpPr/>
          <p:nvPr/>
        </p:nvSpPr>
        <p:spPr>
          <a:xfrm>
            <a:off x="6346868" y="4329113"/>
            <a:ext cx="9610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SUCCESS</a:t>
            </a:r>
            <a:endParaRPr lang="en-US" sz="800" dirty="0"/>
          </a:p>
        </p:txBody>
      </p:sp>
      <p:sp>
        <p:nvSpPr>
          <p:cNvPr id="97" name="Text 93"/>
          <p:cNvSpPr/>
          <p:nvPr/>
        </p:nvSpPr>
        <p:spPr>
          <a:xfrm>
            <a:off x="6205463" y="4532709"/>
            <a:ext cx="2367037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Roll out RCM across the full line over the following </a:t>
            </a:r>
            <a:r>
              <a:rPr lang="en-US" sz="675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months</a:t>
            </a:r>
            <a:r>
              <a:rPr lang="en-US" sz="6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675" dirty="0"/>
          </a:p>
        </p:txBody>
      </p:sp>
      <p:sp>
        <p:nvSpPr>
          <p:cNvPr id="98" name="Text 94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42900"/>
            <a:ext cx="863600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NEXT STEPS · DECISION ASK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489347"/>
            <a:ext cx="8636000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Report to Loop — Validation Cadence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00050" y="846534"/>
            <a:ext cx="8343900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Convert this one-time report into a 4-cadence continuous improvement rhythm.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00050" y="1103709"/>
            <a:ext cx="4949168" cy="3696891"/>
          </a:xfrm>
          <a:prstGeom prst="roundRect">
            <a:avLst>
              <a:gd name="adj" fmla="val 1546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00050" y="1107281"/>
            <a:ext cx="494916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45646" y="1103709"/>
            <a:ext cx="0" cy="3696891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0050" y="4797028"/>
            <a:ext cx="494916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10766" y="1103709"/>
            <a:ext cx="0" cy="3696891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7209" y="1200364"/>
            <a:ext cx="1193185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50069" y="1210866"/>
            <a:ext cx="11474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CADENCE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048720" y="1239441"/>
            <a:ext cx="1164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1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4-LEVEL REVIEW LOOP</a:t>
            </a:r>
            <a:endParaRPr lang="en-US" sz="619" dirty="0"/>
          </a:p>
        </p:txBody>
      </p:sp>
      <p:sp>
        <p:nvSpPr>
          <p:cNvPr id="15" name="Text 11"/>
          <p:cNvSpPr/>
          <p:nvPr/>
        </p:nvSpPr>
        <p:spPr>
          <a:xfrm>
            <a:off x="553641" y="1475184"/>
            <a:ext cx="4656274" cy="625078"/>
          </a:xfrm>
          <a:prstGeom prst="roundRect">
            <a:avLst>
              <a:gd name="adj" fmla="val 9143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34365" y="1539692"/>
            <a:ext cx="1401247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35806" y="1593056"/>
            <a:ext cx="42276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08844" y="1578769"/>
            <a:ext cx="82532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60A5FA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FIRST 8 WEEKS</a:t>
            </a:r>
            <a:endParaRPr lang="en-US" sz="619" dirty="0"/>
          </a:p>
        </p:txBody>
      </p:sp>
      <p:sp>
        <p:nvSpPr>
          <p:cNvPr id="19" name="Text 15"/>
          <p:cNvSpPr/>
          <p:nvPr/>
        </p:nvSpPr>
        <p:spPr>
          <a:xfrm>
            <a:off x="4977743" y="15734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657225" y="1782366"/>
            <a:ext cx="444910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Refresh daily trend chart (Fig 8) + top-5 machine count. Compare to 4-week pre-intervention baseline. Flag any divergence </a:t>
            </a: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 20%</a:t>
            </a: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maintenance leadership.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53641" y="2164556"/>
            <a:ext cx="4656274" cy="617934"/>
          </a:xfrm>
          <a:prstGeom prst="roundRect">
            <a:avLst>
              <a:gd name="adj" fmla="val 9249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35530" y="2229064"/>
            <a:ext cx="585756" cy="196025"/>
          </a:xfrm>
          <a:prstGeom prst="roundRect">
            <a:avLst>
              <a:gd name="adj" fmla="val 4854215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50471" y="2239566"/>
            <a:ext cx="5558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977743" y="22627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657225" y="2471738"/>
            <a:ext cx="444910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Refresh full descriptive analytics (Sec 4) + recurrence probability (Fig 13). Verify P1-target machine recurrence trending downward.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50069" y="2843213"/>
            <a:ext cx="4663418" cy="625078"/>
          </a:xfrm>
          <a:prstGeom prst="roundRect">
            <a:avLst>
              <a:gd name="adj" fmla="val 914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550069" y="2846784"/>
            <a:ext cx="46634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209915" y="2843213"/>
            <a:ext cx="0" cy="625078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50069" y="3464719"/>
            <a:ext cx="46634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0784" y="2843213"/>
            <a:ext cx="0" cy="62507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8653" y="2911292"/>
            <a:ext cx="698034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45402" y="2921794"/>
            <a:ext cx="7045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977743" y="29450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4" name="Text 30"/>
          <p:cNvSpPr/>
          <p:nvPr/>
        </p:nvSpPr>
        <p:spPr>
          <a:xfrm>
            <a:off x="671513" y="3153966"/>
            <a:ext cx="443481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Refresh full report incl. diagnostic, predictive, prescriptive. Retire completed actions, escalate stalled ones, add newly identified opportunities.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50069" y="3525441"/>
            <a:ext cx="4663418" cy="625078"/>
          </a:xfrm>
          <a:prstGeom prst="roundRect">
            <a:avLst>
              <a:gd name="adj" fmla="val 9143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550069" y="3529013"/>
            <a:ext cx="46634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09915" y="3525441"/>
            <a:ext cx="0" cy="625078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50069" y="4146947"/>
            <a:ext cx="4663418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784" y="3525441"/>
            <a:ext cx="0" cy="62507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8653" y="3593521"/>
            <a:ext cx="643004" cy="196025"/>
          </a:xfrm>
          <a:prstGeom prst="roundRect">
            <a:avLst>
              <a:gd name="adj" fmla="val 4854215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55052" y="3604022"/>
            <a:ext cx="6302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ANNUALLY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77743" y="36272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43" name="Text 39"/>
          <p:cNvSpPr/>
          <p:nvPr/>
        </p:nvSpPr>
        <p:spPr>
          <a:xfrm>
            <a:off x="671513" y="3836194"/>
            <a:ext cx="443481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reliability review with cross-functional leadership. Cumulative dataset — long-term trends, seasonality, structural-fix impact assessment.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492093" y="1103709"/>
            <a:ext cx="3251857" cy="1332309"/>
          </a:xfrm>
          <a:prstGeom prst="roundRect">
            <a:avLst>
              <a:gd name="adj" fmla="val 4290"/>
            </a:avLst>
          </a:prstGeom>
          <a:solidFill>
            <a:srgbClr val="0F1E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1"/>
          <p:cNvSpPr/>
          <p:nvPr/>
        </p:nvSpPr>
        <p:spPr>
          <a:xfrm>
            <a:off x="5492093" y="1107281"/>
            <a:ext cx="325185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740378" y="1103709"/>
            <a:ext cx="0" cy="1332309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492093" y="2432447"/>
            <a:ext cx="3251857" cy="0"/>
          </a:xfrm>
          <a:prstGeom prst="line">
            <a:avLst/>
          </a:prstGeom>
          <a:noFill/>
          <a:ln w="7144">
            <a:solidFill>
              <a:srgbClr val="1E3A5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502808" y="1103709"/>
            <a:ext cx="0" cy="1332309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631396" y="1214438"/>
            <a:ext cx="1525414" cy="167878"/>
          </a:xfrm>
          <a:prstGeom prst="roundRect">
            <a:avLst>
              <a:gd name="adj" fmla="val 5668089"/>
            </a:avLst>
          </a:prstGeom>
          <a:solidFill>
            <a:srgbClr val="FBBF24">
              <a:alpha val="1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627824" y="1210866"/>
            <a:ext cx="2851807" cy="24439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REQUESTED TODAY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8493919" y="12340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52" name="Text 48"/>
          <p:cNvSpPr/>
          <p:nvPr/>
        </p:nvSpPr>
        <p:spPr>
          <a:xfrm>
            <a:off x="5627824" y="1443038"/>
            <a:ext cx="2994682" cy="99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28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A1 + A2 (Quick Wins) for immediate execution — 0–30 days.</a:t>
            </a:r>
            <a:endParaRPr lang="en-US" sz="800" dirty="0"/>
          </a:p>
          <a:p>
            <a:pPr marL="342900" indent="-342900" algn="l">
              <a:lnSpc>
                <a:spcPts val="928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A4 mechanical &amp; pneumatic audit capex (~$2,000) on next PM weekend.</a:t>
            </a:r>
            <a:endParaRPr lang="en-US" sz="800" dirty="0"/>
          </a:p>
          <a:p>
            <a:pPr marL="342900" indent="-342900" algn="l">
              <a:lnSpc>
                <a:spcPts val="928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ASSIGN owner for A6 night-shift 2-week study (start within 14 days).</a:t>
            </a:r>
            <a:endParaRPr lang="en-US" sz="800" dirty="0"/>
          </a:p>
          <a:p>
            <a:pPr marL="342900" indent="-342900" algn="l">
              <a:lnSpc>
                <a:spcPts val="928"/>
              </a:lnSpc>
              <a:spcAft>
                <a:spcPts val="450"/>
              </a:spcAft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 A7 OEE dashboard initiative — cross-functional (Maintenance + IT + Production).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5495665" y="2525316"/>
            <a:ext cx="3244714" cy="785813"/>
          </a:xfrm>
          <a:prstGeom prst="roundRect">
            <a:avLst>
              <a:gd name="adj" fmla="val 7273"/>
            </a:avLst>
          </a:prstGeom>
          <a:solidFill>
            <a:srgbClr val="0F1E36"/>
          </a:solidFill>
          <a:ln w="7144">
            <a:solidFill>
              <a:srgbClr val="1E3A5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590676" y="2604111"/>
            <a:ext cx="1138156" cy="196025"/>
          </a:xfrm>
          <a:prstGeom prst="roundRect">
            <a:avLst>
              <a:gd name="adj" fmla="val 4854215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13536" y="2614613"/>
            <a:ext cx="10924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OF INACTION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493919" y="26378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57" name="Text 53"/>
          <p:cNvSpPr/>
          <p:nvPr/>
        </p:nvSpPr>
        <p:spPr>
          <a:xfrm>
            <a:off x="5613536" y="2846784"/>
            <a:ext cx="300897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Without intervention, the line is projected to add </a:t>
            </a:r>
            <a:r>
              <a:rPr lang="en-US" sz="80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~29 events / 20.3 h</a:t>
            </a: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downtime per week, with upward drift. Annualised: </a:t>
            </a: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≈1,341 events / 835 h / 35 production days</a:t>
            </a: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lost.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5492093" y="3400425"/>
            <a:ext cx="325185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3"/>
              </a:lnSpc>
              <a:buNone/>
            </a:pPr>
            <a:r>
              <a:rPr lang="en-US" sz="800" kern="0" spc="2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MAINTENANCE ANALYTICS TEAM · REPORT REF: LINE103-BAR-20260817</a:t>
            </a:r>
            <a:endParaRPr lang="en-US" sz="800" dirty="0"/>
          </a:p>
          <a:p>
            <a:pPr marL="0" indent="0" algn="l">
              <a:lnSpc>
                <a:spcPts val="773"/>
              </a:lnSpc>
              <a:buNone/>
            </a:pPr>
            <a:r>
              <a:rPr lang="en-US" sz="800" kern="0" spc="2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COMPANION FILES: cleaned_breakdown_data.csv · analysis_summary.xlsx · charts/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8302712" y="4868466"/>
            <a:ext cx="6090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2148</Words>
  <Application>Microsoft Office PowerPoint</Application>
  <PresentationFormat>On-screen Show (16:9)</PresentationFormat>
  <Paragraphs>354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</cp:revision>
  <dcterms:created xsi:type="dcterms:W3CDTF">2026-08-17T17:27:46Z</dcterms:created>
  <dcterms:modified xsi:type="dcterms:W3CDTF">2026-08-18T01:00:01Z</dcterms:modified>
</cp:coreProperties>
</file>